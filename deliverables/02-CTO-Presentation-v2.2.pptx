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85" r:id="rId3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id="{046978AD-FF57-A9FB-E46A-6AFF418EC26D}">
          <p14:sldIdLst>
            <p14:sldId id="256"/>
            <p14:sldId id="257"/>
            <p14:sldId id="258"/>
            <p14:sldId id="259"/>
            <p14:sldId id="260"/>
            <p14:sldId id="285"/>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Appendix" id="{6CD76F27-5FF7-A8EE-9B27-7BB5239486B3}">
          <p14:sldIdLst>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3C49"/>
                </a:solidFill>
                <a:latin typeface="+mn-lt"/>
              </a:defRPr>
            </a:pPr>
            <a:r>
              <a:rPr sz="1400" b="0" i="0" u="none" strike="noStrike">
                <a:solidFill>
                  <a:srgbClr val="0B3C49"/>
                </a:solidFill>
                <a:latin typeface="+mn-lt"/>
              </a:rPr>
              <a:t>Final disposition of the 62 findings (25 are severity S1)</a:t>
            </a:r>
          </a:p>
        </c:rich>
      </c:tx>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1F7A8C"/>
            </a:solidFill>
            <a:effectLst/>
          </c:spPr>
          <c:invertIfNegative val="0"/>
          <c:dLbls>
            <c:numFmt formatCode="#,##0" sourceLinked="0"/>
            <c:spPr>
              <a:noFill/>
              <a:ln>
                <a:noFill/>
              </a:ln>
              <a:effectLst/>
            </c:spPr>
            <c:txPr>
              <a:bodyPr/>
              <a:lstStyle/>
              <a:p>
                <a:pPr>
                  <a:defRPr sz="1200" b="0" i="0" u="none" strike="noStrike">
                    <a:solidFill>
                      <a:srgbClr val="1B2A2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Fixed</c:v>
                </c:pt>
                <c:pt idx="1">
                  <c:v>Fixed in tree</c:v>
                </c:pt>
                <c:pt idx="2">
                  <c:v>Partial</c:v>
                </c:pt>
                <c:pt idx="3">
                  <c:v>Changed</c:v>
                </c:pt>
                <c:pt idx="4">
                  <c:v>Deferred</c:v>
                </c:pt>
                <c:pt idx="5">
                  <c:v>Proposed accept</c:v>
                </c:pt>
              </c:strCache>
            </c:strRef>
          </c:cat>
          <c:val>
            <c:numRef>
              <c:f>Sheet1!$B$2:$B$7</c:f>
              <c:numCache>
                <c:formatCode>General</c:formatCode>
                <c:ptCount val="6"/>
                <c:pt idx="0">
                  <c:v>43</c:v>
                </c:pt>
                <c:pt idx="1">
                  <c:v>4</c:v>
                </c:pt>
                <c:pt idx="2">
                  <c:v>10</c:v>
                </c:pt>
                <c:pt idx="3">
                  <c:v>2</c:v>
                </c:pt>
                <c:pt idx="4">
                  <c:v>2</c:v>
                </c:pt>
                <c:pt idx="5">
                  <c:v>1</c:v>
                </c:pt>
              </c:numCache>
            </c:numRef>
          </c:val>
          <c:extLst>
            <c:ext xmlns:c16="http://schemas.microsoft.com/office/drawing/2014/chart" uri="{C3380CC4-5D6E-409C-BE32-E72D297353CC}">
              <c16:uniqueId val="{00000000-7528-4232-A03C-A2C97458286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3C49"/>
                </a:solidFill>
                <a:latin typeface="+mn-lt"/>
              </a:defRPr>
            </a:pPr>
            <a:r>
              <a:rPr sz="1400" b="0" i="0" u="none" strike="noStrike">
                <a:solidFill>
                  <a:srgbClr val="0B3C49"/>
                </a:solidFill>
                <a:latin typeface="+mn-lt"/>
              </a:rPr>
              <a:t>K9 tests and K10 coverage (apps and etl)</a:t>
            </a:r>
          </a:p>
        </c:rich>
      </c:tx>
      <c:overlay val="0"/>
    </c:title>
    <c:autoTitleDeleted val="0"/>
    <c:plotArea>
      <c:layout/>
      <c:barChart>
        <c:barDir val="col"/>
        <c:grouping val="clustered"/>
        <c:varyColors val="0"/>
        <c:ser>
          <c:idx val="0"/>
          <c:order val="0"/>
          <c:tx>
            <c:strRef>
              <c:f>Sheet1!$B$1</c:f>
              <c:strCache>
                <c:ptCount val="1"/>
                <c:pt idx="0">
                  <c:v>Repo 1.0</c:v>
                </c:pt>
              </c:strCache>
            </c:strRef>
          </c:tx>
          <c:spPr>
            <a:solidFill>
              <a:srgbClr val="C0392B"/>
            </a:solidFill>
            <a:effectLst/>
          </c:spPr>
          <c:invertIfNegative val="0"/>
          <c:dLbls>
            <c:numFmt formatCode="#,##0" sourceLinked="0"/>
            <c:spPr>
              <a:noFill/>
              <a:ln>
                <a:noFill/>
              </a:ln>
              <a:effectLst/>
            </c:spPr>
            <c:txPr>
              <a:bodyPr/>
              <a:lstStyle/>
              <a:p>
                <a:pPr>
                  <a:defRPr sz="1200" b="0" i="0" u="none" strike="noStrike">
                    <a:solidFill>
                      <a:srgbClr val="1B2A2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Tests passing</c:v>
                </c:pt>
                <c:pt idx="1">
                  <c:v>Coverage %</c:v>
                </c:pt>
              </c:strCache>
            </c:strRef>
          </c:cat>
          <c:val>
            <c:numRef>
              <c:f>Sheet1!$B$2:$B$3</c:f>
              <c:numCache>
                <c:formatCode>General</c:formatCode>
                <c:ptCount val="2"/>
                <c:pt idx="0">
                  <c:v>3</c:v>
                </c:pt>
                <c:pt idx="1">
                  <c:v>45</c:v>
                </c:pt>
              </c:numCache>
            </c:numRef>
          </c:val>
          <c:extLst>
            <c:ext xmlns:c16="http://schemas.microsoft.com/office/drawing/2014/chart" uri="{C3380CC4-5D6E-409C-BE32-E72D297353CC}">
              <c16:uniqueId val="{00000000-88B3-4FA0-9A1D-9264052BC737}"/>
            </c:ext>
          </c:extLst>
        </c:ser>
        <c:ser>
          <c:idx val="1"/>
          <c:order val="1"/>
          <c:tx>
            <c:strRef>
              <c:f>Sheet1!$C$1</c:f>
              <c:strCache>
                <c:ptCount val="1"/>
                <c:pt idx="0">
                  <c:v>Repo 2.0</c:v>
                </c:pt>
              </c:strCache>
            </c:strRef>
          </c:tx>
          <c:spPr>
            <a:solidFill>
              <a:srgbClr val="1F7A8C"/>
            </a:solidFill>
            <a:effectLst/>
          </c:spPr>
          <c:invertIfNegative val="0"/>
          <c:dLbls>
            <c:numFmt formatCode="#,##0" sourceLinked="0"/>
            <c:spPr>
              <a:noFill/>
              <a:ln>
                <a:noFill/>
              </a:ln>
              <a:effectLst/>
            </c:spPr>
            <c:txPr>
              <a:bodyPr/>
              <a:lstStyle/>
              <a:p>
                <a:pPr>
                  <a:defRPr sz="1200" b="0" i="0" u="none" strike="noStrike">
                    <a:solidFill>
                      <a:srgbClr val="1B2A2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Tests passing</c:v>
                </c:pt>
                <c:pt idx="1">
                  <c:v>Coverage %</c:v>
                </c:pt>
              </c:strCache>
            </c:strRef>
          </c:cat>
          <c:val>
            <c:numRef>
              <c:f>Sheet1!$C$2:$C$3</c:f>
              <c:numCache>
                <c:formatCode>General</c:formatCode>
                <c:ptCount val="2"/>
                <c:pt idx="0">
                  <c:v>181</c:v>
                </c:pt>
                <c:pt idx="1">
                  <c:v>97</c:v>
                </c:pt>
              </c:numCache>
            </c:numRef>
          </c:val>
          <c:extLst>
            <c:ext xmlns:c16="http://schemas.microsoft.com/office/drawing/2014/chart" uri="{C3380CC4-5D6E-409C-BE32-E72D297353CC}">
              <c16:uniqueId val="{00000001-88B3-4FA0-9A1D-9264052BC73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3C49"/>
                </a:solidFill>
                <a:latin typeface="+mn-lt"/>
              </a:defRPr>
            </a:pPr>
            <a:r>
              <a:rPr sz="1400" b="0" i="0" u="none" strike="noStrike">
                <a:solidFill>
                  <a:srgbClr val="0B3C49"/>
                </a:solidFill>
                <a:latin typeface="+mn-lt"/>
              </a:rPr>
              <a:t>36 sub-dimensions by status</a:t>
            </a:r>
          </a:p>
        </c:rich>
      </c:tx>
      <c:overlay val="0"/>
    </c:title>
    <c:autoTitleDeleted val="0"/>
    <c:plotArea>
      <c:layout/>
      <c:barChart>
        <c:barDir val="bar"/>
        <c:grouping val="stacked"/>
        <c:varyColors val="0"/>
        <c:ser>
          <c:idx val="0"/>
          <c:order val="0"/>
          <c:tx>
            <c:strRef>
              <c:f>Sheet1!$B$1</c:f>
              <c:strCache>
                <c:ptCount val="1"/>
                <c:pt idx="0">
                  <c:v>MET</c:v>
                </c:pt>
              </c:strCache>
            </c:strRef>
          </c:tx>
          <c:spPr>
            <a:solidFill>
              <a:srgbClr val="2E8B57"/>
            </a:solidFill>
            <a:effectLst/>
          </c:spPr>
          <c:invertIfNegative val="0"/>
          <c:dLbls>
            <c:numFmt formatCode="0;;;" sourceLinked="0"/>
            <c:spPr>
              <a:noFill/>
              <a:ln>
                <a:noFill/>
              </a:ln>
              <a:effectLst/>
            </c:spPr>
            <c:txPr>
              <a:bodyPr/>
              <a:lstStyle/>
              <a:p>
                <a:pPr>
                  <a:defRPr sz="12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R1 As-Is (20)</c:v>
                </c:pt>
                <c:pt idx="1">
                  <c:v>R2 Repo 2.0 (25)</c:v>
                </c:pt>
                <c:pt idx="2">
                  <c:v>R3 Governance (20)</c:v>
                </c:pt>
                <c:pt idx="3">
                  <c:v>R4 PRD and app (25)</c:v>
                </c:pt>
                <c:pt idx="4">
                  <c:v>R5 Defence (10)</c:v>
                </c:pt>
              </c:strCache>
            </c:strRef>
          </c:cat>
          <c:val>
            <c:numRef>
              <c:f>Sheet1!$B$2:$B$6</c:f>
              <c:numCache>
                <c:formatCode>General</c:formatCode>
                <c:ptCount val="5"/>
                <c:pt idx="0">
                  <c:v>6</c:v>
                </c:pt>
                <c:pt idx="1">
                  <c:v>5</c:v>
                </c:pt>
                <c:pt idx="2">
                  <c:v>5</c:v>
                </c:pt>
                <c:pt idx="3">
                  <c:v>4</c:v>
                </c:pt>
                <c:pt idx="4">
                  <c:v>4</c:v>
                </c:pt>
              </c:numCache>
            </c:numRef>
          </c:val>
          <c:extLst>
            <c:ext xmlns:c16="http://schemas.microsoft.com/office/drawing/2014/chart" uri="{C3380CC4-5D6E-409C-BE32-E72D297353CC}">
              <c16:uniqueId val="{00000000-0A9F-44B4-B293-EE7E2B254DBF}"/>
            </c:ext>
          </c:extLst>
        </c:ser>
        <c:ser>
          <c:idx val="1"/>
          <c:order val="1"/>
          <c:tx>
            <c:strRef>
              <c:f>Sheet1!$C$1</c:f>
              <c:strCache>
                <c:ptCount val="1"/>
                <c:pt idx="0">
                  <c:v>PARTIAL</c:v>
                </c:pt>
              </c:strCache>
            </c:strRef>
          </c:tx>
          <c:spPr>
            <a:solidFill>
              <a:srgbClr val="F2A541"/>
            </a:solidFill>
            <a:effectLst/>
          </c:spPr>
          <c:invertIfNegative val="0"/>
          <c:dLbls>
            <c:numFmt formatCode="0;;;" sourceLinked="0"/>
            <c:spPr>
              <a:noFill/>
              <a:ln>
                <a:noFill/>
              </a:ln>
              <a:effectLst/>
            </c:spPr>
            <c:txPr>
              <a:bodyPr/>
              <a:lstStyle/>
              <a:p>
                <a:pPr>
                  <a:defRPr sz="12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R1 As-Is (20)</c:v>
                </c:pt>
                <c:pt idx="1">
                  <c:v>R2 Repo 2.0 (25)</c:v>
                </c:pt>
                <c:pt idx="2">
                  <c:v>R3 Governance (20)</c:v>
                </c:pt>
                <c:pt idx="3">
                  <c:v>R4 PRD and app (25)</c:v>
                </c:pt>
                <c:pt idx="4">
                  <c:v>R5 Defence (10)</c:v>
                </c:pt>
              </c:strCache>
            </c:strRef>
          </c:cat>
          <c:val>
            <c:numRef>
              <c:f>Sheet1!$C$2:$C$6</c:f>
              <c:numCache>
                <c:formatCode>General</c:formatCode>
                <c:ptCount val="5"/>
                <c:pt idx="0">
                  <c:v>1</c:v>
                </c:pt>
                <c:pt idx="1">
                  <c:v>4</c:v>
                </c:pt>
                <c:pt idx="2">
                  <c:v>2</c:v>
                </c:pt>
                <c:pt idx="3">
                  <c:v>1</c:v>
                </c:pt>
                <c:pt idx="4">
                  <c:v>1</c:v>
                </c:pt>
              </c:numCache>
            </c:numRef>
          </c:val>
          <c:extLst>
            <c:ext xmlns:c16="http://schemas.microsoft.com/office/drawing/2014/chart" uri="{C3380CC4-5D6E-409C-BE32-E72D297353CC}">
              <c16:uniqueId val="{00000001-0A9F-44B4-B293-EE7E2B254DBF}"/>
            </c:ext>
          </c:extLst>
        </c:ser>
        <c:ser>
          <c:idx val="2"/>
          <c:order val="2"/>
          <c:tx>
            <c:strRef>
              <c:f>Sheet1!$D$1</c:f>
              <c:strCache>
                <c:ptCount val="1"/>
                <c:pt idx="0">
                  <c:v>NOT MET</c:v>
                </c:pt>
              </c:strCache>
            </c:strRef>
          </c:tx>
          <c:spPr>
            <a:solidFill>
              <a:srgbClr val="C0392B"/>
            </a:solidFill>
            <a:effectLst/>
          </c:spPr>
          <c:invertIfNegative val="0"/>
          <c:dLbls>
            <c:numFmt formatCode="0;;;" sourceLinked="0"/>
            <c:spPr>
              <a:noFill/>
              <a:ln>
                <a:noFill/>
              </a:ln>
              <a:effectLst/>
            </c:spPr>
            <c:txPr>
              <a:bodyPr/>
              <a:lstStyle/>
              <a:p>
                <a:pPr>
                  <a:defRPr sz="12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R1 As-Is (20)</c:v>
                </c:pt>
                <c:pt idx="1">
                  <c:v>R2 Repo 2.0 (25)</c:v>
                </c:pt>
                <c:pt idx="2">
                  <c:v>R3 Governance (20)</c:v>
                </c:pt>
                <c:pt idx="3">
                  <c:v>R4 PRD and app (25)</c:v>
                </c:pt>
                <c:pt idx="4">
                  <c:v>R5 Defence (10)</c:v>
                </c:pt>
              </c:strCache>
            </c:strRef>
          </c:cat>
          <c:val>
            <c:numRef>
              <c:f>Sheet1!$D$2:$D$6</c:f>
              <c:numCache>
                <c:formatCode>General</c:formatCode>
                <c:ptCount val="5"/>
                <c:pt idx="0">
                  <c:v>0</c:v>
                </c:pt>
                <c:pt idx="1">
                  <c:v>0</c:v>
                </c:pt>
                <c:pt idx="2">
                  <c:v>1</c:v>
                </c:pt>
                <c:pt idx="3">
                  <c:v>0</c:v>
                </c:pt>
                <c:pt idx="4">
                  <c:v>0</c:v>
                </c:pt>
              </c:numCache>
            </c:numRef>
          </c:val>
          <c:extLst>
            <c:ext xmlns:c16="http://schemas.microsoft.com/office/drawing/2014/chart" uri="{C3380CC4-5D6E-409C-BE32-E72D297353CC}">
              <c16:uniqueId val="{00000002-0A9F-44B4-B293-EE7E2B254DBF}"/>
            </c:ext>
          </c:extLst>
        </c:ser>
        <c:ser>
          <c:idx val="3"/>
          <c:order val="3"/>
          <c:tx>
            <c:strRef>
              <c:f>Sheet1!$E$1</c:f>
              <c:strCache>
                <c:ptCount val="1"/>
                <c:pt idx="0">
                  <c:v>BLOCKED</c:v>
                </c:pt>
              </c:strCache>
            </c:strRef>
          </c:tx>
          <c:spPr>
            <a:solidFill>
              <a:srgbClr val="7B241C"/>
            </a:solidFill>
            <a:effectLst/>
          </c:spPr>
          <c:invertIfNegative val="0"/>
          <c:dLbls>
            <c:numFmt formatCode="0;;;" sourceLinked="0"/>
            <c:spPr>
              <a:noFill/>
              <a:ln>
                <a:noFill/>
              </a:ln>
              <a:effectLst/>
            </c:spPr>
            <c:txPr>
              <a:bodyPr/>
              <a:lstStyle/>
              <a:p>
                <a:pPr>
                  <a:defRPr sz="12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R1 As-Is (20)</c:v>
                </c:pt>
                <c:pt idx="1">
                  <c:v>R2 Repo 2.0 (25)</c:v>
                </c:pt>
                <c:pt idx="2">
                  <c:v>R3 Governance (20)</c:v>
                </c:pt>
                <c:pt idx="3">
                  <c:v>R4 PRD and app (25)</c:v>
                </c:pt>
                <c:pt idx="4">
                  <c:v>R5 Defence (10)</c:v>
                </c:pt>
              </c:strCache>
            </c:strRef>
          </c:cat>
          <c:val>
            <c:numRef>
              <c:f>Sheet1!$E$2:$E$6</c:f>
              <c:numCache>
                <c:formatCode>General</c:formatCode>
                <c:ptCount val="5"/>
                <c:pt idx="0">
                  <c:v>0</c:v>
                </c:pt>
                <c:pt idx="1">
                  <c:v>0</c:v>
                </c:pt>
                <c:pt idx="2">
                  <c:v>1</c:v>
                </c:pt>
                <c:pt idx="3">
                  <c:v>1</c:v>
                </c:pt>
                <c:pt idx="4">
                  <c:v>0</c:v>
                </c:pt>
              </c:numCache>
            </c:numRef>
          </c:val>
          <c:extLst>
            <c:ext xmlns:c16="http://schemas.microsoft.com/office/drawing/2014/chart" uri="{C3380CC4-5D6E-409C-BE32-E72D297353CC}">
              <c16:uniqueId val="{00000003-0A9F-44B4-B293-EE7E2B254DBF}"/>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280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Delta: Dinesh Naik (presenting), Hardik Trivedi, Nachiket Bordekar, Rama Vedula and Sudhir Kulkarni. Purpose: a readiness decision on a transformed logistics operations repository, the evidence behind it, and a test of whether the business knowledge survives without the code. Every number traces to a hashed file in the repository.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parts. The first two are the transformation; the third is the portability test the capstone asks for; the fourth is what we need from the CTO.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verdict. Three numbers carry it: the red team, engineering health, and the evidence discipline. Then the decision: no production on real data; a controlled pilot on synthetic data is supportable, with five conditions. Say plainly what is not proven before anyone asks.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Start: the repository as delivered. Six phases: understand, define, build, prove, defend, close out. Underneath: the rules applied in every stage and the commits that recorded them. End: a defended decision, not a claim of production readiness.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repository as delivered.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1.0 had legacy batch scripts, a partly modernised API and an AI gateway next to each other. The API took the caller's role from a header it never checked; the AI endpoint had no authorisation and reported its own guardrail as not enforced; a lookup that missed returned a different record. Policy, Terraform and CI files existed but did nothing. About 140 lines of application code and 3 tests.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froze the old behaviour with characterisation tests first, then catalogued 62 findings, 25 of them severity S1. 43 are fixed, 4 fixed in the tree (credentials stay in history), 10 partial, 2 changed by decision, 2 deferred, 1 proposed for acceptance. Four root causes are confirmed with high confidence; one needs an owner interview.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Repo 2.0 and the proof.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modular monolith with ports, chosen over hardening the old monolith or splitting into services. Every request passes the token check and the policy engine, which reads its rules from the semantic layer. The AI gateway only suggests, only sees allow-listed fields, and refuses rather than return an invalid answer. Grey boxes are not built because they need owner decisions.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versions side by side. Repo 1.0 is the repository as delivered. Repo 2.0 is what we built. Repo 3.0 is the repository a separate agent rebuilt blind from the semantic layer alone (part 03). Where Repo 3.0 says 'Same', the same probe gave the same answer on both. The two red cells are the honest gaps: the rebuild rejects all of the original data, because the layer's intake rule is stricter than the original's code, and nothing outside the layer (CI, Docker, policy file) was rebuilt. The full 20-row comparison is in the evidence register; the rebuild results are in semantic-layer-rebuild-comparison/COMPARISON.md.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twelve attacks, same requests, against the delivered code and against Repo 2.0. Ten succeeded before; none succeed now. Two did not succeed even before (RT-08 and RT-10). Caveat: our own red team, not an independent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new in v2.0: the capstone portability test.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layer holds the business meaning in portable files: Markdown for people, YAML for definitions, JSON Schema for validation, JSON for exchange, tests for integrity. The application reads it at run time for access, data rules and AI rules. It was extracted after the transformation, as the capstone requires.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21 files of semantic-layer/ were given to a separate builder agent, which read nothing else; all 57 of its actions were audited. It wrote a PRD, then the application, its own synthetic data, 175 passing tests and a gap report. We then sent the same probes to both applications, on each one's own data and on swapped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on 29 of 30 black-box checks the rebuild answered with the same status code, and on identical data its AI recommendation agreed for all 41 shipments. But fed the original dataset, it accepted none of the 354 shipment rows. The layer says an out-of-domain value is rejected; the original application only flags most of them. That rule lives in the original's code, not in the layer. 67 assumptions were needed to fill other gaps.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areas the capstone requirement asks the final report to evaluate. Our evidence and its limits for each. One run, one builder model, same vendor family; the comparison was run by an agent that also helped build the original.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closes a group of the builder's assumptions. The first one alone would have let the rebuild accept the original data. The next step we propose is to add these to the layer and run the blind rebuild again.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readiness, limits and the asks.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were fixed before the decision. G1 to G6 pass at repository level, G7 is partial. G8 to G12 fail, and none can be closed by more engineering from us. The pilot also carries five conditions: a sponsor accepts the operator in every role; credentials resolved; branch protection on (needs a paid GitHub plan for a private repository); no real data or hosted model; one independent reviewer reads the pack.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limits of the evidence, each recorded in the residual-risk register with an owner role. They are the reason the verdict is a pilot, not production.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has decided all 23 open questions, but one person holds every role. What only the CTO or sponsor can add is independence. The signature block is in docs/44-decisions/cto-signoff-pack.md.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Appendix slides follow for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slides only if asked.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Repo 1.0. Below: Repo 2.0. Each check fails closed with its own status code; the producer sees only allowed fields; the answer is checked, falls back, or abstains; the suggestion waits for a person; everything is audited.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K9 and K10 improved because tests were written. K1 to K8 come from a static synthetic fixture the intervention does not touch, so equal before and after is the honest result. No business benefit is claimed.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v2.0 of the layer, a smaller same-vendor model rebuilt a four-behaviour subset from the layer plus the PRD, specifications and a brief. Safety matched on this harness, though the 0 of 12 is partly vacuous: three AI-path attacks reached the AI only in a post-hoc re-run. Its eight specification gaps were then written into the layer (v2.0), which the new blind rebuild in part 03 tested.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number in this deck can be followed to a file: the document cites the path and its hash, the folder manifest records how and when it was produced, and the index ties it to findings and rubric criteria.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of sub-dimensions by status. This measures how complete the evidence is, not how many marks an evaluator will give. In our judgement, R3 and R4 are held back by missing people and a missing model, not by missing work.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audience at the deliverables folder first, then the repository paths for depth.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Set the scene before any architecture. Context: a logistics operations repository with an AI assistant for dispatchers. What we were handed: three code generations and nothing controlling who could do what. Walk the six defects quickly; each one maps to findings we later fixed and proved. Then the task: production-grade Repo 2.0 with evidence for every claim, and a semantic layer that survives a change of AI model. Next slide shows the same picture as an architecture diagram.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84048"/>
            <a:ext cx="11274552" cy="603504"/>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3" name="Text 0"/>
          <p:cNvSpPr/>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5F6E71"/>
                </a:solidFill>
              </a:rPr>
              <a:t>Team Delta  ·  From Brownfield to Governed AI  ·  CTO briefing v2.2</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RAM">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9184"/>
            <a:ext cx="10607040" cy="548640"/>
          </a:xfrm>
          <a:prstGeom prst="rect">
            <a:avLst/>
          </a:prstGeom>
          <a:noFill/>
          <a:ln/>
        </p:spPr>
        <p:txBody>
          <a:bodyPr wrap="square" rtlCol="0"/>
          <a:lstStyle>
            <a:lvl1pPr marL="0" indent="0" algn="l">
              <a:buNone/>
              <a:defRPr lang="en-US" sz="2500" b="1" dirty="0">
                <a:solidFill>
                  <a:schemeClr val="tx2"/>
                </a:solidFill>
              </a:defRPr>
            </a:lvl1pPr>
          </a:lstStyle>
          <a:p>
            <a:pPr marL="0" indent="0" algn="l">
              <a:buNone/>
            </a:pPr>
            <a:endParaRPr lang="en-US" sz="2500" dirty="0"/>
          </a:p>
        </p:txBody>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mailto:Dinesh.Naik@Birlasoft.Com" TargetMode="External"/><Relationship Id="rId5" Type="http://schemas.openxmlformats.org/officeDocument/2006/relationships/hyperlink" Target="mailto:Hardik.Trivedi@Birlasoft.Com" TargetMode="External"/><Relationship Id="rId6" Type="http://schemas.openxmlformats.org/officeDocument/2006/relationships/hyperlink" Target="mailto:Nachiket.Bordekar@Birlasoft.Com" TargetMode="External"/><Relationship Id="rId7" Type="http://schemas.openxmlformats.org/officeDocument/2006/relationships/hyperlink" Target="mailto:Rama.Vedula@Birlasoft.Com" TargetMode="External"/><Relationship Id="rId8" Type="http://schemas.openxmlformats.org/officeDocument/2006/relationships/hyperlink" Target="mailto:Sudhir.Kulkarni@Birlasoft.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2.png"/><Relationship Id="rId8"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chart" Target="../charts/char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280160" y="4572000"/>
            <a:ext cx="3840480" cy="3840480"/>
          </a:xfrm>
          <a:prstGeom prst="ellipse">
            <a:avLst/>
          </a:prstGeom>
          <a:solidFill>
            <a:srgbClr val="134D5C"/>
          </a:solidFill>
          <a:ln/>
        </p:spPr>
        <p:txBody>
          <a:bodyPr/>
          <a:p/>
        </p:txBody>
      </p:sp>
      <p:sp>
        <p:nvSpPr>
          <p:cNvPr id="3" name="Shape 1"/>
          <p:cNvSpPr/>
          <p:nvPr/>
        </p:nvSpPr>
        <p:spPr>
          <a:xfrm>
            <a:off x="1920240" y="5989320"/>
            <a:ext cx="1188720" cy="1188720"/>
          </a:xfrm>
          <a:prstGeom prst="ellipse">
            <a:avLst/>
          </a:prstGeom>
          <a:solidFill>
            <a:srgbClr val="1F7A8C">
              <a:alpha val="65000"/>
            </a:srgbClr>
          </a:solidFill>
          <a:ln/>
        </p:spPr>
        <p:txBody>
          <a:bodyPr/>
          <a:p/>
        </p:txBody>
      </p:sp>
      <p:sp>
        <p:nvSpPr>
          <p:cNvPr id="4" name="Text 2"/>
          <p:cNvSpPr txBox="1"/>
          <p:nvPr/>
        </p:nvSpPr>
        <p:spPr>
          <a:xfrm>
            <a:off x="640080" y="685800"/>
            <a:ext cx="6766560" cy="320040"/>
          </a:xfrm>
          <a:prstGeom prst="rect">
            <a:avLst/>
          </a:prstGeom>
          <a:noFill/>
          <a:ln/>
        </p:spPr>
        <p:txBody>
          <a:bodyPr wrap="square" lIns="0" tIns="0" rIns="0" bIns="0" rtlCol="0" anchor="ctr"/>
          <a:lstStyle/>
          <a:p>
            <a:pPr marL="0" indent="0">
              <a:buNone/>
            </a:pPr>
            <a:r>
              <a:rPr lang="en-US" sz="1300" b="1" kern="0" spc="200" dirty="0">
                <a:solidFill>
                  <a:srgbClr val="F2A541"/>
                </a:solidFill>
              </a:rPr>
              <a:t>AI-FDE SPRINT 3  ·  CASE STUDY 07  ·  CTO BRIEFING</a:t>
            </a:r>
            <a:endParaRPr lang="en-US" sz="1300" dirty="0"/>
          </a:p>
        </p:txBody>
      </p:sp>
      <p:sp>
        <p:nvSpPr>
          <p:cNvPr id="5" name="Text 3"/>
          <p:cNvSpPr txBox="1"/>
          <p:nvPr/>
        </p:nvSpPr>
        <p:spPr>
          <a:xfrm>
            <a:off x="640080" y="1188720"/>
            <a:ext cx="6675120" cy="1737360"/>
          </a:xfrm>
          <a:prstGeom prst="rect">
            <a:avLst/>
          </a:prstGeom>
          <a:noFill/>
          <a:ln/>
        </p:spPr>
        <p:txBody>
          <a:bodyPr wrap="square" lIns="0" tIns="0" rIns="0" bIns="0" rtlCol="0" anchor="t"/>
          <a:lstStyle/>
          <a:p>
            <a:pPr marL="0" indent="0">
              <a:buNone/>
            </a:pPr>
            <a:r>
              <a:rPr lang="en-US" sz="4600" b="1" dirty="0">
                <a:solidFill>
                  <a:srgbClr val="FFFFFF"/>
                </a:solidFill>
              </a:rPr>
              <a:t>From Brownfield to Governed AI</a:t>
            </a:r>
            <a:endParaRPr lang="en-US" sz="4600" dirty="0"/>
          </a:p>
        </p:txBody>
      </p:sp>
      <p:sp>
        <p:nvSpPr>
          <p:cNvPr id="6" name="Text 4"/>
          <p:cNvSpPr txBox="1"/>
          <p:nvPr/>
        </p:nvSpPr>
        <p:spPr>
          <a:xfrm>
            <a:off x="640080" y="3017520"/>
            <a:ext cx="6309360" cy="1097280"/>
          </a:xfrm>
          <a:prstGeom prst="rect">
            <a:avLst/>
          </a:prstGeom>
          <a:noFill/>
          <a:ln/>
        </p:spPr>
        <p:txBody>
          <a:bodyPr wrap="square" lIns="0" tIns="0" rIns="0" bIns="0" rtlCol="0" anchor="t"/>
          <a:lstStyle/>
          <a:p>
            <a:pPr marL="0" indent="0">
              <a:buNone/>
            </a:pPr>
            <a:r>
              <a:rPr lang="en-US" sz="1900" dirty="0">
                <a:solidFill>
                  <a:srgbClr val="CFE3E7"/>
                </a:solidFill>
              </a:rPr>
              <a:t>Logistics Ops Repo 2.0: an evidence-backed transformation of shipment, fleet, routing and exception operations</a:t>
            </a:r>
            <a:endParaRPr lang="en-US" sz="1900" dirty="0"/>
          </a:p>
        </p:txBody>
      </p:sp>
      <p:sp>
        <p:nvSpPr>
          <p:cNvPr id="7" name="Text 5"/>
          <p:cNvSpPr txBox="1"/>
          <p:nvPr/>
        </p:nvSpPr>
        <p:spPr>
          <a:xfrm>
            <a:off x="640080" y="4343400"/>
            <a:ext cx="5943600" cy="731520"/>
          </a:xfrm>
          <a:prstGeom prst="rect">
            <a:avLst/>
          </a:prstGeom>
          <a:noFill/>
          <a:ln/>
        </p:spPr>
        <p:txBody>
          <a:bodyPr wrap="square" lIns="0" tIns="0" rIns="0" bIns="0" rtlCol="0" anchor="t"/>
          <a:lstStyle/>
          <a:p>
            <a:pPr marL="0" indent="0">
              <a:buNone/>
            </a:pPr>
            <a:r>
              <a:rPr lang="en-US" sz="1500" b="1" dirty="0">
                <a:solidFill>
                  <a:srgbClr val="FFFFFF"/>
                </a:solidFill>
              </a:rPr>
              <a:t>Presented by Dinesh Naik</a:t>
            </a:r>
            <a:endParaRPr lang="en-US" sz="1500" dirty="0"/>
          </a:p>
          <a:p>
            <a:pPr marL="0" indent="0">
              <a:buNone/>
            </a:pPr>
            <a:r>
              <a:rPr lang="en-US" sz="1500">
                <a:solidFill>
                  <a:srgbClr val="CFE3E7"/>
                </a:solidFill>
              </a:rPr>
              <a:t>14 </a:t>
            </a:r>
            <a:r>
              <a:rPr lang="en-US" sz="1500" dirty="0">
                <a:solidFill>
                  <a:srgbClr val="CFE3E7"/>
                </a:solidFill>
              </a:rPr>
              <a:t>October 2026  ·  v2.2</a:t>
            </a:r>
            <a:endParaRPr lang="en-US" sz="1500" dirty="0"/>
          </a:p>
        </p:txBody>
      </p:sp>
      <p:sp>
        <p:nvSpPr>
          <p:cNvPr id="8" name="Shape 6"/>
          <p:cNvSpPr/>
          <p:nvPr/>
        </p:nvSpPr>
        <p:spPr>
          <a:xfrm>
            <a:off x="7543800" y="685800"/>
            <a:ext cx="4160520" cy="5486400"/>
          </a:xfrm>
          <a:prstGeom prst="roundRect">
            <a:avLst>
              <a:gd name="adj" fmla="val 2637"/>
            </a:avLst>
          </a:prstGeom>
          <a:solidFill>
            <a:srgbClr val="134D5C"/>
          </a:solidFill>
          <a:ln w="12700">
            <a:solidFill>
              <a:srgbClr val="1F7A8C"/>
            </a:solidFill>
            <a:prstDash val="solid"/>
          </a:ln>
        </p:spPr>
        <p:txBody>
          <a:bodyPr/>
          <a:p/>
        </p:txBody>
      </p:sp>
      <p:sp>
        <p:nvSpPr>
          <p:cNvPr id="9" name="Shape 7"/>
          <p:cNvSpPr/>
          <p:nvPr/>
        </p:nvSpPr>
        <p:spPr>
          <a:xfrm>
            <a:off x="7772400" y="914400"/>
            <a:ext cx="566928" cy="566928"/>
          </a:xfrm>
          <a:prstGeom prst="ellipse">
            <a:avLst/>
          </a:prstGeom>
          <a:solidFill>
            <a:srgbClr val="F2A541"/>
          </a:solidFill>
          <a:ln/>
        </p:spPr>
        <p:txBody>
          <a:bodyPr/>
          <a:p/>
        </p:txBody>
      </p:sp>
      <p:pic>
        <p:nvPicPr>
          <p:cNvPr id="10" name="Image 0" descr="preencoded.png"/>
          <p:cNvPicPr>
            <a:picLocks noChangeAspect="1"/>
          </p:cNvPicPr>
          <p:nvPr/>
        </p:nvPicPr>
        <p:blipFill>
          <a:blip r:embed="rId3"/>
          <a:stretch>
            <a:fillRect/>
          </a:stretch>
        </p:blipFill>
        <p:spPr>
          <a:xfrm>
            <a:off x="7900416" y="1042416"/>
            <a:ext cx="310896" cy="310896"/>
          </a:xfrm>
          <a:prstGeom prst="rect">
            <a:avLst/>
          </a:prstGeom>
        </p:spPr>
      </p:pic>
      <p:sp>
        <p:nvSpPr>
          <p:cNvPr id="11" name="Text 8"/>
          <p:cNvSpPr txBox="1"/>
          <p:nvPr/>
        </p:nvSpPr>
        <p:spPr>
          <a:xfrm>
            <a:off x="8458200" y="914400"/>
            <a:ext cx="3108960" cy="566928"/>
          </a:xfrm>
          <a:prstGeom prst="rect">
            <a:avLst/>
          </a:prstGeom>
          <a:noFill/>
          <a:ln/>
        </p:spPr>
        <p:txBody>
          <a:bodyPr wrap="square" lIns="0" tIns="0" rIns="0" bIns="0" rtlCol="0" anchor="ctr"/>
          <a:lstStyle/>
          <a:p>
            <a:pPr marL="0" indent="0">
              <a:buNone/>
            </a:pPr>
            <a:r>
              <a:rPr lang="en-US" sz="2400" b="1" dirty="0">
                <a:solidFill>
                  <a:srgbClr val="FFFFFF"/>
                </a:solidFill>
              </a:rPr>
              <a:t>Team Delta</a:t>
            </a:r>
            <a:endParaRPr lang="en-US" sz="2400" dirty="0"/>
          </a:p>
        </p:txBody>
      </p:sp>
      <p:sp>
        <p:nvSpPr>
          <p:cNvPr id="12" name="Shape 9"/>
          <p:cNvSpPr/>
          <p:nvPr/>
        </p:nvSpPr>
        <p:spPr>
          <a:xfrm>
            <a:off x="7772400" y="1709928"/>
            <a:ext cx="3703320" cy="0"/>
          </a:xfrm>
          <a:prstGeom prst="line">
            <a:avLst/>
          </a:prstGeom>
          <a:noFill/>
          <a:ln w="9525">
            <a:solidFill>
              <a:srgbClr val="2C6675"/>
            </a:solidFill>
            <a:prstDash val="solid"/>
          </a:ln>
        </p:spPr>
        <p:txBody>
          <a:bodyPr/>
          <a:p/>
        </p:txBody>
      </p:sp>
      <p:sp>
        <p:nvSpPr>
          <p:cNvPr id="13" name="Text 10"/>
          <p:cNvSpPr txBox="1"/>
          <p:nvPr/>
        </p:nvSpPr>
        <p:spPr>
          <a:xfrm>
            <a:off x="7772400" y="1783080"/>
            <a:ext cx="2331720" cy="365760"/>
          </a:xfrm>
          <a:prstGeom prst="rect">
            <a:avLst/>
          </a:prstGeom>
          <a:noFill/>
          <a:ln/>
        </p:spPr>
        <p:txBody>
          <a:bodyPr wrap="square" lIns="0" tIns="0" rIns="0" bIns="0" rtlCol="0" anchor="ctr"/>
          <a:lstStyle/>
          <a:p>
            <a:pPr marL="0" indent="0">
              <a:buNone/>
            </a:pPr>
            <a:r>
              <a:rPr lang="en-US" sz="1700" b="1" dirty="0">
                <a:solidFill>
                  <a:srgbClr val="FFFFFF"/>
                </a:solidFill>
              </a:rPr>
              <a:t>Dinesh Naik</a:t>
            </a:r>
            <a:endParaRPr lang="en-US" sz="1700" dirty="0"/>
          </a:p>
        </p:txBody>
      </p:sp>
      <p:sp>
        <p:nvSpPr>
          <p:cNvPr id="14" name="Shape 11"/>
          <p:cNvSpPr/>
          <p:nvPr/>
        </p:nvSpPr>
        <p:spPr>
          <a:xfrm>
            <a:off x="10149840" y="1828800"/>
            <a:ext cx="1325880" cy="292608"/>
          </a:xfrm>
          <a:prstGeom prst="roundRect">
            <a:avLst>
              <a:gd name="adj" fmla="val 50000"/>
            </a:avLst>
          </a:prstGeom>
          <a:solidFill>
            <a:srgbClr val="F2A541"/>
          </a:solidFill>
          <a:ln/>
        </p:spPr>
        <p:txBody>
          <a:bodyPr/>
          <a:p/>
        </p:txBody>
      </p:sp>
      <p:sp>
        <p:nvSpPr>
          <p:cNvPr id="15" name="Text 12"/>
          <p:cNvSpPr txBox="1"/>
          <p:nvPr/>
        </p:nvSpPr>
        <p:spPr>
          <a:xfrm>
            <a:off x="10149840" y="1828800"/>
            <a:ext cx="1325880" cy="292608"/>
          </a:xfrm>
          <a:prstGeom prst="rect">
            <a:avLst/>
          </a:prstGeom>
          <a:noFill/>
          <a:ln/>
        </p:spPr>
        <p:txBody>
          <a:bodyPr wrap="square" lIns="0" tIns="0" rIns="0" bIns="0" rtlCol="0" anchor="ctr"/>
          <a:lstStyle/>
          <a:p>
            <a:pPr marL="0" indent="0" algn="ctr">
              <a:buNone/>
            </a:pPr>
            <a:r>
              <a:rPr lang="en-US" sz="1000" b="1" dirty="0">
                <a:solidFill>
                  <a:srgbClr val="0B3C49"/>
                </a:solidFill>
              </a:rPr>
              <a:t>PRESENTER</a:t>
            </a:r>
            <a:endParaRPr lang="en-US" sz="1000" dirty="0"/>
          </a:p>
        </p:txBody>
      </p:sp>
      <p:sp>
        <p:nvSpPr>
          <p:cNvPr id="16" name="Text 13">
            <a:hlinkClick r:id="rId4"/>
          </p:cNvPr>
          <p:cNvSpPr txBox="1"/>
          <p:nvPr/>
        </p:nvSpPr>
        <p:spPr>
          <a:xfrm>
            <a:off x="7772400" y="2148840"/>
            <a:ext cx="3703320" cy="292608"/>
          </a:xfrm>
          <a:prstGeom prst="rect">
            <a:avLst/>
          </a:prstGeom>
          <a:noFill/>
          <a:ln/>
        </p:spPr>
        <p:txBody>
          <a:bodyPr wrap="square" lIns="0" tIns="0" rIns="0" bIns="0" rtlCol="0" anchor="t"/>
          <a:lstStyle/>
          <a:p>
            <a:pPr marL="0" indent="0">
              <a:buNone/>
            </a:pPr>
            <a:r>
              <a:rPr lang="en-US" sz="1200" u="sng" dirty="0">
                <a:solidFill>
                  <a:srgbClr val="CFE3E7"/>
                </a:solidFill>
                <a:hlinkClick r:id="rId4">
                  <a:extLst>
                    <a:ext uri="{A12FA001-AC4F-418D-AE19-62706E023703}">
                      <ahyp:hlinkClr xmlns:ahyp="http://schemas.microsoft.com/office/drawing/2018/hyperlinkcolor" val="tx"/>
                    </a:ext>
                  </a:extLst>
                </a:hlinkClick>
              </a:rPr>
              <a:t>Dinesh.Naik@Birlasoft.Com</a:t>
            </a:r>
            <a:endParaRPr lang="en-US" sz="1200" dirty="0"/>
          </a:p>
        </p:txBody>
      </p:sp>
      <p:sp>
        <p:nvSpPr>
          <p:cNvPr id="17" name="Shape 14"/>
          <p:cNvSpPr/>
          <p:nvPr/>
        </p:nvSpPr>
        <p:spPr>
          <a:xfrm>
            <a:off x="7772400" y="2560320"/>
            <a:ext cx="3703320" cy="0"/>
          </a:xfrm>
          <a:prstGeom prst="line">
            <a:avLst/>
          </a:prstGeom>
          <a:noFill/>
          <a:ln w="9525">
            <a:solidFill>
              <a:srgbClr val="2C6675"/>
            </a:solidFill>
            <a:prstDash val="solid"/>
          </a:ln>
        </p:spPr>
        <p:txBody>
          <a:bodyPr/>
          <a:p/>
        </p:txBody>
      </p:sp>
      <p:sp>
        <p:nvSpPr>
          <p:cNvPr id="18" name="Text 15"/>
          <p:cNvSpPr txBox="1"/>
          <p:nvPr/>
        </p:nvSpPr>
        <p:spPr>
          <a:xfrm>
            <a:off x="7792063" y="5101371"/>
            <a:ext cx="3703320" cy="365760"/>
          </a:xfrm>
          <a:prstGeom prst="rect">
            <a:avLst/>
          </a:prstGeom>
          <a:noFill/>
          <a:ln/>
        </p:spPr>
        <p:txBody>
          <a:bodyPr wrap="square" lIns="0" tIns="0" rIns="0" bIns="0" rtlCol="0" anchor="ctr"/>
          <a:lstStyle/>
          <a:p>
            <a:pPr marL="0" indent="0">
              <a:buNone/>
            </a:pPr>
            <a:r>
              <a:rPr lang="en-US" sz="1700" b="1" dirty="0">
                <a:solidFill>
                  <a:srgbClr val="FFFFFF"/>
                </a:solidFill>
              </a:rPr>
              <a:t>Hardik Trivedi</a:t>
            </a:r>
            <a:endParaRPr lang="en-US" sz="1700" dirty="0"/>
          </a:p>
        </p:txBody>
      </p:sp>
      <p:sp>
        <p:nvSpPr>
          <p:cNvPr id="19" name="Text 16">
            <a:hlinkClick r:id="rId5"/>
          </p:cNvPr>
          <p:cNvSpPr txBox="1"/>
          <p:nvPr/>
        </p:nvSpPr>
        <p:spPr>
          <a:xfrm>
            <a:off x="7792063" y="5467131"/>
            <a:ext cx="3703320" cy="292608"/>
          </a:xfrm>
          <a:prstGeom prst="rect">
            <a:avLst/>
          </a:prstGeom>
          <a:noFill/>
          <a:ln/>
        </p:spPr>
        <p:txBody>
          <a:bodyPr wrap="square" lIns="0" tIns="0" rIns="0" bIns="0" rtlCol="0" anchor="t"/>
          <a:lstStyle/>
          <a:p>
            <a:pPr marL="0" indent="0">
              <a:buNone/>
            </a:pPr>
            <a:r>
              <a:rPr lang="en-US" sz="1200" u="sng" dirty="0">
                <a:solidFill>
                  <a:srgbClr val="CFE3E7"/>
                </a:solidFill>
                <a:hlinkClick r:id="rId5">
                  <a:extLst>
                    <a:ext uri="{A12FA001-AC4F-418D-AE19-62706E023703}">
                      <ahyp:hlinkClr xmlns:ahyp="http://schemas.microsoft.com/office/drawing/2018/hyperlinkcolor" val="tx"/>
                    </a:ext>
                  </a:extLst>
                </a:hlinkClick>
              </a:rPr>
              <a:t>Hardik.Trivedi@Birlasoft.Com</a:t>
            </a:r>
            <a:endParaRPr lang="en-US" sz="1200" dirty="0"/>
          </a:p>
        </p:txBody>
      </p:sp>
      <p:sp>
        <p:nvSpPr>
          <p:cNvPr id="20" name="Shape 17"/>
          <p:cNvSpPr/>
          <p:nvPr/>
        </p:nvSpPr>
        <p:spPr>
          <a:xfrm>
            <a:off x="7772400" y="3410712"/>
            <a:ext cx="3703320" cy="0"/>
          </a:xfrm>
          <a:prstGeom prst="line">
            <a:avLst/>
          </a:prstGeom>
          <a:noFill/>
          <a:ln w="9525">
            <a:solidFill>
              <a:srgbClr val="2C6675"/>
            </a:solidFill>
            <a:prstDash val="solid"/>
          </a:ln>
        </p:spPr>
        <p:txBody>
          <a:bodyPr/>
          <a:p/>
        </p:txBody>
      </p:sp>
      <p:sp>
        <p:nvSpPr>
          <p:cNvPr id="21" name="Text 18"/>
          <p:cNvSpPr txBox="1"/>
          <p:nvPr/>
        </p:nvSpPr>
        <p:spPr>
          <a:xfrm>
            <a:off x="7772400" y="3483864"/>
            <a:ext cx="3703320" cy="365760"/>
          </a:xfrm>
          <a:prstGeom prst="rect">
            <a:avLst/>
          </a:prstGeom>
          <a:noFill/>
          <a:ln/>
        </p:spPr>
        <p:txBody>
          <a:bodyPr wrap="square" lIns="0" tIns="0" rIns="0" bIns="0" rtlCol="0" anchor="ctr"/>
          <a:lstStyle/>
          <a:p>
            <a:pPr marL="0" indent="0">
              <a:buNone/>
            </a:pPr>
            <a:r>
              <a:rPr lang="en-US" sz="1700" b="1" dirty="0">
                <a:solidFill>
                  <a:srgbClr val="FFFFFF"/>
                </a:solidFill>
              </a:rPr>
              <a:t>Nachiket Bordekar</a:t>
            </a:r>
            <a:endParaRPr lang="en-US" sz="1700" dirty="0"/>
          </a:p>
        </p:txBody>
      </p:sp>
      <p:sp>
        <p:nvSpPr>
          <p:cNvPr id="22" name="Text 19">
            <a:hlinkClick r:id="rId6"/>
          </p:cNvPr>
          <p:cNvSpPr txBox="1"/>
          <p:nvPr/>
        </p:nvSpPr>
        <p:spPr>
          <a:xfrm>
            <a:off x="7772400" y="3849624"/>
            <a:ext cx="3703320" cy="292608"/>
          </a:xfrm>
          <a:prstGeom prst="rect">
            <a:avLst/>
          </a:prstGeom>
          <a:noFill/>
          <a:ln/>
        </p:spPr>
        <p:txBody>
          <a:bodyPr wrap="square" lIns="0" tIns="0" rIns="0" bIns="0" rtlCol="0" anchor="t"/>
          <a:lstStyle/>
          <a:p>
            <a:pPr marL="0" indent="0">
              <a:buNone/>
            </a:pPr>
            <a:r>
              <a:rPr lang="en-US" sz="1200" u="sng" dirty="0">
                <a:solidFill>
                  <a:srgbClr val="CFE3E7"/>
                </a:solidFill>
                <a:hlinkClick r:id="rId6">
                  <a:extLst>
                    <a:ext uri="{A12FA001-AC4F-418D-AE19-62706E023703}">
                      <ahyp:hlinkClr xmlns:ahyp="http://schemas.microsoft.com/office/drawing/2018/hyperlinkcolor" val="tx"/>
                    </a:ext>
                  </a:extLst>
                </a:hlinkClick>
              </a:rPr>
              <a:t>Nachiket.Bordekar@Birlasoft.Com</a:t>
            </a:r>
            <a:endParaRPr lang="en-US" sz="1200" dirty="0"/>
          </a:p>
        </p:txBody>
      </p:sp>
      <p:sp>
        <p:nvSpPr>
          <p:cNvPr id="23" name="Shape 20"/>
          <p:cNvSpPr/>
          <p:nvPr/>
        </p:nvSpPr>
        <p:spPr>
          <a:xfrm>
            <a:off x="7772400" y="4261104"/>
            <a:ext cx="3703320" cy="0"/>
          </a:xfrm>
          <a:prstGeom prst="line">
            <a:avLst/>
          </a:prstGeom>
          <a:noFill/>
          <a:ln w="9525">
            <a:solidFill>
              <a:srgbClr val="2C6675"/>
            </a:solidFill>
            <a:prstDash val="solid"/>
          </a:ln>
        </p:spPr>
        <p:txBody>
          <a:bodyPr/>
          <a:p/>
        </p:txBody>
      </p:sp>
      <p:sp>
        <p:nvSpPr>
          <p:cNvPr id="24" name="Text 21"/>
          <p:cNvSpPr txBox="1"/>
          <p:nvPr/>
        </p:nvSpPr>
        <p:spPr>
          <a:xfrm>
            <a:off x="7772400" y="2652937"/>
            <a:ext cx="3703320" cy="365760"/>
          </a:xfrm>
          <a:prstGeom prst="rect">
            <a:avLst/>
          </a:prstGeom>
          <a:noFill/>
          <a:ln/>
        </p:spPr>
        <p:txBody>
          <a:bodyPr wrap="square" lIns="0" tIns="0" rIns="0" bIns="0" rtlCol="0" anchor="ctr"/>
          <a:lstStyle/>
          <a:p>
            <a:pPr marL="0" indent="0">
              <a:buNone/>
            </a:pPr>
            <a:r>
              <a:rPr lang="en-US" sz="1700" b="1" dirty="0">
                <a:solidFill>
                  <a:srgbClr val="FFFFFF"/>
                </a:solidFill>
              </a:rPr>
              <a:t>Rama Vedula</a:t>
            </a:r>
            <a:endParaRPr lang="en-US" sz="1700" dirty="0"/>
          </a:p>
        </p:txBody>
      </p:sp>
      <p:sp>
        <p:nvSpPr>
          <p:cNvPr id="25" name="Text 22">
            <a:hlinkClick r:id="rId7"/>
          </p:cNvPr>
          <p:cNvSpPr txBox="1"/>
          <p:nvPr/>
        </p:nvSpPr>
        <p:spPr>
          <a:xfrm>
            <a:off x="7772400" y="3018697"/>
            <a:ext cx="3703320" cy="292608"/>
          </a:xfrm>
          <a:prstGeom prst="rect">
            <a:avLst/>
          </a:prstGeom>
          <a:noFill/>
          <a:ln/>
        </p:spPr>
        <p:txBody>
          <a:bodyPr wrap="square" lIns="0" tIns="0" rIns="0" bIns="0" rtlCol="0" anchor="t"/>
          <a:lstStyle/>
          <a:p>
            <a:pPr marL="0" indent="0">
              <a:buNone/>
            </a:pPr>
            <a:r>
              <a:rPr lang="en-US" sz="1200" u="sng" dirty="0">
                <a:solidFill>
                  <a:srgbClr val="CFE3E7"/>
                </a:solidFill>
                <a:hlinkClick r:id="rId7">
                  <a:extLst>
                    <a:ext uri="{A12FA001-AC4F-418D-AE19-62706E023703}">
                      <ahyp:hlinkClr xmlns:ahyp="http://schemas.microsoft.com/office/drawing/2018/hyperlinkcolor" val="tx"/>
                    </a:ext>
                  </a:extLst>
                </a:hlinkClick>
              </a:rPr>
              <a:t>Rama.Vedula@Birlasoft.Com</a:t>
            </a:r>
            <a:endParaRPr lang="en-US" sz="1200" dirty="0"/>
          </a:p>
        </p:txBody>
      </p:sp>
      <p:sp>
        <p:nvSpPr>
          <p:cNvPr id="26" name="Shape 23"/>
          <p:cNvSpPr/>
          <p:nvPr/>
        </p:nvSpPr>
        <p:spPr>
          <a:xfrm>
            <a:off x="7772400" y="5111496"/>
            <a:ext cx="3703320" cy="0"/>
          </a:xfrm>
          <a:prstGeom prst="line">
            <a:avLst/>
          </a:prstGeom>
          <a:noFill/>
          <a:ln w="9525">
            <a:solidFill>
              <a:srgbClr val="2C6675"/>
            </a:solidFill>
            <a:prstDash val="solid"/>
          </a:ln>
        </p:spPr>
        <p:txBody>
          <a:bodyPr/>
          <a:p/>
        </p:txBody>
      </p:sp>
      <p:sp>
        <p:nvSpPr>
          <p:cNvPr id="27" name="Text 24"/>
          <p:cNvSpPr txBox="1"/>
          <p:nvPr/>
        </p:nvSpPr>
        <p:spPr>
          <a:xfrm>
            <a:off x="7772400" y="4358738"/>
            <a:ext cx="3703320" cy="365760"/>
          </a:xfrm>
          <a:prstGeom prst="rect">
            <a:avLst/>
          </a:prstGeom>
          <a:noFill/>
          <a:ln/>
        </p:spPr>
        <p:txBody>
          <a:bodyPr wrap="square" lIns="0" tIns="0" rIns="0" bIns="0" rtlCol="0" anchor="ctr"/>
          <a:lstStyle/>
          <a:p>
            <a:pPr marL="0" indent="0">
              <a:buNone/>
            </a:pPr>
            <a:r>
              <a:rPr lang="en-US" sz="1700" b="1" dirty="0">
                <a:solidFill>
                  <a:srgbClr val="FFFFFF"/>
                </a:solidFill>
              </a:rPr>
              <a:t>Sudhir Kulkarni</a:t>
            </a:r>
            <a:endParaRPr lang="en-US" sz="1700" dirty="0"/>
          </a:p>
        </p:txBody>
      </p:sp>
      <p:sp>
        <p:nvSpPr>
          <p:cNvPr id="28" name="Text 25">
            <a:hlinkClick r:id="rId8"/>
          </p:cNvPr>
          <p:cNvSpPr txBox="1"/>
          <p:nvPr/>
        </p:nvSpPr>
        <p:spPr>
          <a:xfrm>
            <a:off x="7772400" y="4724498"/>
            <a:ext cx="3703320" cy="292608"/>
          </a:xfrm>
          <a:prstGeom prst="rect">
            <a:avLst/>
          </a:prstGeom>
          <a:noFill/>
          <a:ln/>
        </p:spPr>
        <p:txBody>
          <a:bodyPr wrap="square" lIns="0" tIns="0" rIns="0" bIns="0" rtlCol="0" anchor="t"/>
          <a:lstStyle/>
          <a:p>
            <a:pPr marL="0" indent="0">
              <a:buNone/>
            </a:pPr>
            <a:r>
              <a:rPr lang="en-US" sz="1200" u="sng" dirty="0">
                <a:solidFill>
                  <a:srgbClr val="CFE3E7"/>
                </a:solidFill>
                <a:hlinkClick r:id="rId8">
                  <a:extLst>
                    <a:ext uri="{A12FA001-AC4F-418D-AE19-62706E023703}">
                      <ahyp:hlinkClr xmlns:ahyp="http://schemas.microsoft.com/office/drawing/2018/hyperlinkcolor" val="tx"/>
                    </a:ext>
                  </a:extLst>
                </a:hlinkClick>
              </a:rPr>
              <a:t>Sudhir.Kulkarni@Birlasoft.Com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AGENDA</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Four questions, one evidence trail</a:t>
            </a:r>
            <a:endParaRPr lang="en-US" sz="2800" dirty="0"/>
          </a:p>
        </p:txBody>
      </p:sp>
      <p:sp>
        <p:nvSpPr>
          <p:cNvPr id="5" name="Shape 2"/>
          <p:cNvSpPr/>
          <p:nvPr/>
        </p:nvSpPr>
        <p:spPr>
          <a:xfrm>
            <a:off x="457200" y="1463040"/>
            <a:ext cx="2651760" cy="4023360"/>
          </a:xfrm>
          <a:prstGeom prst="roundRect">
            <a:avLst>
              <a:gd name="adj" fmla="val 4138"/>
            </a:avLst>
          </a:prstGeom>
          <a:solidFill>
            <a:srgbClr val="E8F1F2"/>
          </a:solidFill>
          <a:ln/>
        </p:spPr>
        <p:txBody>
          <a:bodyPr/>
          <a:p/>
        </p:txBody>
      </p:sp>
      <p:sp>
        <p:nvSpPr>
          <p:cNvPr id="6" name="Shape 3"/>
          <p:cNvSpPr/>
          <p:nvPr/>
        </p:nvSpPr>
        <p:spPr>
          <a:xfrm>
            <a:off x="731520" y="1783080"/>
            <a:ext cx="1051560" cy="1051560"/>
          </a:xfrm>
          <a:prstGeom prst="ellipse">
            <a:avLst/>
          </a:prstGeom>
          <a:solidFill>
            <a:srgbClr val="0B3C49"/>
          </a:solidFill>
          <a:ln/>
        </p:spPr>
        <p:txBody>
          <a:bodyPr/>
          <a:p/>
        </p:txBody>
      </p:sp>
      <p:sp>
        <p:nvSpPr>
          <p:cNvPr id="7" name="Text 4"/>
          <p:cNvSpPr txBox="1"/>
          <p:nvPr/>
        </p:nvSpPr>
        <p:spPr>
          <a:xfrm>
            <a:off x="731520" y="1783080"/>
            <a:ext cx="1051560" cy="1051560"/>
          </a:xfrm>
          <a:prstGeom prst="rect">
            <a:avLst/>
          </a:prstGeom>
          <a:noFill/>
          <a:ln/>
        </p:spPr>
        <p:txBody>
          <a:bodyPr wrap="square" lIns="0" tIns="0" rIns="0" bIns="0" rtlCol="0" anchor="ctr"/>
          <a:lstStyle/>
          <a:p>
            <a:pPr marL="0" indent="0" algn="ctr">
              <a:buNone/>
            </a:pPr>
            <a:r>
              <a:rPr lang="en-US" sz="3000" b="1" dirty="0">
                <a:solidFill>
                  <a:srgbClr val="FFFFFF"/>
                </a:solidFill>
              </a:rPr>
              <a:t>01</a:t>
            </a:r>
            <a:endParaRPr lang="en-US" sz="3000" dirty="0"/>
          </a:p>
        </p:txBody>
      </p:sp>
      <p:sp>
        <p:nvSpPr>
          <p:cNvPr id="8" name="Text 5"/>
          <p:cNvSpPr txBox="1"/>
          <p:nvPr/>
        </p:nvSpPr>
        <p:spPr>
          <a:xfrm>
            <a:off x="731520" y="3063240"/>
            <a:ext cx="2194560" cy="914400"/>
          </a:xfrm>
          <a:prstGeom prst="rect">
            <a:avLst/>
          </a:prstGeom>
          <a:noFill/>
          <a:ln/>
        </p:spPr>
        <p:txBody>
          <a:bodyPr wrap="square" lIns="0" tIns="0" rIns="0" bIns="0" rtlCol="0" anchor="t"/>
          <a:lstStyle/>
          <a:p>
            <a:pPr marL="0" indent="0">
              <a:buNone/>
            </a:pPr>
            <a:r>
              <a:rPr lang="en-US" sz="2100" b="1" dirty="0">
                <a:solidFill>
                  <a:srgbClr val="0B3C49"/>
                </a:solidFill>
              </a:rPr>
              <a:t>The starting point</a:t>
            </a:r>
            <a:endParaRPr lang="en-US" sz="2100" dirty="0"/>
          </a:p>
        </p:txBody>
      </p:sp>
      <p:sp>
        <p:nvSpPr>
          <p:cNvPr id="9" name="Text 6"/>
          <p:cNvSpPr txBox="1"/>
          <p:nvPr/>
        </p:nvSpPr>
        <p:spPr>
          <a:xfrm>
            <a:off x="731520" y="4023360"/>
            <a:ext cx="2194560" cy="1280160"/>
          </a:xfrm>
          <a:prstGeom prst="rect">
            <a:avLst/>
          </a:prstGeom>
          <a:noFill/>
          <a:ln/>
        </p:spPr>
        <p:txBody>
          <a:bodyPr wrap="square" lIns="0" tIns="0" rIns="0" bIns="0" rtlCol="0" anchor="t"/>
          <a:lstStyle/>
          <a:p>
            <a:pPr marL="0" indent="0">
              <a:buNone/>
            </a:pPr>
            <a:r>
              <a:rPr lang="en-US" sz="1500" dirty="0">
                <a:solidFill>
                  <a:srgbClr val="1B2A2F"/>
                </a:solidFill>
              </a:rPr>
              <a:t>What we inherited and what was wrong with it</a:t>
            </a:r>
            <a:endParaRPr lang="en-US" sz="1500" dirty="0"/>
          </a:p>
        </p:txBody>
      </p:sp>
      <p:sp>
        <p:nvSpPr>
          <p:cNvPr id="10" name="Shape 7"/>
          <p:cNvSpPr/>
          <p:nvPr/>
        </p:nvSpPr>
        <p:spPr>
          <a:xfrm>
            <a:off x="3291840" y="1463040"/>
            <a:ext cx="2651760" cy="4023360"/>
          </a:xfrm>
          <a:prstGeom prst="roundRect">
            <a:avLst>
              <a:gd name="adj" fmla="val 4138"/>
            </a:avLst>
          </a:prstGeom>
          <a:solidFill>
            <a:srgbClr val="E8F1F2"/>
          </a:solidFill>
          <a:ln/>
        </p:spPr>
        <p:txBody>
          <a:bodyPr/>
          <a:p/>
        </p:txBody>
      </p:sp>
      <p:sp>
        <p:nvSpPr>
          <p:cNvPr id="11" name="Shape 8"/>
          <p:cNvSpPr/>
          <p:nvPr/>
        </p:nvSpPr>
        <p:spPr>
          <a:xfrm>
            <a:off x="3566160" y="1783080"/>
            <a:ext cx="1051560" cy="1051560"/>
          </a:xfrm>
          <a:prstGeom prst="ellipse">
            <a:avLst/>
          </a:prstGeom>
          <a:solidFill>
            <a:srgbClr val="0B3C49"/>
          </a:solidFill>
          <a:ln/>
        </p:spPr>
        <p:txBody>
          <a:bodyPr/>
          <a:p/>
        </p:txBody>
      </p:sp>
      <p:sp>
        <p:nvSpPr>
          <p:cNvPr id="12" name="Text 9"/>
          <p:cNvSpPr txBox="1"/>
          <p:nvPr/>
        </p:nvSpPr>
        <p:spPr>
          <a:xfrm>
            <a:off x="3566160" y="1783080"/>
            <a:ext cx="1051560" cy="1051560"/>
          </a:xfrm>
          <a:prstGeom prst="rect">
            <a:avLst/>
          </a:prstGeom>
          <a:noFill/>
          <a:ln/>
        </p:spPr>
        <p:txBody>
          <a:bodyPr wrap="square" lIns="0" tIns="0" rIns="0" bIns="0" rtlCol="0" anchor="ctr"/>
          <a:lstStyle/>
          <a:p>
            <a:pPr marL="0" indent="0" algn="ctr">
              <a:buNone/>
            </a:pPr>
            <a:r>
              <a:rPr lang="en-US" sz="3000" b="1" dirty="0">
                <a:solidFill>
                  <a:srgbClr val="FFFFFF"/>
                </a:solidFill>
              </a:rPr>
              <a:t>02</a:t>
            </a:r>
            <a:endParaRPr lang="en-US" sz="3000" dirty="0"/>
          </a:p>
        </p:txBody>
      </p:sp>
      <p:sp>
        <p:nvSpPr>
          <p:cNvPr id="13" name="Text 10"/>
          <p:cNvSpPr txBox="1"/>
          <p:nvPr/>
        </p:nvSpPr>
        <p:spPr>
          <a:xfrm>
            <a:off x="3566160" y="3063240"/>
            <a:ext cx="2194560" cy="914400"/>
          </a:xfrm>
          <a:prstGeom prst="rect">
            <a:avLst/>
          </a:prstGeom>
          <a:noFill/>
          <a:ln/>
        </p:spPr>
        <p:txBody>
          <a:bodyPr wrap="square" lIns="0" tIns="0" rIns="0" bIns="0" rtlCol="0" anchor="t"/>
          <a:lstStyle/>
          <a:p>
            <a:pPr marL="0" indent="0">
              <a:buNone/>
            </a:pPr>
            <a:r>
              <a:rPr lang="en-US" sz="2100" b="1" dirty="0">
                <a:solidFill>
                  <a:srgbClr val="0B3C49"/>
                </a:solidFill>
              </a:rPr>
              <a:t>What we built and proved</a:t>
            </a:r>
            <a:endParaRPr lang="en-US" sz="2100" dirty="0"/>
          </a:p>
        </p:txBody>
      </p:sp>
      <p:sp>
        <p:nvSpPr>
          <p:cNvPr id="14" name="Text 11"/>
          <p:cNvSpPr txBox="1"/>
          <p:nvPr/>
        </p:nvSpPr>
        <p:spPr>
          <a:xfrm>
            <a:off x="3566160" y="4023360"/>
            <a:ext cx="2194560" cy="1280160"/>
          </a:xfrm>
          <a:prstGeom prst="rect">
            <a:avLst/>
          </a:prstGeom>
          <a:noFill/>
          <a:ln/>
        </p:spPr>
        <p:txBody>
          <a:bodyPr wrap="square" lIns="0" tIns="0" rIns="0" bIns="0" rtlCol="0" anchor="t"/>
          <a:lstStyle/>
          <a:p>
            <a:pPr marL="0" indent="0">
              <a:buNone/>
            </a:pPr>
            <a:r>
              <a:rPr lang="en-US" sz="1500" dirty="0">
                <a:solidFill>
                  <a:srgbClr val="1B2A2F"/>
                </a:solidFill>
              </a:rPr>
              <a:t>Repo 2.0, the side-by-side comparison, the red team</a:t>
            </a:r>
            <a:endParaRPr lang="en-US" sz="1500" dirty="0"/>
          </a:p>
        </p:txBody>
      </p:sp>
      <p:sp>
        <p:nvSpPr>
          <p:cNvPr id="15" name="Shape 12"/>
          <p:cNvSpPr/>
          <p:nvPr/>
        </p:nvSpPr>
        <p:spPr>
          <a:xfrm>
            <a:off x="6126480" y="1463040"/>
            <a:ext cx="2651760" cy="4023360"/>
          </a:xfrm>
          <a:prstGeom prst="roundRect">
            <a:avLst>
              <a:gd name="adj" fmla="val 4138"/>
            </a:avLst>
          </a:prstGeom>
          <a:solidFill>
            <a:srgbClr val="FFF4E0"/>
          </a:solidFill>
          <a:ln/>
        </p:spPr>
        <p:txBody>
          <a:bodyPr/>
          <a:p/>
        </p:txBody>
      </p:sp>
      <p:sp>
        <p:nvSpPr>
          <p:cNvPr id="16" name="Shape 13"/>
          <p:cNvSpPr/>
          <p:nvPr/>
        </p:nvSpPr>
        <p:spPr>
          <a:xfrm>
            <a:off x="6400800" y="1783080"/>
            <a:ext cx="1051560" cy="1051560"/>
          </a:xfrm>
          <a:prstGeom prst="ellipse">
            <a:avLst/>
          </a:prstGeom>
          <a:solidFill>
            <a:srgbClr val="F2A541"/>
          </a:solidFill>
          <a:ln/>
        </p:spPr>
        <p:txBody>
          <a:bodyPr/>
          <a:p/>
        </p:txBody>
      </p:sp>
      <p:sp>
        <p:nvSpPr>
          <p:cNvPr id="17" name="Text 14"/>
          <p:cNvSpPr txBox="1"/>
          <p:nvPr/>
        </p:nvSpPr>
        <p:spPr>
          <a:xfrm>
            <a:off x="6400800" y="1783080"/>
            <a:ext cx="1051560" cy="1051560"/>
          </a:xfrm>
          <a:prstGeom prst="rect">
            <a:avLst/>
          </a:prstGeom>
          <a:noFill/>
          <a:ln/>
        </p:spPr>
        <p:txBody>
          <a:bodyPr wrap="square" lIns="0" tIns="0" rIns="0" bIns="0" rtlCol="0" anchor="ctr"/>
          <a:lstStyle/>
          <a:p>
            <a:pPr marL="0" indent="0" algn="ctr">
              <a:buNone/>
            </a:pPr>
            <a:r>
              <a:rPr lang="en-US" sz="3000" b="1" dirty="0">
                <a:solidFill>
                  <a:srgbClr val="0B3C49"/>
                </a:solidFill>
              </a:rPr>
              <a:t>03</a:t>
            </a:r>
            <a:endParaRPr lang="en-US" sz="3000" dirty="0"/>
          </a:p>
        </p:txBody>
      </p:sp>
      <p:sp>
        <p:nvSpPr>
          <p:cNvPr id="18" name="Text 15"/>
          <p:cNvSpPr txBox="1"/>
          <p:nvPr/>
        </p:nvSpPr>
        <p:spPr>
          <a:xfrm>
            <a:off x="6400800" y="3063240"/>
            <a:ext cx="2194560" cy="914400"/>
          </a:xfrm>
          <a:prstGeom prst="rect">
            <a:avLst/>
          </a:prstGeom>
          <a:noFill/>
          <a:ln/>
        </p:spPr>
        <p:txBody>
          <a:bodyPr wrap="square" lIns="0" tIns="0" rIns="0" bIns="0" rtlCol="0" anchor="t"/>
          <a:lstStyle/>
          <a:p>
            <a:pPr marL="0" indent="0">
              <a:buNone/>
            </a:pPr>
            <a:r>
              <a:rPr lang="en-US" sz="2100" b="1" dirty="0">
                <a:solidFill>
                  <a:srgbClr val="0B3C49"/>
                </a:solidFill>
              </a:rPr>
              <a:t>Can the knowledge travel?</a:t>
            </a:r>
            <a:endParaRPr lang="en-US" sz="2100" dirty="0"/>
          </a:p>
        </p:txBody>
      </p:sp>
      <p:sp>
        <p:nvSpPr>
          <p:cNvPr id="19" name="Text 16"/>
          <p:cNvSpPr txBox="1"/>
          <p:nvPr/>
        </p:nvSpPr>
        <p:spPr>
          <a:xfrm>
            <a:off x="6400800" y="4023360"/>
            <a:ext cx="2194560" cy="1280160"/>
          </a:xfrm>
          <a:prstGeom prst="rect">
            <a:avLst/>
          </a:prstGeom>
          <a:noFill/>
          <a:ln/>
        </p:spPr>
        <p:txBody>
          <a:bodyPr wrap="square" lIns="0" tIns="0" rIns="0" bIns="0" rtlCol="0" anchor="t"/>
          <a:lstStyle/>
          <a:p>
            <a:pPr marL="0" indent="0">
              <a:buNone/>
            </a:pPr>
            <a:r>
              <a:rPr lang="en-US" sz="1500" dirty="0">
                <a:solidFill>
                  <a:srgbClr val="1B2A2F"/>
                </a:solidFill>
              </a:rPr>
              <a:t>The semantic layer, and a blind rebuild from it alone</a:t>
            </a:r>
            <a:endParaRPr lang="en-US" sz="1500" dirty="0"/>
          </a:p>
        </p:txBody>
      </p:sp>
      <p:sp>
        <p:nvSpPr>
          <p:cNvPr id="20" name="Shape 17"/>
          <p:cNvSpPr/>
          <p:nvPr/>
        </p:nvSpPr>
        <p:spPr>
          <a:xfrm>
            <a:off x="8961120" y="1463040"/>
            <a:ext cx="2651760" cy="4023360"/>
          </a:xfrm>
          <a:prstGeom prst="roundRect">
            <a:avLst>
              <a:gd name="adj" fmla="val 4138"/>
            </a:avLst>
          </a:prstGeom>
          <a:solidFill>
            <a:srgbClr val="E8F1F2"/>
          </a:solidFill>
          <a:ln/>
        </p:spPr>
        <p:txBody>
          <a:bodyPr/>
          <a:p/>
        </p:txBody>
      </p:sp>
      <p:sp>
        <p:nvSpPr>
          <p:cNvPr id="21" name="Shape 18"/>
          <p:cNvSpPr/>
          <p:nvPr/>
        </p:nvSpPr>
        <p:spPr>
          <a:xfrm>
            <a:off x="9235440" y="1783080"/>
            <a:ext cx="1051560" cy="1051560"/>
          </a:xfrm>
          <a:prstGeom prst="ellipse">
            <a:avLst/>
          </a:prstGeom>
          <a:solidFill>
            <a:srgbClr val="0B3C49"/>
          </a:solidFill>
          <a:ln/>
        </p:spPr>
        <p:txBody>
          <a:bodyPr/>
          <a:p/>
        </p:txBody>
      </p:sp>
      <p:sp>
        <p:nvSpPr>
          <p:cNvPr id="22" name="Text 19"/>
          <p:cNvSpPr txBox="1"/>
          <p:nvPr/>
        </p:nvSpPr>
        <p:spPr>
          <a:xfrm>
            <a:off x="9235440" y="1783080"/>
            <a:ext cx="1051560" cy="1051560"/>
          </a:xfrm>
          <a:prstGeom prst="rect">
            <a:avLst/>
          </a:prstGeom>
          <a:noFill/>
          <a:ln/>
        </p:spPr>
        <p:txBody>
          <a:bodyPr wrap="square" lIns="0" tIns="0" rIns="0" bIns="0" rtlCol="0" anchor="ctr"/>
          <a:lstStyle/>
          <a:p>
            <a:pPr marL="0" indent="0" algn="ctr">
              <a:buNone/>
            </a:pPr>
            <a:r>
              <a:rPr lang="en-US" sz="3000" b="1" dirty="0">
                <a:solidFill>
                  <a:srgbClr val="FFFFFF"/>
                </a:solidFill>
              </a:rPr>
              <a:t>04</a:t>
            </a:r>
            <a:endParaRPr lang="en-US" sz="3000" dirty="0"/>
          </a:p>
        </p:txBody>
      </p:sp>
      <p:sp>
        <p:nvSpPr>
          <p:cNvPr id="23" name="Text 20"/>
          <p:cNvSpPr txBox="1"/>
          <p:nvPr/>
        </p:nvSpPr>
        <p:spPr>
          <a:xfrm>
            <a:off x="9235440" y="3063240"/>
            <a:ext cx="2194560" cy="914400"/>
          </a:xfrm>
          <a:prstGeom prst="rect">
            <a:avLst/>
          </a:prstGeom>
          <a:noFill/>
          <a:ln/>
        </p:spPr>
        <p:txBody>
          <a:bodyPr wrap="square" lIns="0" tIns="0" rIns="0" bIns="0" rtlCol="0" anchor="t"/>
          <a:lstStyle/>
          <a:p>
            <a:pPr marL="0" indent="0">
              <a:buNone/>
            </a:pPr>
            <a:r>
              <a:rPr lang="en-US" sz="2100" b="1" dirty="0">
                <a:solidFill>
                  <a:srgbClr val="0B3C49"/>
                </a:solidFill>
              </a:rPr>
              <a:t>Decision and asks</a:t>
            </a:r>
            <a:endParaRPr lang="en-US" sz="2100" dirty="0"/>
          </a:p>
        </p:txBody>
      </p:sp>
      <p:sp>
        <p:nvSpPr>
          <p:cNvPr id="24" name="Text 21"/>
          <p:cNvSpPr txBox="1"/>
          <p:nvPr/>
        </p:nvSpPr>
        <p:spPr>
          <a:xfrm>
            <a:off x="9235440" y="4023360"/>
            <a:ext cx="2194560" cy="1280160"/>
          </a:xfrm>
          <a:prstGeom prst="rect">
            <a:avLst/>
          </a:prstGeom>
          <a:noFill/>
          <a:ln/>
        </p:spPr>
        <p:txBody>
          <a:bodyPr wrap="square" lIns="0" tIns="0" rIns="0" bIns="0" rtlCol="0" anchor="t"/>
          <a:lstStyle/>
          <a:p>
            <a:pPr marL="0" indent="0">
              <a:buNone/>
            </a:pPr>
            <a:r>
              <a:rPr lang="en-US" sz="1500" dirty="0">
                <a:solidFill>
                  <a:srgbClr val="1B2A2F"/>
                </a:solidFill>
              </a:rPr>
              <a:t>Readiness gates, limits, six asks</a:t>
            </a:r>
            <a:endParaRPr lang="en-US" sz="1500" dirty="0"/>
          </a:p>
        </p:txBody>
      </p:sp>
      <p:sp>
        <p:nvSpPr>
          <p:cNvPr id="25" name="Text 22"/>
          <p:cNvSpPr txBox="1"/>
          <p:nvPr/>
        </p:nvSpPr>
        <p:spPr>
          <a:xfrm>
            <a:off x="457200" y="5760720"/>
            <a:ext cx="11247120" cy="365760"/>
          </a:xfrm>
          <a:prstGeom prst="rect">
            <a:avLst/>
          </a:prstGeom>
          <a:noFill/>
          <a:ln/>
        </p:spPr>
        <p:txBody>
          <a:bodyPr wrap="square" lIns="0" tIns="0" rIns="0" bIns="0" rtlCol="0" anchor="ctr"/>
          <a:lstStyle/>
          <a:p>
            <a:pPr marL="0" indent="0">
              <a:buNone/>
            </a:pPr>
            <a:r>
              <a:rPr lang="en-US" sz="1400" i="1" dirty="0">
                <a:solidFill>
                  <a:srgbClr val="5F6E71"/>
                </a:solidFill>
              </a:rPr>
              <a:t>New in v2.0: part 03, the rebuild from the semantic layer alone. New in v2.1: Repo 3.0 alongside Repo 1.0 and 2.0 on slide 10. New in v2.2: the problem statement (slide 6)</a:t>
            </a:r>
            <a:endParaRPr lang="en-US" sz="14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THE ANSWER</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Controls are proven; value and independence are not yet</a:t>
            </a:r>
            <a:endParaRPr lang="en-US" sz="2800" dirty="0"/>
          </a:p>
        </p:txBody>
      </p:sp>
      <p:sp>
        <p:nvSpPr>
          <p:cNvPr id="5" name="Shape 2"/>
          <p:cNvSpPr/>
          <p:nvPr/>
        </p:nvSpPr>
        <p:spPr>
          <a:xfrm>
            <a:off x="457200" y="1234440"/>
            <a:ext cx="3611880" cy="1874520"/>
          </a:xfrm>
          <a:prstGeom prst="roundRect">
            <a:avLst>
              <a:gd name="adj" fmla="val 4878"/>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6" name="Text 3"/>
          <p:cNvSpPr txBox="1"/>
          <p:nvPr/>
        </p:nvSpPr>
        <p:spPr>
          <a:xfrm>
            <a:off x="685800" y="1417320"/>
            <a:ext cx="3154680" cy="868680"/>
          </a:xfrm>
          <a:prstGeom prst="rect">
            <a:avLst/>
          </a:prstGeom>
          <a:noFill/>
          <a:ln/>
        </p:spPr>
        <p:txBody>
          <a:bodyPr wrap="square" lIns="0" tIns="0" rIns="0" bIns="0" rtlCol="0" anchor="ctr"/>
          <a:lstStyle/>
          <a:p>
            <a:pPr marL="0" indent="0">
              <a:buNone/>
            </a:pPr>
            <a:r>
              <a:rPr lang="en-US" sz="4000" b="1" dirty="0">
                <a:solidFill>
                  <a:srgbClr val="C0392B"/>
                </a:solidFill>
              </a:rPr>
              <a:t>10 → 0</a:t>
            </a:r>
            <a:endParaRPr lang="en-US" sz="4000" dirty="0"/>
          </a:p>
        </p:txBody>
      </p:sp>
      <p:sp>
        <p:nvSpPr>
          <p:cNvPr id="7" name="Text 4"/>
          <p:cNvSpPr txBox="1"/>
          <p:nvPr/>
        </p:nvSpPr>
        <p:spPr>
          <a:xfrm>
            <a:off x="685800" y="2286000"/>
            <a:ext cx="3154680" cy="685800"/>
          </a:xfrm>
          <a:prstGeom prst="rect">
            <a:avLst/>
          </a:prstGeom>
          <a:noFill/>
          <a:ln/>
        </p:spPr>
        <p:txBody>
          <a:bodyPr wrap="square" lIns="0" tIns="0" rIns="0" bIns="0" rtlCol="0" anchor="t"/>
          <a:lstStyle/>
          <a:p>
            <a:pPr marL="0" indent="0">
              <a:buNone/>
            </a:pPr>
            <a:r>
              <a:rPr lang="en-US" sz="1400" dirty="0">
                <a:solidFill>
                  <a:srgbClr val="1B2A2F"/>
                </a:solidFill>
              </a:rPr>
              <a:t>of the same 12 attacks succeed, against Repo 1.0 and then Repo 2.0</a:t>
            </a:r>
            <a:endParaRPr lang="en-US" sz="1400" dirty="0"/>
          </a:p>
        </p:txBody>
      </p:sp>
      <p:sp>
        <p:nvSpPr>
          <p:cNvPr id="8" name="Shape 5"/>
          <p:cNvSpPr/>
          <p:nvPr/>
        </p:nvSpPr>
        <p:spPr>
          <a:xfrm>
            <a:off x="4288536" y="1234440"/>
            <a:ext cx="3611880" cy="1874520"/>
          </a:xfrm>
          <a:prstGeom prst="roundRect">
            <a:avLst>
              <a:gd name="adj" fmla="val 4878"/>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9" name="Text 6"/>
          <p:cNvSpPr txBox="1"/>
          <p:nvPr/>
        </p:nvSpPr>
        <p:spPr>
          <a:xfrm>
            <a:off x="4517136" y="1417320"/>
            <a:ext cx="3154680" cy="868680"/>
          </a:xfrm>
          <a:prstGeom prst="rect">
            <a:avLst/>
          </a:prstGeom>
          <a:noFill/>
          <a:ln/>
        </p:spPr>
        <p:txBody>
          <a:bodyPr wrap="square" lIns="0" tIns="0" rIns="0" bIns="0" rtlCol="0" anchor="ctr"/>
          <a:lstStyle/>
          <a:p>
            <a:pPr marL="0" indent="0">
              <a:buNone/>
            </a:pPr>
            <a:r>
              <a:rPr lang="en-US" sz="4000" b="1" dirty="0">
                <a:solidFill>
                  <a:srgbClr val="1F7A8C"/>
                </a:solidFill>
              </a:rPr>
              <a:t>3 → 181</a:t>
            </a:r>
            <a:endParaRPr lang="en-US" sz="4000" dirty="0"/>
          </a:p>
        </p:txBody>
      </p:sp>
      <p:sp>
        <p:nvSpPr>
          <p:cNvPr id="10" name="Text 7"/>
          <p:cNvSpPr txBox="1"/>
          <p:nvPr/>
        </p:nvSpPr>
        <p:spPr>
          <a:xfrm>
            <a:off x="4517136" y="2286000"/>
            <a:ext cx="3154680" cy="685800"/>
          </a:xfrm>
          <a:prstGeom prst="rect">
            <a:avLst/>
          </a:prstGeom>
          <a:noFill/>
          <a:ln/>
        </p:spPr>
        <p:txBody>
          <a:bodyPr wrap="square" lIns="0" tIns="0" rIns="0" bIns="0" rtlCol="0" anchor="t"/>
          <a:lstStyle/>
          <a:p>
            <a:pPr marL="0" indent="0">
              <a:buNone/>
            </a:pPr>
            <a:r>
              <a:rPr lang="en-US" sz="1400" dirty="0">
                <a:solidFill>
                  <a:srgbClr val="1B2A2F"/>
                </a:solidFill>
              </a:rPr>
              <a:t>tests passing; coverage 45% → 97% on application and ETL code</a:t>
            </a:r>
            <a:endParaRPr lang="en-US" sz="1400" dirty="0"/>
          </a:p>
        </p:txBody>
      </p:sp>
      <p:sp>
        <p:nvSpPr>
          <p:cNvPr id="11" name="Shape 8"/>
          <p:cNvSpPr/>
          <p:nvPr/>
        </p:nvSpPr>
        <p:spPr>
          <a:xfrm>
            <a:off x="8119872" y="1234440"/>
            <a:ext cx="3611880" cy="1874520"/>
          </a:xfrm>
          <a:prstGeom prst="roundRect">
            <a:avLst>
              <a:gd name="adj" fmla="val 4878"/>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12" name="Text 9"/>
          <p:cNvSpPr txBox="1"/>
          <p:nvPr/>
        </p:nvSpPr>
        <p:spPr>
          <a:xfrm>
            <a:off x="8348472" y="1417320"/>
            <a:ext cx="3154680" cy="868680"/>
          </a:xfrm>
          <a:prstGeom prst="rect">
            <a:avLst/>
          </a:prstGeom>
          <a:noFill/>
          <a:ln/>
        </p:spPr>
        <p:txBody>
          <a:bodyPr wrap="square" lIns="0" tIns="0" rIns="0" bIns="0" rtlCol="0" anchor="ctr"/>
          <a:lstStyle/>
          <a:p>
            <a:pPr marL="0" indent="0">
              <a:buNone/>
            </a:pPr>
            <a:r>
              <a:rPr lang="en-US" sz="4000" b="1" dirty="0">
                <a:solidFill>
                  <a:srgbClr val="0B3C49"/>
                </a:solidFill>
              </a:rPr>
              <a:t>146</a:t>
            </a:r>
            <a:endParaRPr lang="en-US" sz="4000" dirty="0"/>
          </a:p>
        </p:txBody>
      </p:sp>
      <p:sp>
        <p:nvSpPr>
          <p:cNvPr id="13" name="Text 10"/>
          <p:cNvSpPr txBox="1"/>
          <p:nvPr/>
        </p:nvSpPr>
        <p:spPr>
          <a:xfrm>
            <a:off x="8348472" y="2286000"/>
            <a:ext cx="3154680" cy="685800"/>
          </a:xfrm>
          <a:prstGeom prst="rect">
            <a:avLst/>
          </a:prstGeom>
          <a:noFill/>
          <a:ln/>
        </p:spPr>
        <p:txBody>
          <a:bodyPr wrap="square" lIns="0" tIns="0" rIns="0" bIns="0" rtlCol="0" anchor="t"/>
          <a:lstStyle/>
          <a:p>
            <a:pPr marL="0" indent="0">
              <a:buNone/>
            </a:pPr>
            <a:r>
              <a:rPr lang="en-US" sz="1400" dirty="0">
                <a:solidFill>
                  <a:srgbClr val="1B2A2F"/>
                </a:solidFill>
              </a:rPr>
              <a:t>evidence files, each SHA-256 hashed; 203 of 203 document citations verified</a:t>
            </a:r>
            <a:endParaRPr lang="en-US" sz="1400" dirty="0"/>
          </a:p>
        </p:txBody>
      </p:sp>
      <p:sp>
        <p:nvSpPr>
          <p:cNvPr id="14" name="Shape 11"/>
          <p:cNvSpPr/>
          <p:nvPr/>
        </p:nvSpPr>
        <p:spPr>
          <a:xfrm>
            <a:off x="457200" y="3383280"/>
            <a:ext cx="5532120" cy="1417320"/>
          </a:xfrm>
          <a:prstGeom prst="roundRect">
            <a:avLst>
              <a:gd name="adj" fmla="val 5161"/>
            </a:avLst>
          </a:prstGeom>
          <a:solidFill>
            <a:srgbClr val="FCEBEA"/>
          </a:solidFill>
          <a:ln/>
        </p:spPr>
        <p:txBody>
          <a:bodyPr/>
          <a:p/>
        </p:txBody>
      </p:sp>
      <p:sp>
        <p:nvSpPr>
          <p:cNvPr id="15" name="Text 12"/>
          <p:cNvSpPr txBox="1"/>
          <p:nvPr/>
        </p:nvSpPr>
        <p:spPr>
          <a:xfrm>
            <a:off x="685800" y="3474720"/>
            <a:ext cx="5120640" cy="1234440"/>
          </a:xfrm>
          <a:prstGeom prst="rect">
            <a:avLst/>
          </a:prstGeom>
          <a:noFill/>
          <a:ln/>
        </p:spPr>
        <p:txBody>
          <a:bodyPr wrap="square" lIns="0" tIns="0" rIns="0" bIns="0" rtlCol="0" anchor="t"/>
          <a:lstStyle/>
          <a:p>
            <a:pPr marL="0" indent="0">
              <a:buNone/>
            </a:pPr>
            <a:r>
              <a:rPr lang="en-US" sz="2600" b="1" dirty="0">
                <a:solidFill>
                  <a:srgbClr val="C0392B"/>
                </a:solidFill>
              </a:rPr>
              <a:t>NO-GO</a:t>
            </a:r>
            <a:endParaRPr lang="en-US" sz="2600" dirty="0"/>
          </a:p>
          <a:p>
            <a:pPr marL="0" indent="0">
              <a:buNone/>
            </a:pPr>
            <a:r>
              <a:rPr lang="en-US" sz="1400" dirty="0">
                <a:solidFill>
                  <a:srgbClr val="1B2A2F"/>
                </a:solidFill>
              </a:rPr>
              <a:t>Production on real data: 5 of 12 readiness gates fail, and they need people and a platform, not more code</a:t>
            </a:r>
            <a:endParaRPr lang="en-US" sz="2600" dirty="0"/>
          </a:p>
        </p:txBody>
      </p:sp>
      <p:sp>
        <p:nvSpPr>
          <p:cNvPr id="16" name="Shape 13"/>
          <p:cNvSpPr/>
          <p:nvPr/>
        </p:nvSpPr>
        <p:spPr>
          <a:xfrm>
            <a:off x="6199632" y="3383280"/>
            <a:ext cx="5532120" cy="1417320"/>
          </a:xfrm>
          <a:prstGeom prst="roundRect">
            <a:avLst>
              <a:gd name="adj" fmla="val 5161"/>
            </a:avLst>
          </a:prstGeom>
          <a:solidFill>
            <a:srgbClr val="E5F3EB"/>
          </a:solidFill>
          <a:ln/>
        </p:spPr>
        <p:txBody>
          <a:bodyPr/>
          <a:p/>
        </p:txBody>
      </p:sp>
      <p:sp>
        <p:nvSpPr>
          <p:cNvPr id="17" name="Text 14"/>
          <p:cNvSpPr txBox="1"/>
          <p:nvPr/>
        </p:nvSpPr>
        <p:spPr>
          <a:xfrm>
            <a:off x="6428232" y="3474720"/>
            <a:ext cx="5120640" cy="1234440"/>
          </a:xfrm>
          <a:prstGeom prst="rect">
            <a:avLst/>
          </a:prstGeom>
          <a:noFill/>
          <a:ln/>
        </p:spPr>
        <p:txBody>
          <a:bodyPr wrap="square" lIns="0" tIns="0" rIns="0" bIns="0" rtlCol="0" anchor="t"/>
          <a:lstStyle/>
          <a:p>
            <a:pPr marL="0" indent="0">
              <a:buNone/>
            </a:pPr>
            <a:r>
              <a:rPr lang="en-US" sz="2600" b="1" dirty="0">
                <a:solidFill>
                  <a:srgbClr val="2E8B57"/>
                </a:solidFill>
              </a:rPr>
              <a:t>CONDITIONAL GO</a:t>
            </a:r>
            <a:endParaRPr lang="en-US" sz="2600" dirty="0"/>
          </a:p>
          <a:p>
            <a:pPr marL="0" indent="0">
              <a:buNone/>
            </a:pPr>
            <a:r>
              <a:rPr lang="en-US" sz="1400" dirty="0">
                <a:solidFill>
                  <a:srgbClr val="1B2A2F"/>
                </a:solidFill>
              </a:rPr>
              <a:t>Controlled pilot on synthetic data, local or test environment: G1 to G6 pass, G7 partial, five conditions apply</a:t>
            </a:r>
            <a:endParaRPr lang="en-US" sz="2600" dirty="0"/>
          </a:p>
        </p:txBody>
      </p:sp>
      <p:sp>
        <p:nvSpPr>
          <p:cNvPr id="18" name="Text 15"/>
          <p:cNvSpPr txBox="1"/>
          <p:nvPr/>
        </p:nvSpPr>
        <p:spPr>
          <a:xfrm>
            <a:off x="457200" y="5074920"/>
            <a:ext cx="11247120" cy="457200"/>
          </a:xfrm>
          <a:prstGeom prst="rect">
            <a:avLst/>
          </a:prstGeom>
          <a:noFill/>
          <a:ln/>
        </p:spPr>
        <p:txBody>
          <a:bodyPr wrap="square" lIns="0" tIns="0" rIns="0" bIns="0" rtlCol="0" anchor="t"/>
          <a:lstStyle/>
          <a:p>
            <a:pPr marL="0" indent="0">
              <a:buNone/>
            </a:pPr>
            <a:r>
              <a:rPr lang="en-US" sz="1500" b="1" dirty="0">
                <a:solidFill>
                  <a:srgbClr val="C0392B"/>
                </a:solidFill>
              </a:rPr>
              <a:t>Not proven: </a:t>
            </a:r>
            <a:r>
              <a:rPr lang="en-US" sz="1500" dirty="0">
                <a:solidFill>
                  <a:srgbClr val="1B2A2F"/>
                </a:solidFill>
              </a:rPr>
              <a:t>no real AI model was ever called; nothing is deployed; no business KPI moved; one operator and one agent built, tested and graded the work.</a:t>
            </a:r>
            <a:endParaRPr lang="en-US" sz="1500" dirty="0"/>
          </a:p>
        </p:txBody>
      </p:sp>
      <p:sp>
        <p:nvSpPr>
          <p:cNvPr id="19" name="Text 16"/>
          <p:cNvSpPr txBox="1"/>
          <p:nvPr/>
        </p:nvSpPr>
        <p:spPr>
          <a:xfrm>
            <a:off x="457200" y="5577840"/>
            <a:ext cx="11247120" cy="457200"/>
          </a:xfrm>
          <a:prstGeom prst="rect">
            <a:avLst/>
          </a:prstGeom>
          <a:noFill/>
          <a:ln/>
        </p:spPr>
        <p:txBody>
          <a:bodyPr wrap="square" lIns="0" tIns="0" rIns="0" bIns="0" rtlCol="0" anchor="t"/>
          <a:lstStyle/>
          <a:p>
            <a:pPr marL="0" indent="0">
              <a:buNone/>
            </a:pPr>
            <a:r>
              <a:rPr lang="en-US" sz="1500" b="1" dirty="0">
                <a:solidFill>
                  <a:srgbClr val="1F7A8C"/>
                </a:solidFill>
              </a:rPr>
              <a:t>New: </a:t>
            </a:r>
            <a:r>
              <a:rPr lang="en-US" sz="1500" dirty="0">
                <a:solidFill>
                  <a:srgbClr val="1B2A2F"/>
                </a:solidFill>
              </a:rPr>
              <a:t>a blind rebuild from the semantic layer alone behaved the same on 29 of 30 checks, but could not ingest the original data (part 03).</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THE JOURNEY</a:t>
            </a:r>
            <a:endParaRPr lang="en-US" sz="1100" dirty="0"/>
          </a:p>
        </p:txBody>
      </p:sp>
      <p:sp>
        <p:nvSpPr>
          <p:cNvPr id="3" name="Text 0"/>
          <p:cNvSpPr>
            <a:spLocks noGrp="1"/>
          </p:cNvSpPr>
          <p:nvPr>
            <p:ph type="title" idx="100" hasCustomPrompt="1"/>
          </p:nvPr>
        </p:nvSpPr>
        <p:spPr>
          <a:xfrm>
            <a:off x="457200" y="329184"/>
            <a:ext cx="10607040" cy="548640"/>
          </a:xfrm>
          <a:prstGeom prst="rect">
            <a:avLst/>
          </a:prstGeom>
          <a:noFill/>
          <a:ln/>
        </p:spPr>
        <p:txBody>
          <a:bodyPr wrap="square" lIns="0" tIns="0" rIns="0" bIns="0" rtlCol="0" anchor="ctr"/>
          <a:lstStyle/>
          <a:p>
            <a:pPr marL="0" indent="0" algn="l">
              <a:buNone/>
            </a:pPr>
            <a:r>
              <a:rPr lang="en-US" sz="2500" b="1" dirty="0">
                <a:solidFill>
                  <a:schemeClr val="tx2"/>
                </a:solidFill>
              </a:rPr>
              <a:t>20 stages, six phases, one evidence discipline</a:t>
            </a:r>
            <a:endParaRPr lang="en-US" sz="2500" dirty="0"/>
          </a:p>
        </p:txBody>
      </p:sp>
      <p:sp>
        <p:nvSpPr>
          <p:cNvPr id="5" name="01-journey-start-to-goal:start"/>
          <p:cNvSpPr txBox="1"/>
          <p:nvPr/>
        </p:nvSpPr>
        <p:spPr>
          <a:xfrm>
            <a:off x="320254" y="1280160"/>
            <a:ext cx="1374815" cy="2640330"/>
          </a:xfrm>
          <a:prstGeom prst="roundRect">
            <a:avLst>
              <a:gd name="adj" fmla="val 3991"/>
            </a:avLst>
          </a:prstGeom>
          <a:solidFill>
            <a:srgbClr val="C0392B"/>
          </a:solidFill>
          <a:ln w="15875">
            <a:solidFill>
              <a:srgbClr val="C0392B"/>
            </a:solidFill>
            <a:prstDash val="solid"/>
          </a:ln>
        </p:spPr>
        <p:txBody>
          <a:bodyPr wrap="square" lIns="25400" tIns="50800" rIns="50800" bIns="25400" rtlCol="0" anchor="ctr"/>
          <a:lstStyle/>
          <a:p>
            <a:pPr marL="0" indent="0" algn="l">
              <a:buNone/>
            </a:pPr>
            <a:r>
              <a:rPr lang="en-US" sz="1090" b="1" dirty="0">
                <a:solidFill>
                  <a:srgbClr val="FFFFFF"/>
                </a:solidFill>
                <a:latin typeface="Calibri" pitchFamily="34" charset="0"/>
                <a:ea typeface="Calibri" pitchFamily="34" charset="-122"/>
                <a:cs typeface="Calibri" pitchFamily="34" charset="-120"/>
              </a:rPr>
              <a:t>START</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Repo 1.0 as</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delivered</a:t>
            </a:r>
            <a:endParaRPr lang="en-US" sz="1090" dirty="0"/>
          </a:p>
          <a:p>
            <a:pPr marL="0" indent="0" algn="l">
              <a:buNone/>
            </a:pP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Quick-start</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fails</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Any caller</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claims any</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role</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AI answers</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unchecked</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Wrong record</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on a miss</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No usable</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audit</a:t>
            </a:r>
            <a:endParaRPr lang="en-US" sz="1090" dirty="0"/>
          </a:p>
        </p:txBody>
      </p:sp>
      <p:sp>
        <p:nvSpPr>
          <p:cNvPr id="6" name="01-journey-start-to-goal:goal"/>
          <p:cNvSpPr txBox="1"/>
          <p:nvPr/>
        </p:nvSpPr>
        <p:spPr>
          <a:xfrm>
            <a:off x="10493883" y="1280160"/>
            <a:ext cx="1374815" cy="2640330"/>
          </a:xfrm>
          <a:prstGeom prst="roundRect">
            <a:avLst>
              <a:gd name="adj" fmla="val 3991"/>
            </a:avLst>
          </a:prstGeom>
          <a:solidFill>
            <a:srgbClr val="2E8B57"/>
          </a:solidFill>
          <a:ln w="15875">
            <a:solidFill>
              <a:srgbClr val="2E8B57"/>
            </a:solidFill>
            <a:prstDash val="solid"/>
          </a:ln>
        </p:spPr>
        <p:txBody>
          <a:bodyPr wrap="square" lIns="25400" tIns="50800" rIns="50800" bIns="25400" rtlCol="0" anchor="ctr"/>
          <a:lstStyle/>
          <a:p>
            <a:pPr marL="0" indent="0" algn="l">
              <a:buNone/>
            </a:pPr>
            <a:r>
              <a:rPr lang="en-US" sz="1090" b="1" dirty="0">
                <a:solidFill>
                  <a:srgbClr val="FFFFFF"/>
                </a:solidFill>
                <a:latin typeface="Calibri" pitchFamily="34" charset="0"/>
                <a:ea typeface="Calibri" pitchFamily="34" charset="-122"/>
                <a:cs typeface="Calibri" pitchFamily="34" charset="-120"/>
              </a:rPr>
              <a:t>GOAL</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A defended</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decision</a:t>
            </a:r>
            <a:endParaRPr lang="en-US" sz="1090" dirty="0"/>
          </a:p>
          <a:p>
            <a:pPr marL="0" indent="0" algn="l">
              <a:buNone/>
            </a:pP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Production on</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real data:</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NO-GO</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Pilot on</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synthetic</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data:</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CONDITIONAL GO</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Six asks of</a:t>
            </a:r>
            <a:endParaRPr lang="en-US" sz="1090" dirty="0"/>
          </a:p>
          <a:p>
            <a:pPr marL="0" indent="0" algn="l">
              <a:buNone/>
            </a:pPr>
            <a:r>
              <a:rPr lang="en-US" sz="1090" dirty="0">
                <a:solidFill>
                  <a:srgbClr val="FFFFFF"/>
                </a:solidFill>
                <a:latin typeface="Calibri" pitchFamily="34" charset="0"/>
                <a:ea typeface="Calibri" pitchFamily="34" charset="-122"/>
                <a:cs typeface="Calibri" pitchFamily="34" charset="-120"/>
              </a:rPr>
              <a:t>  the CTO</a:t>
            </a:r>
            <a:endParaRPr lang="en-US" sz="1090" dirty="0"/>
          </a:p>
        </p:txBody>
      </p:sp>
      <p:sp>
        <p:nvSpPr>
          <p:cNvPr id="7" name="01-journey-start-to-goal:h0"/>
          <p:cNvSpPr txBox="1"/>
          <p:nvPr/>
        </p:nvSpPr>
        <p:spPr>
          <a:xfrm>
            <a:off x="1832550"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090" b="1" dirty="0">
                <a:solidFill>
                  <a:srgbClr val="FFFFFF"/>
                </a:solidFill>
                <a:latin typeface="Calibri" pitchFamily="34" charset="0"/>
                <a:ea typeface="Calibri" pitchFamily="34" charset="-122"/>
                <a:cs typeface="Calibri" pitchFamily="34" charset="-120"/>
              </a:rPr>
              <a:t>1 Understand</a:t>
            </a:r>
            <a:endParaRPr lang="en-US" sz="1090" dirty="0"/>
          </a:p>
          <a:p>
            <a:pPr marL="0" indent="0" algn="ctr">
              <a:buNone/>
            </a:pPr>
            <a:r>
              <a:rPr lang="en-US" sz="1090" dirty="0">
                <a:solidFill>
                  <a:srgbClr val="FFFFFF"/>
                </a:solidFill>
                <a:latin typeface="Calibri" pitchFamily="34" charset="0"/>
                <a:ea typeface="Calibri" pitchFamily="34" charset="-122"/>
                <a:cs typeface="Calibri" pitchFamily="34" charset="-120"/>
              </a:rPr>
              <a:t>Stages A–C</a:t>
            </a:r>
            <a:endParaRPr lang="en-US" sz="1090" dirty="0"/>
          </a:p>
        </p:txBody>
      </p:sp>
      <p:sp>
        <p:nvSpPr>
          <p:cNvPr id="8" name="01-journey-start-to-goal:c0"/>
          <p:cNvSpPr txBox="1"/>
          <p:nvPr/>
        </p:nvSpPr>
        <p:spPr>
          <a:xfrm>
            <a:off x="1832550"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marL="0" indent="0" algn="l">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A Mobilise</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B Problem, value</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C Baseline, root</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cause</a:t>
            </a:r>
            <a:endParaRPr lang="en-US" sz="1010" dirty="0"/>
          </a:p>
        </p:txBody>
      </p:sp>
      <p:sp>
        <p:nvSpPr>
          <p:cNvPr id="9" name="01-journey-start-to-goal:o0"/>
          <p:cNvSpPr txBox="1"/>
          <p:nvPr/>
        </p:nvSpPr>
        <p:spPr>
          <a:xfrm>
            <a:off x="1832550"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marL="0" indent="0" algn="l">
              <a:buNone/>
            </a:pPr>
            <a:r>
              <a:rPr lang="en-US" sz="940" b="1" dirty="0">
                <a:solidFill>
                  <a:srgbClr val="1E5631"/>
                </a:solidFill>
                <a:latin typeface="Calibri" pitchFamily="34" charset="0"/>
                <a:ea typeface="Calibri" pitchFamily="34" charset="-122"/>
                <a:cs typeface="Calibri" pitchFamily="34" charset="-120"/>
              </a:rPr>
              <a:t>62 findings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5 root causes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Behaviour frozen</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in tests</a:t>
            </a:r>
            <a:endParaRPr lang="en-US" sz="940" dirty="0"/>
          </a:p>
        </p:txBody>
      </p:sp>
      <p:sp>
        <p:nvSpPr>
          <p:cNvPr id="10" name="01-journey-start-to-goal:h1"/>
          <p:cNvSpPr txBox="1"/>
          <p:nvPr/>
        </p:nvSpPr>
        <p:spPr>
          <a:xfrm>
            <a:off x="3271523"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090" b="1" dirty="0">
                <a:solidFill>
                  <a:srgbClr val="FFFFFF"/>
                </a:solidFill>
                <a:latin typeface="Calibri" pitchFamily="34" charset="0"/>
                <a:ea typeface="Calibri" pitchFamily="34" charset="-122"/>
                <a:cs typeface="Calibri" pitchFamily="34" charset="-120"/>
              </a:rPr>
              <a:t>2 Define</a:t>
            </a:r>
            <a:endParaRPr lang="en-US" sz="1090" dirty="0"/>
          </a:p>
          <a:p>
            <a:pPr marL="0" indent="0" algn="ctr">
              <a:buNone/>
            </a:pPr>
            <a:r>
              <a:rPr lang="en-US" sz="1090" dirty="0">
                <a:solidFill>
                  <a:srgbClr val="FFFFFF"/>
                </a:solidFill>
                <a:latin typeface="Calibri" pitchFamily="34" charset="0"/>
                <a:ea typeface="Calibri" pitchFamily="34" charset="-122"/>
                <a:cs typeface="Calibri" pitchFamily="34" charset="-120"/>
              </a:rPr>
              <a:t>Stages D–G</a:t>
            </a:r>
            <a:endParaRPr lang="en-US" sz="1090" dirty="0"/>
          </a:p>
        </p:txBody>
      </p:sp>
      <p:sp>
        <p:nvSpPr>
          <p:cNvPr id="11" name="01-journey-start-to-goal:c1"/>
          <p:cNvSpPr txBox="1"/>
          <p:nvPr/>
        </p:nvSpPr>
        <p:spPr>
          <a:xfrm>
            <a:off x="3271523"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marL="0" indent="0" algn="l">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D Semantic layer</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E AI choice, PRD</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F Architecture,</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specs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G Migration plan</a:t>
            </a:r>
            <a:endParaRPr lang="en-US" sz="1010" dirty="0"/>
          </a:p>
        </p:txBody>
      </p:sp>
      <p:sp>
        <p:nvSpPr>
          <p:cNvPr id="12" name="01-journey-start-to-goal:o1"/>
          <p:cNvSpPr txBox="1"/>
          <p:nvPr/>
        </p:nvSpPr>
        <p:spPr>
          <a:xfrm>
            <a:off x="3271523"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marL="0" indent="0" algn="l">
              <a:buNone/>
            </a:pPr>
            <a:r>
              <a:rPr lang="en-US" sz="940" b="1" dirty="0">
                <a:solidFill>
                  <a:srgbClr val="1E5631"/>
                </a:solidFill>
                <a:latin typeface="Calibri" pitchFamily="34" charset="0"/>
                <a:ea typeface="Calibri" pitchFamily="34" charset="-122"/>
                <a:cs typeface="Calibri" pitchFamily="34" charset="-120"/>
              </a:rPr>
              <a:t>Layer v1 with</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tests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ADR-0002 to 0010</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48 requirements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traced</a:t>
            </a:r>
            <a:endParaRPr lang="en-US" sz="940" dirty="0"/>
          </a:p>
        </p:txBody>
      </p:sp>
      <p:sp>
        <p:nvSpPr>
          <p:cNvPr id="13" name="01-journey-start-to-goal:h2"/>
          <p:cNvSpPr txBox="1"/>
          <p:nvPr/>
        </p:nvSpPr>
        <p:spPr>
          <a:xfrm>
            <a:off x="4710496"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090" b="1" dirty="0">
                <a:solidFill>
                  <a:srgbClr val="FFFFFF"/>
                </a:solidFill>
                <a:latin typeface="Calibri" pitchFamily="34" charset="0"/>
                <a:ea typeface="Calibri" pitchFamily="34" charset="-122"/>
                <a:cs typeface="Calibri" pitchFamily="34" charset="-120"/>
              </a:rPr>
              <a:t>3 Build</a:t>
            </a:r>
            <a:endParaRPr lang="en-US" sz="1090" dirty="0"/>
          </a:p>
          <a:p>
            <a:pPr marL="0" indent="0" algn="ctr">
              <a:buNone/>
            </a:pPr>
            <a:r>
              <a:rPr lang="en-US" sz="1090" dirty="0">
                <a:solidFill>
                  <a:srgbClr val="FFFFFF"/>
                </a:solidFill>
                <a:latin typeface="Calibri" pitchFamily="34" charset="0"/>
                <a:ea typeface="Calibri" pitchFamily="34" charset="-122"/>
                <a:cs typeface="Calibri" pitchFamily="34" charset="-120"/>
              </a:rPr>
              <a:t>Stages H–J</a:t>
            </a:r>
            <a:endParaRPr lang="en-US" sz="1090" dirty="0"/>
          </a:p>
        </p:txBody>
      </p:sp>
      <p:sp>
        <p:nvSpPr>
          <p:cNvPr id="14" name="01-journey-start-to-goal:c2"/>
          <p:cNvSpPr txBox="1"/>
          <p:nvPr/>
        </p:nvSpPr>
        <p:spPr>
          <a:xfrm>
            <a:off x="4710496"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marL="0" indent="0" algn="l">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H Repo 2.0</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I Delivery PRD</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J AI core, app,</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integration</a:t>
            </a:r>
            <a:endParaRPr lang="en-US" sz="1010" dirty="0"/>
          </a:p>
        </p:txBody>
      </p:sp>
      <p:sp>
        <p:nvSpPr>
          <p:cNvPr id="15" name="01-journey-start-to-goal:o2"/>
          <p:cNvSpPr txBox="1"/>
          <p:nvPr/>
        </p:nvSpPr>
        <p:spPr>
          <a:xfrm>
            <a:off x="4710496"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marL="0" indent="0" algn="l">
              <a:buNone/>
            </a:pPr>
            <a:r>
              <a:rPr lang="en-US" sz="940" b="1" dirty="0">
                <a:solidFill>
                  <a:srgbClr val="1E5631"/>
                </a:solidFill>
                <a:latin typeface="Calibri" pitchFamily="34" charset="0"/>
                <a:ea typeface="Calibri" pitchFamily="34" charset="-122"/>
                <a:cs typeface="Calibri" pitchFamily="34" charset="-120"/>
              </a:rPr>
              <a:t>181 tests pass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97% coverage</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CI green</a:t>
            </a:r>
            <a:endParaRPr lang="en-US" sz="940" dirty="0"/>
          </a:p>
        </p:txBody>
      </p:sp>
      <p:sp>
        <p:nvSpPr>
          <p:cNvPr id="16" name="01-journey-start-to-goal:h3"/>
          <p:cNvSpPr txBox="1"/>
          <p:nvPr/>
        </p:nvSpPr>
        <p:spPr>
          <a:xfrm>
            <a:off x="6140303"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090" b="1" dirty="0">
                <a:solidFill>
                  <a:srgbClr val="FFFFFF"/>
                </a:solidFill>
                <a:latin typeface="Calibri" pitchFamily="34" charset="0"/>
                <a:ea typeface="Calibri" pitchFamily="34" charset="-122"/>
                <a:cs typeface="Calibri" pitchFamily="34" charset="-120"/>
              </a:rPr>
              <a:t>4 Prove</a:t>
            </a:r>
            <a:endParaRPr lang="en-US" sz="1090" dirty="0"/>
          </a:p>
          <a:p>
            <a:pPr marL="0" indent="0" algn="ctr">
              <a:buNone/>
            </a:pPr>
            <a:r>
              <a:rPr lang="en-US" sz="1090" dirty="0">
                <a:solidFill>
                  <a:srgbClr val="FFFFFF"/>
                </a:solidFill>
                <a:latin typeface="Calibri" pitchFamily="34" charset="0"/>
                <a:ea typeface="Calibri" pitchFamily="34" charset="-122"/>
                <a:cs typeface="Calibri" pitchFamily="34" charset="-120"/>
              </a:rPr>
              <a:t>Stages K–N</a:t>
            </a:r>
            <a:endParaRPr lang="en-US" sz="1090" dirty="0"/>
          </a:p>
        </p:txBody>
      </p:sp>
      <p:sp>
        <p:nvSpPr>
          <p:cNvPr id="17" name="01-journey-start-to-goal:c3"/>
          <p:cNvSpPr txBox="1"/>
          <p:nvPr/>
        </p:nvSpPr>
        <p:spPr>
          <a:xfrm>
            <a:off x="6140303"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marL="0" indent="0" algn="l">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K Controls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L Tests, red</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team</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M Resilience</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N Release,</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operations</a:t>
            </a:r>
            <a:endParaRPr lang="en-US" sz="1010" dirty="0"/>
          </a:p>
        </p:txBody>
      </p:sp>
      <p:sp>
        <p:nvSpPr>
          <p:cNvPr id="18" name="01-journey-start-to-goal:o3"/>
          <p:cNvSpPr txBox="1"/>
          <p:nvPr/>
        </p:nvSpPr>
        <p:spPr>
          <a:xfrm>
            <a:off x="6140303"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marL="0" indent="0" algn="l">
              <a:buNone/>
            </a:pPr>
            <a:r>
              <a:rPr lang="en-US" sz="940" b="1" dirty="0">
                <a:solidFill>
                  <a:srgbClr val="1E5631"/>
                </a:solidFill>
                <a:latin typeface="Calibri" pitchFamily="34" charset="0"/>
                <a:ea typeface="Calibri" pitchFamily="34" charset="-122"/>
                <a:cs typeface="Calibri" pitchFamily="34" charset="-120"/>
              </a:rPr>
              <a:t>Red team 10/12 →</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0/12</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5 drills pass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Hash-chained audit</a:t>
            </a:r>
            <a:endParaRPr lang="en-US" sz="940" dirty="0"/>
          </a:p>
        </p:txBody>
      </p:sp>
      <p:sp>
        <p:nvSpPr>
          <p:cNvPr id="19" name="01-journey-start-to-goal:h4"/>
          <p:cNvSpPr txBox="1"/>
          <p:nvPr/>
        </p:nvSpPr>
        <p:spPr>
          <a:xfrm>
            <a:off x="7579276"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090" b="1" dirty="0">
                <a:solidFill>
                  <a:srgbClr val="FFFFFF"/>
                </a:solidFill>
                <a:latin typeface="Calibri" pitchFamily="34" charset="0"/>
                <a:ea typeface="Calibri" pitchFamily="34" charset="-122"/>
                <a:cs typeface="Calibri" pitchFamily="34" charset="-120"/>
              </a:rPr>
              <a:t>5 Defend</a:t>
            </a:r>
            <a:endParaRPr lang="en-US" sz="1090" dirty="0"/>
          </a:p>
          <a:p>
            <a:pPr marL="0" indent="0" algn="ctr">
              <a:buNone/>
            </a:pPr>
            <a:r>
              <a:rPr lang="en-US" sz="1090" dirty="0">
                <a:solidFill>
                  <a:srgbClr val="FFFFFF"/>
                </a:solidFill>
                <a:latin typeface="Calibri" pitchFamily="34" charset="0"/>
                <a:ea typeface="Calibri" pitchFamily="34" charset="-122"/>
                <a:cs typeface="Calibri" pitchFamily="34" charset="-120"/>
              </a:rPr>
              <a:t>Stages O–R</a:t>
            </a:r>
            <a:endParaRPr lang="en-US" sz="1090" dirty="0"/>
          </a:p>
        </p:txBody>
      </p:sp>
      <p:sp>
        <p:nvSpPr>
          <p:cNvPr id="20" name="01-journey-start-to-goal:c4"/>
          <p:cNvSpPr txBox="1"/>
          <p:nvPr/>
        </p:nvSpPr>
        <p:spPr>
          <a:xfrm>
            <a:off x="7579276"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marL="0" indent="0" algn="l">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O Outcomes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P Handover</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Q Second-model</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test</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R Executive</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defence</a:t>
            </a:r>
            <a:endParaRPr lang="en-US" sz="1010" dirty="0"/>
          </a:p>
        </p:txBody>
      </p:sp>
      <p:sp>
        <p:nvSpPr>
          <p:cNvPr id="21" name="01-journey-start-to-goal:o4"/>
          <p:cNvSpPr txBox="1"/>
          <p:nvPr/>
        </p:nvSpPr>
        <p:spPr>
          <a:xfrm>
            <a:off x="7579276"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marL="0" indent="0" algn="l">
              <a:buNone/>
            </a:pPr>
            <a:r>
              <a:rPr lang="en-US" sz="940" b="1" dirty="0">
                <a:solidFill>
                  <a:srgbClr val="1E5631"/>
                </a:solidFill>
                <a:latin typeface="Calibri" pitchFamily="34" charset="0"/>
                <a:ea typeface="Calibri" pitchFamily="34" charset="-122"/>
                <a:cs typeface="Calibri" pitchFamily="34" charset="-120"/>
              </a:rPr>
              <a:t>Proxy KPIs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unchanged</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Model B safety 5/5</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NO-GO prod, GO</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pilot</a:t>
            </a:r>
            <a:endParaRPr lang="en-US" sz="940" dirty="0"/>
          </a:p>
        </p:txBody>
      </p:sp>
      <p:sp>
        <p:nvSpPr>
          <p:cNvPr id="22" name="01-journey-start-to-goal:h5"/>
          <p:cNvSpPr txBox="1"/>
          <p:nvPr/>
        </p:nvSpPr>
        <p:spPr>
          <a:xfrm>
            <a:off x="9018249"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090" b="1" dirty="0">
                <a:solidFill>
                  <a:srgbClr val="FFFFFF"/>
                </a:solidFill>
                <a:latin typeface="Calibri" pitchFamily="34" charset="0"/>
                <a:ea typeface="Calibri" pitchFamily="34" charset="-122"/>
                <a:cs typeface="Calibri" pitchFamily="34" charset="-120"/>
              </a:rPr>
              <a:t>6 Close-out</a:t>
            </a:r>
            <a:endParaRPr lang="en-US" sz="1090" dirty="0"/>
          </a:p>
          <a:p>
            <a:pPr marL="0" indent="0" algn="ctr">
              <a:buNone/>
            </a:pPr>
            <a:r>
              <a:rPr lang="en-US" sz="1090" dirty="0">
                <a:solidFill>
                  <a:srgbClr val="FFFFFF"/>
                </a:solidFill>
                <a:latin typeface="Calibri" pitchFamily="34" charset="0"/>
                <a:ea typeface="Calibri" pitchFamily="34" charset="-122"/>
                <a:cs typeface="Calibri" pitchFamily="34" charset="-120"/>
              </a:rPr>
              <a:t>Runbooks 03–04</a:t>
            </a:r>
            <a:endParaRPr lang="en-US" sz="1090" dirty="0"/>
          </a:p>
        </p:txBody>
      </p:sp>
      <p:sp>
        <p:nvSpPr>
          <p:cNvPr id="23" name="01-journey-start-to-goal:c5"/>
          <p:cNvSpPr txBox="1"/>
          <p:nvPr/>
        </p:nvSpPr>
        <p:spPr>
          <a:xfrm>
            <a:off x="9018249"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marL="0" indent="0" algn="l">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S Rubric</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traceability</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T 23 decisions</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Semantic layer</a:t>
            </a:r>
            <a:endParaRPr lang="en-US" sz="1010" dirty="0"/>
          </a:p>
          <a:p>
            <a:pPr marL="0" indent="0" algn="l">
              <a:buNone/>
            </a:pPr>
            <a:r>
              <a:rPr lang="en-US" sz="1010" dirty="0">
                <a:solidFill>
                  <a:srgbClr val="0B3C49"/>
                </a:solidFill>
                <a:latin typeface="Calibri" pitchFamily="34" charset="0"/>
                <a:ea typeface="Calibri" pitchFamily="34" charset="-122"/>
                <a:cs typeface="Calibri" pitchFamily="34" charset="-120"/>
              </a:rPr>
              <a:t>v2.0</a:t>
            </a:r>
            <a:endParaRPr lang="en-US" sz="1010" dirty="0"/>
          </a:p>
        </p:txBody>
      </p:sp>
      <p:sp>
        <p:nvSpPr>
          <p:cNvPr id="24" name="01-journey-start-to-goal:o5"/>
          <p:cNvSpPr txBox="1"/>
          <p:nvPr/>
        </p:nvSpPr>
        <p:spPr>
          <a:xfrm>
            <a:off x="9018249"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marL="0" indent="0" algn="l">
              <a:buNone/>
            </a:pPr>
            <a:r>
              <a:rPr lang="en-US" sz="940" b="1" dirty="0">
                <a:solidFill>
                  <a:srgbClr val="1E5631"/>
                </a:solidFill>
                <a:latin typeface="Calibri" pitchFamily="34" charset="0"/>
                <a:ea typeface="Calibri" pitchFamily="34" charset="-122"/>
                <a:cs typeface="Calibri" pitchFamily="34" charset="-120"/>
              </a:rPr>
              <a:t>36 sub-dimensions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146 evidence files</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22 decided, 1</a:t>
            </a:r>
            <a:endParaRPr lang="en-US" sz="940" dirty="0"/>
          </a:p>
          <a:p>
            <a:pPr marL="0" indent="0" algn="l">
              <a:buNone/>
            </a:pPr>
            <a:r>
              <a:rPr lang="en-US" sz="940" dirty="0">
                <a:solidFill>
                  <a:srgbClr val="1E5631"/>
                </a:solidFill>
                <a:latin typeface="Calibri" pitchFamily="34" charset="0"/>
                <a:ea typeface="Calibri" pitchFamily="34" charset="-122"/>
                <a:cs typeface="Calibri" pitchFamily="34" charset="-120"/>
              </a:rPr>
              <a:t>deferred</a:t>
            </a:r>
            <a:endParaRPr lang="en-US" sz="940" dirty="0"/>
          </a:p>
        </p:txBody>
      </p:sp>
      <p:sp>
        <p:nvSpPr>
          <p:cNvPr id="25" name="01-journey-start-to-goal:ev"/>
          <p:cNvSpPr txBox="1"/>
          <p:nvPr/>
        </p:nvSpPr>
        <p:spPr>
          <a:xfrm>
            <a:off x="320254" y="4120515"/>
            <a:ext cx="11548443" cy="1400175"/>
          </a:xfrm>
          <a:prstGeom prst="roundRect">
            <a:avLst>
              <a:gd name="adj" fmla="val 1959"/>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Evidence discipline applied in every stage</a:t>
            </a:r>
            <a:endParaRPr lang="en-US" sz="1160" dirty="0"/>
          </a:p>
        </p:txBody>
      </p:sp>
      <p:sp>
        <p:nvSpPr>
          <p:cNvPr id="26" name="01-journey-start-to-goal:ev0"/>
          <p:cNvSpPr txBox="1"/>
          <p:nvPr/>
        </p:nvSpPr>
        <p:spPr>
          <a:xfrm>
            <a:off x="503563"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Header on every file</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stage, status,</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assumptions, risks</a:t>
            </a:r>
            <a:endParaRPr lang="en-US" sz="1090" dirty="0"/>
          </a:p>
        </p:txBody>
      </p:sp>
      <p:sp>
        <p:nvSpPr>
          <p:cNvPr id="27" name="01-journey-start-to-goal:ev1"/>
          <p:cNvSpPr txBox="1"/>
          <p:nvPr/>
        </p:nvSpPr>
        <p:spPr>
          <a:xfrm>
            <a:off x="2776590"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SHA-256 manifest</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in every evidence folder</a:t>
            </a:r>
            <a:endParaRPr lang="en-US" sz="1090" dirty="0"/>
          </a:p>
        </p:txBody>
      </p:sp>
      <p:sp>
        <p:nvSpPr>
          <p:cNvPr id="28" name="01-journey-start-to-goal:ev2"/>
          <p:cNvSpPr txBox="1"/>
          <p:nvPr/>
        </p:nvSpPr>
        <p:spPr>
          <a:xfrm>
            <a:off x="5049617"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Claims cite path + hash</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203 of 203 match</a:t>
            </a:r>
            <a:endParaRPr lang="en-US" sz="1090" dirty="0"/>
          </a:p>
        </p:txBody>
      </p:sp>
      <p:sp>
        <p:nvSpPr>
          <p:cNvPr id="29" name="01-journey-start-to-goal:ev3"/>
          <p:cNvSpPr txBox="1"/>
          <p:nvPr/>
        </p:nvSpPr>
        <p:spPr>
          <a:xfrm>
            <a:off x="7322644"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Every claim tagged</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[VF] [INF] [ASM] [UNK]</a:t>
            </a:r>
            <a:endParaRPr lang="en-US" sz="1090" dirty="0"/>
          </a:p>
        </p:txBody>
      </p:sp>
      <p:sp>
        <p:nvSpPr>
          <p:cNvPr id="30" name="01-journey-start-to-goal:ev4"/>
          <p:cNvSpPr txBox="1"/>
          <p:nvPr/>
        </p:nvSpPr>
        <p:spPr>
          <a:xfrm>
            <a:off x="9595671"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Exit gate</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before the next stage</a:t>
            </a:r>
            <a:endParaRPr lang="en-US" sz="1090" dirty="0"/>
          </a:p>
        </p:txBody>
      </p:sp>
      <p:sp>
        <p:nvSpPr>
          <p:cNvPr id="31" name="01-journey-start-to-goal:tl"/>
          <p:cNvSpPr txBox="1"/>
          <p:nvPr/>
        </p:nvSpPr>
        <p:spPr>
          <a:xfrm>
            <a:off x="320254" y="5640705"/>
            <a:ext cx="11548443" cy="1000125"/>
          </a:xfrm>
          <a:prstGeom prst="roundRect">
            <a:avLst>
              <a:gd name="adj" fmla="val 2743"/>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Milestones (git commits on main)</a:t>
            </a:r>
            <a:endParaRPr lang="en-US" sz="1160" dirty="0"/>
          </a:p>
        </p:txBody>
      </p:sp>
      <p:sp>
        <p:nvSpPr>
          <p:cNvPr id="32" name="01-journey-start-to-goal:t0"/>
          <p:cNvSpPr txBox="1"/>
          <p:nvPr/>
        </p:nvSpPr>
        <p:spPr>
          <a:xfrm>
            <a:off x="503563"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Plan</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Runbooks 00–04</a:t>
            </a:r>
            <a:endParaRPr lang="en-US" sz="1010" dirty="0"/>
          </a:p>
        </p:txBody>
      </p:sp>
      <p:sp>
        <p:nvSpPr>
          <p:cNvPr id="33" name="01-journey-start-to-goal:t1"/>
          <p:cNvSpPr txBox="1"/>
          <p:nvPr/>
        </p:nvSpPr>
        <p:spPr>
          <a:xfrm>
            <a:off x="1915039"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698e858</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Stage A</a:t>
            </a:r>
            <a:endParaRPr lang="en-US" sz="1010" dirty="0"/>
          </a:p>
        </p:txBody>
      </p:sp>
      <p:sp>
        <p:nvSpPr>
          <p:cNvPr id="34" name="01-journey-start-to-goal:t2"/>
          <p:cNvSpPr txBox="1"/>
          <p:nvPr/>
        </p:nvSpPr>
        <p:spPr>
          <a:xfrm>
            <a:off x="3326516"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4c84af1</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Stages A–P</a:t>
            </a:r>
            <a:endParaRPr lang="en-US" sz="1010" dirty="0"/>
          </a:p>
        </p:txBody>
      </p:sp>
      <p:sp>
        <p:nvSpPr>
          <p:cNvPr id="35" name="01-journey-start-to-goal:t3"/>
          <p:cNvSpPr txBox="1"/>
          <p:nvPr/>
        </p:nvSpPr>
        <p:spPr>
          <a:xfrm>
            <a:off x="4737992"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c7d94de</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Stages Q–R</a:t>
            </a:r>
            <a:endParaRPr lang="en-US" sz="1010" dirty="0"/>
          </a:p>
        </p:txBody>
      </p:sp>
      <p:sp>
        <p:nvSpPr>
          <p:cNvPr id="36" name="01-journey-start-to-goal:t4"/>
          <p:cNvSpPr txBox="1"/>
          <p:nvPr/>
        </p:nvSpPr>
        <p:spPr>
          <a:xfrm>
            <a:off x="6149469"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ab37ec8</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Second model</a:t>
            </a:r>
            <a:endParaRPr lang="en-US" sz="1010" dirty="0"/>
          </a:p>
        </p:txBody>
      </p:sp>
      <p:sp>
        <p:nvSpPr>
          <p:cNvPr id="37" name="01-journey-start-to-goal:t5"/>
          <p:cNvSpPr txBox="1"/>
          <p:nvPr/>
        </p:nvSpPr>
        <p:spPr>
          <a:xfrm>
            <a:off x="7560945"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1dcf6e8</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Runbook 03</a:t>
            </a:r>
            <a:endParaRPr lang="en-US" sz="1010" dirty="0"/>
          </a:p>
        </p:txBody>
      </p:sp>
      <p:sp>
        <p:nvSpPr>
          <p:cNvPr id="38" name="01-journey-start-to-goal:t6"/>
          <p:cNvSpPr txBox="1"/>
          <p:nvPr/>
        </p:nvSpPr>
        <p:spPr>
          <a:xfrm>
            <a:off x="8972421"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1cde803</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Runbook 04</a:t>
            </a:r>
            <a:endParaRPr lang="en-US" sz="1010" dirty="0"/>
          </a:p>
        </p:txBody>
      </p:sp>
      <p:sp>
        <p:nvSpPr>
          <p:cNvPr id="39" name="01-journey-start-to-goal:t7"/>
          <p:cNvSpPr txBox="1"/>
          <p:nvPr/>
        </p:nvSpPr>
        <p:spPr>
          <a:xfrm>
            <a:off x="10383898"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ad230eb</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Layer v2.0</a:t>
            </a:r>
            <a:endParaRPr lang="en-US" sz="1010" dirty="0"/>
          </a:p>
        </p:txBody>
      </p:sp>
      <p:sp>
        <p:nvSpPr>
          <p:cNvPr id="40" name="01-journey-start-to-goal:edge:start-&gt;c0"/>
          <p:cNvSpPr/>
          <p:nvPr/>
        </p:nvSpPr>
        <p:spPr>
          <a:xfrm flipV="1">
            <a:off x="1695069" y="2521115"/>
            <a:ext cx="137481" cy="12802"/>
          </a:xfrm>
          <a:prstGeom prst="line">
            <a:avLst/>
          </a:prstGeom>
          <a:noFill/>
          <a:ln w="19050">
            <a:solidFill>
              <a:srgbClr val="41545A"/>
            </a:solidFill>
            <a:prstDash val="solid"/>
            <a:tailEnd type="triangle"/>
          </a:ln>
        </p:spPr>
        <p:txBody>
          <a:bodyPr/>
          <a:p/>
        </p:txBody>
      </p:sp>
      <p:sp>
        <p:nvSpPr>
          <p:cNvPr id="41" name="01-journey-start-to-goal:edge:h0-&gt;h1"/>
          <p:cNvSpPr/>
          <p:nvPr/>
        </p:nvSpPr>
        <p:spPr>
          <a:xfrm>
            <a:off x="3170703" y="1528191"/>
            <a:ext cx="100820" cy="914"/>
          </a:xfrm>
          <a:prstGeom prst="line">
            <a:avLst/>
          </a:prstGeom>
          <a:noFill/>
          <a:ln w="19050">
            <a:solidFill>
              <a:srgbClr val="41545A"/>
            </a:solidFill>
            <a:prstDash val="solid"/>
            <a:tailEnd type="triangle"/>
          </a:ln>
        </p:spPr>
        <p:txBody>
          <a:bodyPr/>
          <a:p/>
        </p:txBody>
      </p:sp>
      <p:sp>
        <p:nvSpPr>
          <p:cNvPr id="42" name="01-journey-start-to-goal:edge:h1-&gt;h2"/>
          <p:cNvSpPr/>
          <p:nvPr/>
        </p:nvSpPr>
        <p:spPr>
          <a:xfrm>
            <a:off x="4609676" y="1528191"/>
            <a:ext cx="100820" cy="914"/>
          </a:xfrm>
          <a:prstGeom prst="line">
            <a:avLst/>
          </a:prstGeom>
          <a:noFill/>
          <a:ln w="19050">
            <a:solidFill>
              <a:srgbClr val="41545A"/>
            </a:solidFill>
            <a:prstDash val="solid"/>
            <a:tailEnd type="triangle"/>
          </a:ln>
        </p:spPr>
        <p:txBody>
          <a:bodyPr/>
          <a:p/>
        </p:txBody>
      </p:sp>
      <p:sp>
        <p:nvSpPr>
          <p:cNvPr id="43" name="01-journey-start-to-goal:edge:h2-&gt;h3"/>
          <p:cNvSpPr/>
          <p:nvPr/>
        </p:nvSpPr>
        <p:spPr>
          <a:xfrm>
            <a:off x="6048649" y="1528191"/>
            <a:ext cx="91654" cy="914"/>
          </a:xfrm>
          <a:prstGeom prst="line">
            <a:avLst/>
          </a:prstGeom>
          <a:noFill/>
          <a:ln w="19050">
            <a:solidFill>
              <a:srgbClr val="41545A"/>
            </a:solidFill>
            <a:prstDash val="solid"/>
            <a:tailEnd type="triangle"/>
          </a:ln>
        </p:spPr>
        <p:txBody>
          <a:bodyPr/>
          <a:p/>
        </p:txBody>
      </p:sp>
      <p:sp>
        <p:nvSpPr>
          <p:cNvPr id="44" name="01-journey-start-to-goal:edge:h3-&gt;h4"/>
          <p:cNvSpPr/>
          <p:nvPr/>
        </p:nvSpPr>
        <p:spPr>
          <a:xfrm>
            <a:off x="7478456" y="1528191"/>
            <a:ext cx="100820" cy="914"/>
          </a:xfrm>
          <a:prstGeom prst="line">
            <a:avLst/>
          </a:prstGeom>
          <a:noFill/>
          <a:ln w="19050">
            <a:solidFill>
              <a:srgbClr val="41545A"/>
            </a:solidFill>
            <a:prstDash val="solid"/>
            <a:tailEnd type="triangle"/>
          </a:ln>
        </p:spPr>
        <p:txBody>
          <a:bodyPr/>
          <a:p/>
        </p:txBody>
      </p:sp>
      <p:sp>
        <p:nvSpPr>
          <p:cNvPr id="45" name="01-journey-start-to-goal:edge:h4-&gt;h5"/>
          <p:cNvSpPr/>
          <p:nvPr/>
        </p:nvSpPr>
        <p:spPr>
          <a:xfrm>
            <a:off x="8917429" y="1528191"/>
            <a:ext cx="100820" cy="914"/>
          </a:xfrm>
          <a:prstGeom prst="line">
            <a:avLst/>
          </a:prstGeom>
          <a:noFill/>
          <a:ln w="19050">
            <a:solidFill>
              <a:srgbClr val="41545A"/>
            </a:solidFill>
            <a:prstDash val="solid"/>
            <a:tailEnd type="triangle"/>
          </a:ln>
        </p:spPr>
        <p:txBody>
          <a:bodyPr/>
          <a:p/>
        </p:txBody>
      </p:sp>
      <p:sp>
        <p:nvSpPr>
          <p:cNvPr id="46" name="01-journey-start-to-goal:edge:c5-&gt;goal"/>
          <p:cNvSpPr/>
          <p:nvPr/>
        </p:nvSpPr>
        <p:spPr>
          <a:xfrm>
            <a:off x="10356402" y="2521115"/>
            <a:ext cx="137481" cy="12802"/>
          </a:xfrm>
          <a:prstGeom prst="line">
            <a:avLst/>
          </a:prstGeom>
          <a:noFill/>
          <a:ln w="19050">
            <a:solidFill>
              <a:srgbClr val="41545A"/>
            </a:solidFill>
            <a:prstDash val="solid"/>
            <a:tailEnd type="triangle"/>
          </a:ln>
        </p:spPr>
        <p:txBody>
          <a:bodyPr/>
          <a:p/>
        </p:txBody>
      </p:sp>
      <p:sp>
        <p:nvSpPr>
          <p:cNvPr id="47" name="01-journey-start-to-goal:edge:t0-&gt;t1"/>
          <p:cNvSpPr/>
          <p:nvPr/>
        </p:nvSpPr>
        <p:spPr>
          <a:xfrm>
            <a:off x="1750062" y="6208776"/>
            <a:ext cx="164978" cy="914"/>
          </a:xfrm>
          <a:prstGeom prst="line">
            <a:avLst/>
          </a:prstGeom>
          <a:noFill/>
          <a:ln w="19050">
            <a:solidFill>
              <a:srgbClr val="41545A"/>
            </a:solidFill>
            <a:prstDash val="solid"/>
            <a:tailEnd type="triangle"/>
          </a:ln>
        </p:spPr>
        <p:txBody>
          <a:bodyPr/>
          <a:p/>
        </p:txBody>
      </p:sp>
      <p:sp>
        <p:nvSpPr>
          <p:cNvPr id="48" name="01-journey-start-to-goal:edge:t1-&gt;t2"/>
          <p:cNvSpPr/>
          <p:nvPr/>
        </p:nvSpPr>
        <p:spPr>
          <a:xfrm>
            <a:off x="3161538" y="6208776"/>
            <a:ext cx="164978" cy="914"/>
          </a:xfrm>
          <a:prstGeom prst="line">
            <a:avLst/>
          </a:prstGeom>
          <a:noFill/>
          <a:ln w="19050">
            <a:solidFill>
              <a:srgbClr val="41545A"/>
            </a:solidFill>
            <a:prstDash val="solid"/>
            <a:tailEnd type="triangle"/>
          </a:ln>
        </p:spPr>
        <p:txBody>
          <a:bodyPr/>
          <a:p/>
        </p:txBody>
      </p:sp>
      <p:sp>
        <p:nvSpPr>
          <p:cNvPr id="49" name="01-journey-start-to-goal:edge:t2-&gt;t3"/>
          <p:cNvSpPr/>
          <p:nvPr/>
        </p:nvSpPr>
        <p:spPr>
          <a:xfrm>
            <a:off x="4573014" y="6208776"/>
            <a:ext cx="164978" cy="914"/>
          </a:xfrm>
          <a:prstGeom prst="line">
            <a:avLst/>
          </a:prstGeom>
          <a:noFill/>
          <a:ln w="19050">
            <a:solidFill>
              <a:srgbClr val="41545A"/>
            </a:solidFill>
            <a:prstDash val="solid"/>
            <a:tailEnd type="triangle"/>
          </a:ln>
        </p:spPr>
        <p:txBody>
          <a:bodyPr/>
          <a:p/>
        </p:txBody>
      </p:sp>
      <p:sp>
        <p:nvSpPr>
          <p:cNvPr id="50" name="01-journey-start-to-goal:edge:t3-&gt;t4"/>
          <p:cNvSpPr/>
          <p:nvPr/>
        </p:nvSpPr>
        <p:spPr>
          <a:xfrm>
            <a:off x="5984491" y="6208776"/>
            <a:ext cx="164978" cy="914"/>
          </a:xfrm>
          <a:prstGeom prst="line">
            <a:avLst/>
          </a:prstGeom>
          <a:noFill/>
          <a:ln w="19050">
            <a:solidFill>
              <a:srgbClr val="41545A"/>
            </a:solidFill>
            <a:prstDash val="solid"/>
            <a:tailEnd type="triangle"/>
          </a:ln>
        </p:spPr>
        <p:txBody>
          <a:bodyPr/>
          <a:p/>
        </p:txBody>
      </p:sp>
      <p:sp>
        <p:nvSpPr>
          <p:cNvPr id="51" name="01-journey-start-to-goal:edge:t4-&gt;t5"/>
          <p:cNvSpPr/>
          <p:nvPr/>
        </p:nvSpPr>
        <p:spPr>
          <a:xfrm>
            <a:off x="7395967" y="6208776"/>
            <a:ext cx="164978" cy="914"/>
          </a:xfrm>
          <a:prstGeom prst="line">
            <a:avLst/>
          </a:prstGeom>
          <a:noFill/>
          <a:ln w="19050">
            <a:solidFill>
              <a:srgbClr val="41545A"/>
            </a:solidFill>
            <a:prstDash val="solid"/>
            <a:tailEnd type="triangle"/>
          </a:ln>
        </p:spPr>
        <p:txBody>
          <a:bodyPr/>
          <a:p/>
        </p:txBody>
      </p:sp>
      <p:sp>
        <p:nvSpPr>
          <p:cNvPr id="52" name="01-journey-start-to-goal:edge:t5-&gt;t6"/>
          <p:cNvSpPr/>
          <p:nvPr/>
        </p:nvSpPr>
        <p:spPr>
          <a:xfrm>
            <a:off x="8807444" y="6208776"/>
            <a:ext cx="164978" cy="914"/>
          </a:xfrm>
          <a:prstGeom prst="line">
            <a:avLst/>
          </a:prstGeom>
          <a:noFill/>
          <a:ln w="19050">
            <a:solidFill>
              <a:srgbClr val="41545A"/>
            </a:solidFill>
            <a:prstDash val="solid"/>
            <a:tailEnd type="triangle"/>
          </a:ln>
        </p:spPr>
        <p:txBody>
          <a:bodyPr/>
          <a:p/>
        </p:txBody>
      </p:sp>
      <p:sp>
        <p:nvSpPr>
          <p:cNvPr id="53" name="01-journey-start-to-goal:edge:t6-&gt;t7"/>
          <p:cNvSpPr/>
          <p:nvPr/>
        </p:nvSpPr>
        <p:spPr>
          <a:xfrm>
            <a:off x="10218920" y="6208776"/>
            <a:ext cx="164978" cy="914"/>
          </a:xfrm>
          <a:prstGeom prst="line">
            <a:avLst/>
          </a:prstGeom>
          <a:noFill/>
          <a:ln w="19050">
            <a:solidFill>
              <a:srgbClr val="41545A"/>
            </a:solidFill>
            <a:prstDash val="solid"/>
            <a:tailEnd type="triangle"/>
          </a:ln>
        </p:spPr>
        <p:txBody>
          <a:bodyPr/>
          <a:p/>
        </p:txBody>
      </p:sp>
      <p:sp>
        <p:nvSpPr>
          <p:cNvPr id="4"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txBody>
          <a:bodyPr/>
          <a:p/>
        </p:txBody>
      </p:sp>
      <p:sp>
        <p:nvSpPr>
          <p:cNvPr id="3" name="Text 1"/>
          <p:cNvSpPr txBox="1"/>
          <p:nvPr/>
        </p:nvSpPr>
        <p:spPr>
          <a:xfrm>
            <a:off x="731520" y="1920240"/>
            <a:ext cx="2011680" cy="2011680"/>
          </a:xfrm>
          <a:prstGeom prst="rect">
            <a:avLst/>
          </a:prstGeom>
          <a:noFill/>
          <a:ln/>
        </p:spPr>
        <p:txBody>
          <a:bodyPr wrap="square" lIns="0" tIns="0" rIns="0" bIns="0" rtlCol="0" anchor="ctr"/>
          <a:lstStyle/>
          <a:p>
            <a:pPr marL="0" indent="0" algn="ctr">
              <a:buNone/>
            </a:pPr>
            <a:r>
              <a:rPr lang="en-US" sz="6000" b="1" dirty="0">
                <a:solidFill>
                  <a:srgbClr val="0B3C49"/>
                </a:solidFill>
              </a:rPr>
              <a:t>01</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marL="0" indent="0">
              <a:buNone/>
            </a:pPr>
            <a:r>
              <a:rPr lang="en-US" sz="4000" b="1" dirty="0">
                <a:solidFill>
                  <a:srgbClr val="FFFFFF"/>
                </a:solidFill>
              </a:rPr>
              <a:t>The starting point</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marL="0" indent="0">
              <a:buNone/>
            </a:pPr>
            <a:r>
              <a:rPr lang="en-US" sz="2000" dirty="0">
                <a:solidFill>
                  <a:srgbClr val="CFE3E7"/>
                </a:solidFill>
              </a:rPr>
              <a:t>What we inherited, and why it could not be trusted</a:t>
            </a:r>
            <a:endParaRPr lang="en-US" sz="2000" dirty="0"/>
          </a:p>
        </p:txBody>
      </p:sp>
      <p:sp>
        <p:nvSpPr>
          <p:cNvPr id="6" name="Shape 4"/>
          <p:cNvSpPr/>
          <p:nvPr/>
        </p:nvSpPr>
        <p:spPr>
          <a:xfrm>
            <a:off x="9692640" y="4754880"/>
            <a:ext cx="3291840" cy="3291840"/>
          </a:xfrm>
          <a:prstGeom prst="ellipse">
            <a:avLst/>
          </a:prstGeom>
          <a:solidFill>
            <a:srgbClr val="134D5C"/>
          </a:solidFill>
          <a:ln/>
        </p:spPr>
        <p:txBody>
          <a:bodyPr/>
          <a:p/>
        </p:txBody>
      </p:sp>
      <p:sp>
        <p:nvSpPr>
          <p:cNvPr id="7" name="Shape 5"/>
          <p:cNvSpPr/>
          <p:nvPr/>
        </p:nvSpPr>
        <p:spPr>
          <a:xfrm>
            <a:off x="8869680" y="5760720"/>
            <a:ext cx="1463040" cy="1463040"/>
          </a:xfrm>
          <a:prstGeom prst="ellipse">
            <a:avLst/>
          </a:prstGeom>
          <a:solidFill>
            <a:srgbClr val="1F7A8C">
              <a:alpha val="60000"/>
            </a:srgbClr>
          </a:solidFill>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01  THE STARTING POINT</a:t>
            </a:r>
            <a:endParaRPr lang="en-US" sz="1100" dirty="0"/>
          </a:p>
        </p:txBody>
      </p:sp>
      <p:sp>
        <p:nvSpPr>
          <p:cNvPr id="3" name="Text 0"/>
          <p:cNvSpPr>
            <a:spLocks noGrp="1"/>
          </p:cNvSpPr>
          <p:nvPr>
            <p:ph type="title" idx="100" hasCustomPrompt="1"/>
          </p:nvPr>
        </p:nvSpPr>
        <p:spPr>
          <a:xfrm>
            <a:off x="457200" y="329184"/>
            <a:ext cx="10607040" cy="548640"/>
          </a:xfrm>
          <a:prstGeom prst="rect">
            <a:avLst/>
          </a:prstGeom>
          <a:noFill/>
          <a:ln/>
        </p:spPr>
        <p:txBody>
          <a:bodyPr wrap="square" lIns="0" tIns="0" rIns="0" bIns="0" rtlCol="0" anchor="ctr"/>
          <a:lstStyle/>
          <a:p>
            <a:pPr marL="0" indent="0" algn="l">
              <a:buNone/>
            </a:pPr>
            <a:r>
              <a:rPr lang="en-US" sz="2500" b="1" dirty="0">
                <a:solidFill>
                  <a:schemeClr val="tx2"/>
                </a:solidFill>
              </a:rPr>
              <a:t>What we inherited: three generations side by side, no control point</a:t>
            </a:r>
            <a:endParaRPr lang="en-US" sz="2500" dirty="0"/>
          </a:p>
        </p:txBody>
      </p:sp>
      <p:sp>
        <p:nvSpPr>
          <p:cNvPr id="5" name="02-architecture-repo-1.0:l_call"/>
          <p:cNvSpPr txBox="1"/>
          <p:nvPr/>
        </p:nvSpPr>
        <p:spPr>
          <a:xfrm>
            <a:off x="320254" y="1040130"/>
            <a:ext cx="1649778" cy="3520440"/>
          </a:xfrm>
          <a:prstGeom prst="roundRect">
            <a:avLst>
              <a:gd name="adj" fmla="val 1663"/>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Callers</a:t>
            </a:r>
            <a:endParaRPr lang="en-US" sz="1160" dirty="0"/>
          </a:p>
        </p:txBody>
      </p:sp>
      <p:sp>
        <p:nvSpPr>
          <p:cNvPr id="6" name="02-architecture-repo-1.0:caller"/>
          <p:cNvSpPr txBox="1"/>
          <p:nvPr/>
        </p:nvSpPr>
        <p:spPr>
          <a:xfrm>
            <a:off x="457736" y="1440180"/>
            <a:ext cx="1374815" cy="880110"/>
          </a:xfrm>
          <a:prstGeom prst="roundRect">
            <a:avLst>
              <a:gd name="adj" fmla="val 6234"/>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90" b="1" dirty="0">
                <a:solidFill>
                  <a:srgbClr val="7B241C"/>
                </a:solidFill>
                <a:latin typeface="Calibri" pitchFamily="34" charset="0"/>
                <a:ea typeface="Calibri" pitchFamily="34" charset="-122"/>
                <a:cs typeface="Calibri" pitchFamily="34" charset="-120"/>
              </a:rPr>
              <a:t>API caller</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sends an</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X-User-Role</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header</a:t>
            </a:r>
            <a:endParaRPr lang="en-US" sz="1090" dirty="0"/>
          </a:p>
        </p:txBody>
      </p:sp>
      <p:sp>
        <p:nvSpPr>
          <p:cNvPr id="7" name="02-architecture-repo-1.0:portal"/>
          <p:cNvSpPr txBox="1"/>
          <p:nvPr/>
        </p:nvSpPr>
        <p:spPr>
          <a:xfrm>
            <a:off x="457736" y="2560320"/>
            <a:ext cx="1374815" cy="720090"/>
          </a:xfrm>
          <a:prstGeom prst="roundRect">
            <a:avLst>
              <a:gd name="adj" fmla="val 7619"/>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90" b="1" dirty="0">
                <a:solidFill>
                  <a:srgbClr val="7B241C"/>
                </a:solidFill>
                <a:latin typeface="Calibri" pitchFamily="34" charset="0"/>
                <a:ea typeface="Calibri" pitchFamily="34" charset="-122"/>
                <a:cs typeface="Calibri" pitchFamily="34" charset="-120"/>
              </a:rPr>
              <a:t>Web portal</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scaffold only</a:t>
            </a:r>
            <a:endParaRPr lang="en-US" sz="1090" dirty="0"/>
          </a:p>
        </p:txBody>
      </p:sp>
      <p:sp>
        <p:nvSpPr>
          <p:cNvPr id="8" name="02-architecture-repo-1.0:l_api"/>
          <p:cNvSpPr txBox="1"/>
          <p:nvPr/>
        </p:nvSpPr>
        <p:spPr>
          <a:xfrm>
            <a:off x="2107513" y="1040130"/>
            <a:ext cx="3941135" cy="3520440"/>
          </a:xfrm>
          <a:prstGeom prst="roundRect">
            <a:avLst>
              <a:gd name="adj" fmla="val 779"/>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Generations 2 and 3: API and AI (apps/api)</a:t>
            </a:r>
            <a:endParaRPr lang="en-US" sz="1160" dirty="0"/>
          </a:p>
        </p:txBody>
      </p:sp>
      <p:sp>
        <p:nvSpPr>
          <p:cNvPr id="9" name="02-architecture-repo-1.0:main"/>
          <p:cNvSpPr txBox="1"/>
          <p:nvPr/>
        </p:nvSpPr>
        <p:spPr>
          <a:xfrm>
            <a:off x="2290822" y="1400175"/>
            <a:ext cx="3574518" cy="720090"/>
          </a:xfrm>
          <a:prstGeom prst="roundRect">
            <a:avLst>
              <a:gd name="adj" fmla="val 7619"/>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90" b="1" dirty="0">
                <a:solidFill>
                  <a:srgbClr val="7B241C"/>
                </a:solidFill>
                <a:latin typeface="Calibri" pitchFamily="34" charset="0"/>
                <a:ea typeface="Calibri" pitchFamily="34" charset="-122"/>
                <a:cs typeface="Calibri" pitchFamily="34" charset="-120"/>
              </a:rPr>
              <a:t>main.py: 3 routes</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role taken from the header, never checked</a:t>
            </a:r>
            <a:endParaRPr lang="en-US" sz="1090" dirty="0"/>
          </a:p>
        </p:txBody>
      </p:sp>
      <p:sp>
        <p:nvSpPr>
          <p:cNvPr id="10" name="02-architecture-repo-1.0:ai"/>
          <p:cNvSpPr txBox="1"/>
          <p:nvPr/>
        </p:nvSpPr>
        <p:spPr>
          <a:xfrm>
            <a:off x="2290822"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10" b="1" dirty="0">
                <a:solidFill>
                  <a:srgbClr val="7B241C"/>
                </a:solidFill>
                <a:latin typeface="Calibri" pitchFamily="34" charset="0"/>
                <a:ea typeface="Calibri" pitchFamily="34" charset="-122"/>
                <a:cs typeface="Calibri" pitchFamily="34" charset="-120"/>
              </a:rPr>
              <a:t>AI gateway</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no auth;</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guardrail not</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enforced</a:t>
            </a:r>
            <a:endParaRPr lang="en-US" sz="1010" dirty="0"/>
          </a:p>
        </p:txBody>
      </p:sp>
      <p:sp>
        <p:nvSpPr>
          <p:cNvPr id="11" name="02-architecture-repo-1.0:audit"/>
          <p:cNvSpPr txBox="1"/>
          <p:nvPr/>
        </p:nvSpPr>
        <p:spPr>
          <a:xfrm>
            <a:off x="3528155"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10" b="1" dirty="0">
                <a:solidFill>
                  <a:srgbClr val="7B241C"/>
                </a:solidFill>
                <a:latin typeface="Calibri" pitchFamily="34" charset="0"/>
                <a:ea typeface="Calibri" pitchFamily="34" charset="-122"/>
                <a:cs typeface="Calibri" pitchFamily="34" charset="-120"/>
              </a:rPr>
              <a:t>Audit writer</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no actor, no</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correlation</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id</a:t>
            </a:r>
            <a:endParaRPr lang="en-US" sz="1010" dirty="0"/>
          </a:p>
        </p:txBody>
      </p:sp>
      <p:sp>
        <p:nvSpPr>
          <p:cNvPr id="12" name="02-architecture-repo-1.0:dom"/>
          <p:cNvSpPr txBox="1"/>
          <p:nvPr/>
        </p:nvSpPr>
        <p:spPr>
          <a:xfrm>
            <a:off x="4765488"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10" b="1" dirty="0">
                <a:solidFill>
                  <a:srgbClr val="7B241C"/>
                </a:solidFill>
                <a:latin typeface="Calibri" pitchFamily="34" charset="0"/>
                <a:ea typeface="Calibri" pitchFamily="34" charset="-122"/>
                <a:cs typeface="Calibri" pitchFamily="34" charset="-120"/>
              </a:rPr>
              <a:t>Record lookup</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any column; a</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row even on a</a:t>
            </a:r>
            <a:endParaRPr lang="en-US" sz="1010" dirty="0"/>
          </a:p>
          <a:p>
            <a:pPr marL="0" indent="0" algn="ctr">
              <a:buNone/>
            </a:pPr>
            <a:r>
              <a:rPr lang="en-US" sz="1010" dirty="0">
                <a:solidFill>
                  <a:srgbClr val="7B241C"/>
                </a:solidFill>
                <a:latin typeface="Calibri" pitchFamily="34" charset="0"/>
                <a:ea typeface="Calibri" pitchFamily="34" charset="-122"/>
                <a:cs typeface="Calibri" pitchFamily="34" charset="-120"/>
              </a:rPr>
              <a:t>miss</a:t>
            </a:r>
            <a:endParaRPr lang="en-US" sz="1010" dirty="0"/>
          </a:p>
        </p:txBody>
      </p:sp>
      <p:sp>
        <p:nvSpPr>
          <p:cNvPr id="13" name="02-architecture-repo-1.0:l_leg"/>
          <p:cNvSpPr txBox="1"/>
          <p:nvPr/>
        </p:nvSpPr>
        <p:spPr>
          <a:xfrm>
            <a:off x="2107513" y="4680585"/>
            <a:ext cx="3941135" cy="1960245"/>
          </a:xfrm>
          <a:prstGeom prst="roundRect">
            <a:avLst>
              <a:gd name="adj" fmla="val 1399"/>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Generation 1: legacy batch</a:t>
            </a:r>
            <a:endParaRPr lang="en-US" sz="1160" dirty="0"/>
          </a:p>
        </p:txBody>
      </p:sp>
      <p:sp>
        <p:nvSpPr>
          <p:cNvPr id="14" name="02-architecture-repo-1.0:rec"/>
          <p:cNvSpPr txBox="1"/>
          <p:nvPr/>
        </p:nvSpPr>
        <p:spPr>
          <a:xfrm>
            <a:off x="2290822" y="5000625"/>
            <a:ext cx="357451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90" b="1" dirty="0">
                <a:solidFill>
                  <a:srgbClr val="7B241C"/>
                </a:solidFill>
                <a:latin typeface="Calibri" pitchFamily="34" charset="0"/>
                <a:ea typeface="Calibri" pitchFamily="34" charset="-122"/>
                <a:cs typeface="Calibri" pitchFamily="34" charset="-120"/>
              </a:rPr>
              <a:t>reconcile_legacy.py</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counts rows; hard-coded credential</a:t>
            </a:r>
            <a:endParaRPr lang="en-US" sz="1090" dirty="0"/>
          </a:p>
        </p:txBody>
      </p:sp>
      <p:sp>
        <p:nvSpPr>
          <p:cNvPr id="15" name="02-architecture-repo-1.0:etl"/>
          <p:cNvSpPr txBox="1"/>
          <p:nvPr/>
        </p:nvSpPr>
        <p:spPr>
          <a:xfrm>
            <a:off x="2290822" y="5800725"/>
            <a:ext cx="357451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90" b="1" dirty="0">
                <a:solidFill>
                  <a:srgbClr val="7B241C"/>
                </a:solidFill>
                <a:latin typeface="Calibri" pitchFamily="34" charset="0"/>
                <a:ea typeface="Calibri" pitchFamily="34" charset="-122"/>
                <a:cs typeface="Calibri" pitchFamily="34" charset="-120"/>
              </a:rPr>
              <a:t>run_daily_batch.py</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counts blanks; validates nothing</a:t>
            </a:r>
            <a:endParaRPr lang="en-US" sz="1090" dirty="0"/>
          </a:p>
        </p:txBody>
      </p:sp>
      <p:sp>
        <p:nvSpPr>
          <p:cNvPr id="16" name="02-architecture-repo-1.0:l_data"/>
          <p:cNvSpPr txBox="1"/>
          <p:nvPr/>
        </p:nvSpPr>
        <p:spPr>
          <a:xfrm>
            <a:off x="6186130" y="1040130"/>
            <a:ext cx="2016395" cy="5600700"/>
          </a:xfrm>
          <a:prstGeom prst="roundRect">
            <a:avLst>
              <a:gd name="adj" fmla="val 1360"/>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Data (data/synthetic)</a:t>
            </a:r>
            <a:endParaRPr lang="en-US" sz="1160" dirty="0"/>
          </a:p>
        </p:txBody>
      </p:sp>
      <p:sp>
        <p:nvSpPr>
          <p:cNvPr id="17" name="02-architecture-repo-1.0:data"/>
          <p:cNvSpPr txBox="1"/>
          <p:nvPr/>
        </p:nvSpPr>
        <p:spPr>
          <a:xfrm>
            <a:off x="6323612" y="1440180"/>
            <a:ext cx="1741432" cy="2000250"/>
          </a:xfrm>
          <a:prstGeom prst="roundRect">
            <a:avLst>
              <a:gd name="adj" fmla="val 315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7 synthetic files</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shipments, tracking</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events, vehicles,</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routes, bookings, AI</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calls, event stream</a:t>
            </a:r>
            <a:endParaRPr lang="en-US" sz="1090" dirty="0"/>
          </a:p>
        </p:txBody>
      </p:sp>
      <p:sp>
        <p:nvSpPr>
          <p:cNvPr id="18" name="02-architecture-repo-1.0:defects"/>
          <p:cNvSpPr txBox="1"/>
          <p:nvPr/>
        </p:nvSpPr>
        <p:spPr>
          <a:xfrm>
            <a:off x="6323612" y="3600450"/>
            <a:ext cx="1741432" cy="1600200"/>
          </a:xfrm>
          <a:prstGeom prst="roundRect">
            <a:avLst>
              <a:gd name="adj" fmla="val 3429"/>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90" b="1" dirty="0">
                <a:solidFill>
                  <a:srgbClr val="7B241C"/>
                </a:solidFill>
                <a:latin typeface="Calibri" pitchFamily="34" charset="0"/>
                <a:ea typeface="Calibri" pitchFamily="34" charset="-122"/>
                <a:cs typeface="Calibri" pitchFamily="34" charset="-120"/>
              </a:rPr>
              <a:t>Seeded defects</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duplicates, bad keys,</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REC-0001 collision,</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placeholder values</a:t>
            </a:r>
            <a:endParaRPr lang="en-US" sz="1090" dirty="0"/>
          </a:p>
        </p:txBody>
      </p:sp>
      <p:sp>
        <p:nvSpPr>
          <p:cNvPr id="19" name="02-architecture-repo-1.0:l_nc"/>
          <p:cNvSpPr txBox="1"/>
          <p:nvPr/>
        </p:nvSpPr>
        <p:spPr>
          <a:xfrm>
            <a:off x="8340007" y="1040130"/>
            <a:ext cx="3528691" cy="5600700"/>
          </a:xfrm>
          <a:prstGeom prst="roundRect">
            <a:avLst>
              <a:gd name="adj" fmla="val 777"/>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Present but not connected</a:t>
            </a:r>
            <a:endParaRPr lang="en-US" sz="1160" dirty="0"/>
          </a:p>
        </p:txBody>
      </p:sp>
      <p:sp>
        <p:nvSpPr>
          <p:cNvPr id="20" name="02-architecture-repo-1.0:rego"/>
          <p:cNvSpPr txBox="1"/>
          <p:nvPr/>
        </p:nvSpPr>
        <p:spPr>
          <a:xfrm>
            <a:off x="8477488" y="1400175"/>
            <a:ext cx="3253728" cy="560070"/>
          </a:xfrm>
          <a:prstGeom prst="roundRect">
            <a:avLst>
              <a:gd name="adj" fmla="val 9796"/>
            </a:avLst>
          </a:prstGeom>
          <a:solidFill>
            <a:srgbClr val="FFFFFF"/>
          </a:solidFill>
          <a:ln w="15875">
            <a:solidFill>
              <a:srgbClr val="9AA5A8"/>
            </a:solidFill>
            <a:prstDash val="dash"/>
          </a:ln>
        </p:spPr>
        <p:txBody>
          <a:bodyPr wrap="square" lIns="25400" tIns="50800" rIns="50800" bIns="25400" rtlCol="0" anchor="ctr"/>
          <a:lstStyle/>
          <a:p>
            <a:pPr marL="0" indent="0" algn="ctr">
              <a:buNone/>
            </a:pPr>
            <a:r>
              <a:rPr lang="en-US" sz="1090" b="1" dirty="0">
                <a:solidFill>
                  <a:srgbClr val="5F6E71"/>
                </a:solidFill>
                <a:latin typeface="Calibri" pitchFamily="34" charset="0"/>
                <a:ea typeface="Calibri" pitchFamily="34" charset="-122"/>
                <a:cs typeface="Calibri" pitchFamily="34" charset="-120"/>
              </a:rPr>
              <a:t>access.rego</a:t>
            </a:r>
            <a:endParaRPr lang="en-US" sz="1090" dirty="0"/>
          </a:p>
          <a:p>
            <a:pPr marL="0" indent="0" algn="ctr">
              <a:buNone/>
            </a:pPr>
            <a:r>
              <a:rPr lang="en-US" sz="1090" dirty="0">
                <a:solidFill>
                  <a:srgbClr val="5F6E71"/>
                </a:solidFill>
                <a:latin typeface="Calibri" pitchFamily="34" charset="0"/>
                <a:ea typeface="Calibri" pitchFamily="34" charset="-122"/>
                <a:cs typeface="Calibri" pitchFamily="34" charset="-120"/>
              </a:rPr>
              <a:t>referenced by no code</a:t>
            </a:r>
            <a:endParaRPr lang="en-US" sz="1090" dirty="0"/>
          </a:p>
        </p:txBody>
      </p:sp>
      <p:sp>
        <p:nvSpPr>
          <p:cNvPr id="21" name="02-architecture-repo-1.0:tf"/>
          <p:cNvSpPr txBox="1"/>
          <p:nvPr/>
        </p:nvSpPr>
        <p:spPr>
          <a:xfrm>
            <a:off x="8477488" y="2080260"/>
            <a:ext cx="3253728" cy="560070"/>
          </a:xfrm>
          <a:prstGeom prst="roundRect">
            <a:avLst>
              <a:gd name="adj" fmla="val 9796"/>
            </a:avLst>
          </a:prstGeom>
          <a:solidFill>
            <a:srgbClr val="FFFFFF"/>
          </a:solidFill>
          <a:ln w="15875">
            <a:solidFill>
              <a:srgbClr val="9AA5A8"/>
            </a:solidFill>
            <a:prstDash val="dash"/>
          </a:ln>
        </p:spPr>
        <p:txBody>
          <a:bodyPr wrap="square" lIns="25400" tIns="50800" rIns="50800" bIns="25400" rtlCol="0" anchor="ctr"/>
          <a:lstStyle/>
          <a:p>
            <a:pPr marL="0" indent="0" algn="ctr">
              <a:buNone/>
            </a:pPr>
            <a:r>
              <a:rPr lang="en-US" sz="1090" b="1" dirty="0">
                <a:solidFill>
                  <a:srgbClr val="5F6E71"/>
                </a:solidFill>
                <a:latin typeface="Calibri" pitchFamily="34" charset="0"/>
                <a:ea typeface="Calibri" pitchFamily="34" charset="-122"/>
                <a:cs typeface="Calibri" pitchFamily="34" charset="-120"/>
              </a:rPr>
              <a:t>Terraform</a:t>
            </a:r>
            <a:endParaRPr lang="en-US" sz="1090" dirty="0"/>
          </a:p>
          <a:p>
            <a:pPr marL="0" indent="0" algn="ctr">
              <a:buNone/>
            </a:pPr>
            <a:r>
              <a:rPr lang="en-US" sz="1090" dirty="0">
                <a:solidFill>
                  <a:srgbClr val="5F6E71"/>
                </a:solidFill>
                <a:latin typeface="Calibri" pitchFamily="34" charset="0"/>
                <a:ea typeface="Calibri" pitchFamily="34" charset="-122"/>
                <a:cs typeface="Calibri" pitchFamily="34" charset="-120"/>
              </a:rPr>
              <a:t>one local_file resource</a:t>
            </a:r>
            <a:endParaRPr lang="en-US" sz="1090" dirty="0"/>
          </a:p>
        </p:txBody>
      </p:sp>
      <p:sp>
        <p:nvSpPr>
          <p:cNvPr id="22" name="02-architecture-repo-1.0:env"/>
          <p:cNvSpPr txBox="1"/>
          <p:nvPr/>
        </p:nvSpPr>
        <p:spPr>
          <a:xfrm>
            <a:off x="8477488" y="2760345"/>
            <a:ext cx="3253728" cy="560070"/>
          </a:xfrm>
          <a:prstGeom prst="roundRect">
            <a:avLst>
              <a:gd name="adj" fmla="val 9796"/>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90" b="1" dirty="0">
                <a:solidFill>
                  <a:srgbClr val="7B241C"/>
                </a:solidFill>
                <a:latin typeface="Calibri" pitchFamily="34" charset="0"/>
                <a:ea typeface="Calibri" pitchFamily="34" charset="-122"/>
                <a:cs typeface="Calibri" pitchFamily="34" charset="-120"/>
              </a:rPr>
              <a:t>.env.example</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credential-shaped values</a:t>
            </a:r>
            <a:endParaRPr lang="en-US" sz="1090" dirty="0"/>
          </a:p>
        </p:txBody>
      </p:sp>
      <p:sp>
        <p:nvSpPr>
          <p:cNvPr id="23" name="02-architecture-repo-1.0:ci"/>
          <p:cNvSpPr txBox="1"/>
          <p:nvPr/>
        </p:nvSpPr>
        <p:spPr>
          <a:xfrm>
            <a:off x="8477488" y="3440430"/>
            <a:ext cx="325372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090" b="1" dirty="0">
                <a:solidFill>
                  <a:srgbClr val="7B241C"/>
                </a:solidFill>
                <a:latin typeface="Calibri" pitchFamily="34" charset="0"/>
                <a:ea typeface="Calibri" pitchFamily="34" charset="-122"/>
                <a:cs typeface="Calibri" pitchFamily="34" charset="-120"/>
              </a:rPr>
              <a:t>CI and quick-start</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pytest only and never run; quick-start</a:t>
            </a:r>
            <a:endParaRPr lang="en-US" sz="1090" dirty="0"/>
          </a:p>
          <a:p>
            <a:pPr marL="0" indent="0" algn="ctr">
              <a:buNone/>
            </a:pPr>
            <a:r>
              <a:rPr lang="en-US" sz="1090" dirty="0">
                <a:solidFill>
                  <a:srgbClr val="7B241C"/>
                </a:solidFill>
                <a:latin typeface="Calibri" pitchFamily="34" charset="0"/>
                <a:ea typeface="Calibri" pitchFamily="34" charset="-122"/>
                <a:cs typeface="Calibri" pitchFamily="34" charset="-120"/>
              </a:rPr>
              <a:t>fails</a:t>
            </a:r>
            <a:endParaRPr lang="en-US" sz="1090" dirty="0"/>
          </a:p>
        </p:txBody>
      </p:sp>
      <p:sp>
        <p:nvSpPr>
          <p:cNvPr id="24" name="02-architecture-repo-1.0:docs"/>
          <p:cNvSpPr txBox="1"/>
          <p:nvPr/>
        </p:nvSpPr>
        <p:spPr>
          <a:xfrm>
            <a:off x="8477488" y="4200525"/>
            <a:ext cx="3253728" cy="640080"/>
          </a:xfrm>
          <a:prstGeom prst="roundRect">
            <a:avLst>
              <a:gd name="adj" fmla="val 8571"/>
            </a:avLst>
          </a:prstGeom>
          <a:solidFill>
            <a:srgbClr val="FFFFFF"/>
          </a:solidFill>
          <a:ln w="15875">
            <a:solidFill>
              <a:srgbClr val="9AA5A8"/>
            </a:solidFill>
            <a:prstDash val="dash"/>
          </a:ln>
        </p:spPr>
        <p:txBody>
          <a:bodyPr wrap="square" lIns="25400" tIns="50800" rIns="50800" bIns="25400" rtlCol="0" anchor="ctr"/>
          <a:lstStyle/>
          <a:p>
            <a:pPr marL="0" indent="0" algn="ctr">
              <a:buNone/>
            </a:pPr>
            <a:r>
              <a:rPr lang="en-US" sz="1090" b="1" dirty="0">
                <a:solidFill>
                  <a:srgbClr val="5F6E71"/>
                </a:solidFill>
                <a:latin typeface="Calibri" pitchFamily="34" charset="0"/>
                <a:ea typeface="Calibri" pitchFamily="34" charset="-122"/>
                <a:cs typeface="Calibri" pitchFamily="34" charset="-120"/>
              </a:rPr>
              <a:t>Docs promise ETA, routing, copilot</a:t>
            </a:r>
            <a:endParaRPr lang="en-US" sz="1090" dirty="0"/>
          </a:p>
          <a:p>
            <a:pPr marL="0" indent="0" algn="ctr">
              <a:buNone/>
            </a:pPr>
            <a:r>
              <a:rPr lang="en-US" sz="1090" dirty="0">
                <a:solidFill>
                  <a:srgbClr val="5F6E71"/>
                </a:solidFill>
                <a:latin typeface="Calibri" pitchFamily="34" charset="0"/>
                <a:ea typeface="Calibri" pitchFamily="34" charset="-122"/>
                <a:cs typeface="Calibri" pitchFamily="34" charset="-120"/>
              </a:rPr>
              <a:t>none of it exists in code</a:t>
            </a:r>
            <a:endParaRPr lang="en-US" sz="1090" dirty="0"/>
          </a:p>
        </p:txBody>
      </p:sp>
      <p:sp>
        <p:nvSpPr>
          <p:cNvPr id="25" name="02-architecture-repo-1.0:legend"/>
          <p:cNvSpPr txBox="1"/>
          <p:nvPr/>
        </p:nvSpPr>
        <p:spPr>
          <a:xfrm>
            <a:off x="8477488" y="5000625"/>
            <a:ext cx="3253728" cy="1480185"/>
          </a:xfrm>
          <a:prstGeom prst="roundRect">
            <a:avLst>
              <a:gd name="adj" fmla="val 3707"/>
            </a:avLst>
          </a:prstGeom>
          <a:solidFill>
            <a:srgbClr val="FFFFFF"/>
          </a:solidFill>
          <a:ln/>
        </p:spPr>
        <p:txBody>
          <a:bodyPr wrap="square" lIns="25400" tIns="50800" rIns="50800" bIns="25400" rtlCol="0" anchor="ctr"/>
          <a:lstStyle/>
          <a:p>
            <a:pPr marL="0" indent="0" algn="l">
              <a:buNone/>
            </a:pPr>
            <a:r>
              <a:rPr lang="en-US" sz="1010" dirty="0">
                <a:solidFill>
                  <a:srgbClr val="41545A"/>
                </a:solidFill>
                <a:latin typeface="Calibri" pitchFamily="34" charset="0"/>
                <a:ea typeface="Calibri" pitchFamily="34" charset="-122"/>
                <a:cs typeface="Calibri" pitchFamily="34" charset="-120"/>
              </a:rPr>
              <a:t>Scale</a:t>
            </a:r>
            <a:endParaRPr lang="en-US" sz="1010" dirty="0"/>
          </a:p>
          <a:p>
            <a:pPr marL="0" indent="0" algn="l">
              <a:buNone/>
            </a:pPr>
            <a:r>
              <a:rPr lang="en-US" sz="1010" dirty="0">
                <a:solidFill>
                  <a:srgbClr val="41545A"/>
                </a:solidFill>
                <a:latin typeface="Calibri" pitchFamily="34" charset="0"/>
                <a:ea typeface="Calibri" pitchFamily="34" charset="-122"/>
                <a:cs typeface="Calibri" pitchFamily="34" charset="-120"/>
              </a:rPr>
              <a:t>About 140 lines of application code and 3</a:t>
            </a:r>
            <a:endParaRPr lang="en-US" sz="1010" dirty="0"/>
          </a:p>
          <a:p>
            <a:pPr marL="0" indent="0" algn="l">
              <a:buNone/>
            </a:pPr>
            <a:r>
              <a:rPr lang="en-US" sz="1010" dirty="0">
                <a:solidFill>
                  <a:srgbClr val="41545A"/>
                </a:solidFill>
                <a:latin typeface="Calibri" pitchFamily="34" charset="0"/>
                <a:ea typeface="Calibri" pitchFamily="34" charset="-122"/>
                <a:cs typeface="Calibri" pitchFamily="34" charset="-120"/>
              </a:rPr>
              <a:t>tests.</a:t>
            </a:r>
            <a:endParaRPr lang="en-US" sz="1010" dirty="0"/>
          </a:p>
          <a:p>
            <a:pPr marL="0" indent="0" algn="l">
              <a:buNone/>
            </a:pPr>
            <a:r>
              <a:rPr lang="en-US" sz="1010" dirty="0">
                <a:solidFill>
                  <a:srgbClr val="41545A"/>
                </a:solidFill>
                <a:latin typeface="Calibri" pitchFamily="34" charset="0"/>
                <a:ea typeface="Calibri" pitchFamily="34" charset="-122"/>
                <a:cs typeface="Calibri" pitchFamily="34" charset="-120"/>
              </a:rPr>
              <a:t>Red: defect confirmed at baseline (62</a:t>
            </a:r>
            <a:endParaRPr lang="en-US" sz="1010" dirty="0"/>
          </a:p>
          <a:p>
            <a:pPr marL="0" indent="0" algn="l">
              <a:buNone/>
            </a:pPr>
            <a:r>
              <a:rPr lang="en-US" sz="1010" dirty="0">
                <a:solidFill>
                  <a:srgbClr val="41545A"/>
                </a:solidFill>
                <a:latin typeface="Calibri" pitchFamily="34" charset="0"/>
                <a:ea typeface="Calibri" pitchFamily="34" charset="-122"/>
                <a:cs typeface="Calibri" pitchFamily="34" charset="-120"/>
              </a:rPr>
              <a:t>findings in all).</a:t>
            </a:r>
            <a:endParaRPr lang="en-US" sz="1010" dirty="0"/>
          </a:p>
          <a:p>
            <a:pPr marL="0" indent="0" algn="l">
              <a:buNone/>
            </a:pPr>
            <a:r>
              <a:rPr lang="en-US" sz="1010" dirty="0">
                <a:solidFill>
                  <a:srgbClr val="41545A"/>
                </a:solidFill>
                <a:latin typeface="Calibri" pitchFamily="34" charset="0"/>
                <a:ea typeface="Calibri" pitchFamily="34" charset="-122"/>
                <a:cs typeface="Calibri" pitchFamily="34" charset="-120"/>
              </a:rPr>
              <a:t>Grey dashed: present, does nothing.</a:t>
            </a:r>
            <a:endParaRPr lang="en-US" sz="1010" dirty="0"/>
          </a:p>
        </p:txBody>
      </p:sp>
      <p:sp>
        <p:nvSpPr>
          <p:cNvPr id="26" name="02-architecture-repo-1.0:edge:caller-&gt;main"/>
          <p:cNvSpPr/>
          <p:nvPr/>
        </p:nvSpPr>
        <p:spPr>
          <a:xfrm flipV="1">
            <a:off x="1832550" y="1833029"/>
            <a:ext cx="458272" cy="19202"/>
          </a:xfrm>
          <a:prstGeom prst="line">
            <a:avLst/>
          </a:prstGeom>
          <a:noFill/>
          <a:ln w="19050">
            <a:solidFill>
              <a:srgbClr val="41545A"/>
            </a:solidFill>
            <a:prstDash val="solid"/>
            <a:tailEnd type="triangle"/>
          </a:ln>
        </p:spPr>
        <p:txBody>
          <a:bodyPr/>
          <a:p/>
        </p:txBody>
      </p:sp>
      <p:sp>
        <p:nvSpPr>
          <p:cNvPr id="27" name="02-architecture-repo-1.0:edge:portal-&gt;main"/>
          <p:cNvSpPr/>
          <p:nvPr/>
        </p:nvSpPr>
        <p:spPr>
          <a:xfrm flipV="1">
            <a:off x="1832550" y="2120265"/>
            <a:ext cx="1335403" cy="528066"/>
          </a:xfrm>
          <a:prstGeom prst="line">
            <a:avLst/>
          </a:prstGeom>
          <a:noFill/>
          <a:ln w="19050">
            <a:solidFill>
              <a:srgbClr val="41545A"/>
            </a:solidFill>
            <a:prstDash val="dash"/>
            <a:tailEnd type="triangle"/>
          </a:ln>
        </p:spPr>
        <p:txBody>
          <a:bodyPr/>
          <a:p/>
        </p:txBody>
      </p:sp>
      <p:sp>
        <p:nvSpPr>
          <p:cNvPr id="28" name="02-architecture-repo-1.0:edge:main-&gt;ai"/>
          <p:cNvSpPr/>
          <p:nvPr/>
        </p:nvSpPr>
        <p:spPr>
          <a:xfrm flipH="1">
            <a:off x="3390674" y="2120265"/>
            <a:ext cx="360201" cy="395249"/>
          </a:xfrm>
          <a:prstGeom prst="line">
            <a:avLst/>
          </a:prstGeom>
          <a:noFill/>
          <a:ln w="19050">
            <a:solidFill>
              <a:srgbClr val="41545A"/>
            </a:solidFill>
            <a:prstDash val="solid"/>
            <a:tailEnd type="triangle"/>
          </a:ln>
        </p:spPr>
        <p:txBody>
          <a:bodyPr/>
          <a:p/>
        </p:txBody>
      </p:sp>
      <p:sp>
        <p:nvSpPr>
          <p:cNvPr id="29" name="02-architecture-repo-1.0:edge:main-&gt;audit"/>
          <p:cNvSpPr/>
          <p:nvPr/>
        </p:nvSpPr>
        <p:spPr>
          <a:xfrm>
            <a:off x="4078081" y="2120265"/>
            <a:ext cx="914" cy="360045"/>
          </a:xfrm>
          <a:prstGeom prst="line">
            <a:avLst/>
          </a:prstGeom>
          <a:noFill/>
          <a:ln w="19050">
            <a:solidFill>
              <a:srgbClr val="41545A"/>
            </a:solidFill>
            <a:prstDash val="solid"/>
            <a:tailEnd type="triangle"/>
          </a:ln>
        </p:spPr>
        <p:txBody>
          <a:bodyPr/>
          <a:p/>
        </p:txBody>
      </p:sp>
      <p:sp>
        <p:nvSpPr>
          <p:cNvPr id="30" name="02-architecture-repo-1.0:edge:main-&gt;dom"/>
          <p:cNvSpPr/>
          <p:nvPr/>
        </p:nvSpPr>
        <p:spPr>
          <a:xfrm>
            <a:off x="4405287" y="2120265"/>
            <a:ext cx="360201" cy="395249"/>
          </a:xfrm>
          <a:prstGeom prst="line">
            <a:avLst/>
          </a:prstGeom>
          <a:noFill/>
          <a:ln w="19050">
            <a:solidFill>
              <a:srgbClr val="41545A"/>
            </a:solidFill>
            <a:prstDash val="solid"/>
            <a:tailEnd type="triangle"/>
          </a:ln>
        </p:spPr>
        <p:txBody>
          <a:bodyPr/>
          <a:p/>
        </p:txBody>
      </p:sp>
      <p:sp>
        <p:nvSpPr>
          <p:cNvPr id="31" name="02-architecture-repo-1.0:edge:dom-&gt;data"/>
          <p:cNvSpPr/>
          <p:nvPr/>
        </p:nvSpPr>
        <p:spPr>
          <a:xfrm flipV="1">
            <a:off x="5865340" y="2755544"/>
            <a:ext cx="458272" cy="165621"/>
          </a:xfrm>
          <a:prstGeom prst="line">
            <a:avLst/>
          </a:prstGeom>
          <a:noFill/>
          <a:ln w="19050">
            <a:solidFill>
              <a:srgbClr val="41545A"/>
            </a:solidFill>
            <a:prstDash val="solid"/>
            <a:tailEnd type="triangle"/>
          </a:ln>
        </p:spPr>
        <p:txBody>
          <a:bodyPr/>
          <a:p/>
        </p:txBody>
      </p:sp>
      <p:sp>
        <p:nvSpPr>
          <p:cNvPr id="32" name="02-architecture-repo-1.0:edge:l_leg-&gt;defects"/>
          <p:cNvSpPr/>
          <p:nvPr/>
        </p:nvSpPr>
        <p:spPr>
          <a:xfrm flipV="1">
            <a:off x="6048649" y="4752594"/>
            <a:ext cx="274963" cy="111214"/>
          </a:xfrm>
          <a:prstGeom prst="line">
            <a:avLst/>
          </a:prstGeom>
          <a:noFill/>
          <a:ln w="19050">
            <a:solidFill>
              <a:srgbClr val="41545A"/>
            </a:solidFill>
            <a:prstDash val="solid"/>
            <a:tailEnd type="triangle"/>
          </a:ln>
        </p:spPr>
        <p:txBody>
          <a:bodyPr/>
          <a:p/>
        </p:txBody>
      </p:sp>
      <p:sp>
        <p:nvSpPr>
          <p:cNvPr id="4"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01  THE STARTING POINT</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62 findings, five root causes</a:t>
            </a:r>
            <a:endParaRPr lang="en-US" sz="2800" dirty="0"/>
          </a:p>
        </p:txBody>
      </p:sp>
      <p:graphicFrame>
        <p:nvGraphicFramePr>
          <p:cNvPr id="5" name="Chart 0"/>
          <p:cNvGraphicFramePr/>
          <p:nvPr/>
        </p:nvGraphicFramePr>
        <p:xfrm>
          <a:off x="457200" y="1188720"/>
          <a:ext cx="56692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6400800" y="1188720"/>
            <a:ext cx="5349240" cy="886968"/>
          </a:xfrm>
          <a:prstGeom prst="roundRect">
            <a:avLst>
              <a:gd name="adj" fmla="val 8247"/>
            </a:avLst>
          </a:prstGeom>
          <a:solidFill>
            <a:srgbClr val="E8F1F2"/>
          </a:solidFill>
          <a:ln/>
        </p:spPr>
        <p:txBody>
          <a:bodyPr/>
          <a:p/>
        </p:txBody>
      </p:sp>
      <p:sp>
        <p:nvSpPr>
          <p:cNvPr id="7" name="Text 3"/>
          <p:cNvSpPr txBox="1"/>
          <p:nvPr/>
        </p:nvSpPr>
        <p:spPr>
          <a:xfrm>
            <a:off x="6583680" y="1325880"/>
            <a:ext cx="4983480" cy="612648"/>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RC-1 No governance by design</a:t>
            </a:r>
            <a:endParaRPr lang="en-US" sz="1700" dirty="0"/>
          </a:p>
          <a:p>
            <a:pPr marL="0" indent="0">
              <a:spcAft>
                <a:spcPts val="400"/>
              </a:spcAft>
              <a:buNone/>
            </a:pPr>
            <a:r>
              <a:rPr lang="en-US" sz="1400" dirty="0">
                <a:solidFill>
                  <a:srgbClr val="1B2A2F"/>
                </a:solidFill>
              </a:rPr>
              <a:t>ADR-0001 kept legacy beside the API, never revisited (plausible; owner not interviewed)</a:t>
            </a:r>
            <a:endParaRPr lang="en-US" sz="1700" dirty="0"/>
          </a:p>
        </p:txBody>
      </p:sp>
      <p:sp>
        <p:nvSpPr>
          <p:cNvPr id="8" name="Shape 4"/>
          <p:cNvSpPr/>
          <p:nvPr/>
        </p:nvSpPr>
        <p:spPr>
          <a:xfrm>
            <a:off x="6400800" y="2167128"/>
            <a:ext cx="5349240" cy="886968"/>
          </a:xfrm>
          <a:prstGeom prst="roundRect">
            <a:avLst>
              <a:gd name="adj" fmla="val 8247"/>
            </a:avLst>
          </a:prstGeom>
          <a:solidFill>
            <a:srgbClr val="E8F1F2"/>
          </a:solidFill>
          <a:ln/>
        </p:spPr>
        <p:txBody>
          <a:bodyPr/>
          <a:p/>
        </p:txBody>
      </p:sp>
      <p:sp>
        <p:nvSpPr>
          <p:cNvPr id="9" name="Text 5"/>
          <p:cNvSpPr txBox="1"/>
          <p:nvPr/>
        </p:nvSpPr>
        <p:spPr>
          <a:xfrm>
            <a:off x="6583680" y="2304288"/>
            <a:ext cx="4983480" cy="612648"/>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RC-2 Identity not modelled</a:t>
            </a:r>
            <a:endParaRPr lang="en-US" sz="1700" dirty="0"/>
          </a:p>
          <a:p>
            <a:pPr marL="0" indent="0">
              <a:spcAft>
                <a:spcPts val="400"/>
              </a:spcAft>
              <a:buNone/>
            </a:pPr>
            <a:r>
              <a:rPr lang="en-US" sz="1400" dirty="0">
                <a:solidFill>
                  <a:srgbClr val="1B2A2F"/>
                </a:solidFill>
              </a:rPr>
              <a:t>role from a header; lookup by any column</a:t>
            </a:r>
            <a:endParaRPr lang="en-US" sz="1700" dirty="0"/>
          </a:p>
        </p:txBody>
      </p:sp>
      <p:sp>
        <p:nvSpPr>
          <p:cNvPr id="10" name="Shape 6"/>
          <p:cNvSpPr/>
          <p:nvPr/>
        </p:nvSpPr>
        <p:spPr>
          <a:xfrm>
            <a:off x="6400800" y="3145536"/>
            <a:ext cx="5349240" cy="886968"/>
          </a:xfrm>
          <a:prstGeom prst="roundRect">
            <a:avLst>
              <a:gd name="adj" fmla="val 8247"/>
            </a:avLst>
          </a:prstGeom>
          <a:solidFill>
            <a:srgbClr val="E8F1F2"/>
          </a:solidFill>
          <a:ln/>
        </p:spPr>
        <p:txBody>
          <a:bodyPr/>
          <a:p/>
        </p:txBody>
      </p:sp>
      <p:sp>
        <p:nvSpPr>
          <p:cNvPr id="11" name="Text 7"/>
          <p:cNvSpPr txBox="1"/>
          <p:nvPr/>
        </p:nvSpPr>
        <p:spPr>
          <a:xfrm>
            <a:off x="6583680" y="3282696"/>
            <a:ext cx="4983480" cy="612648"/>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RC-3 No data contracts</a:t>
            </a:r>
            <a:endParaRPr lang="en-US" sz="1700" dirty="0"/>
          </a:p>
          <a:p>
            <a:pPr marL="0" indent="0">
              <a:spcAft>
                <a:spcPts val="400"/>
              </a:spcAft>
              <a:buNone/>
            </a:pPr>
            <a:r>
              <a:rPr lang="en-US" sz="1400" dirty="0">
                <a:solidFill>
                  <a:srgbClr val="1B2A2F"/>
                </a:solidFill>
              </a:rPr>
              <a:t>defects in all six datasets, counted and discarded</a:t>
            </a:r>
            <a:endParaRPr lang="en-US" sz="1700" dirty="0"/>
          </a:p>
        </p:txBody>
      </p:sp>
      <p:sp>
        <p:nvSpPr>
          <p:cNvPr id="12" name="Shape 8"/>
          <p:cNvSpPr/>
          <p:nvPr/>
        </p:nvSpPr>
        <p:spPr>
          <a:xfrm>
            <a:off x="6400800" y="4123944"/>
            <a:ext cx="5349240" cy="886968"/>
          </a:xfrm>
          <a:prstGeom prst="roundRect">
            <a:avLst>
              <a:gd name="adj" fmla="val 8247"/>
            </a:avLst>
          </a:prstGeom>
          <a:solidFill>
            <a:srgbClr val="E8F1F2"/>
          </a:solidFill>
          <a:ln/>
        </p:spPr>
        <p:txBody>
          <a:bodyPr/>
          <a:p/>
        </p:txBody>
      </p:sp>
      <p:sp>
        <p:nvSpPr>
          <p:cNvPr id="13" name="Text 9"/>
          <p:cNvSpPr txBox="1"/>
          <p:nvPr/>
        </p:nvSpPr>
        <p:spPr>
          <a:xfrm>
            <a:off x="6583680" y="4261104"/>
            <a:ext cx="4983480" cy="612648"/>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RC-4 AI unguarded by design</a:t>
            </a:r>
            <a:endParaRPr lang="en-US" sz="1700" dirty="0"/>
          </a:p>
          <a:p>
            <a:pPr marL="0" indent="0">
              <a:spcAft>
                <a:spcPts val="400"/>
              </a:spcAft>
              <a:buNone/>
            </a:pPr>
            <a:r>
              <a:rPr lang="en-US" sz="1400" dirty="0">
                <a:solidFill>
                  <a:srgbClr val="1B2A2F"/>
                </a:solidFill>
              </a:rPr>
              <a:t>no auth, no schema, guardrail not enforced</a:t>
            </a:r>
            <a:endParaRPr lang="en-US" sz="1700" dirty="0"/>
          </a:p>
        </p:txBody>
      </p:sp>
      <p:sp>
        <p:nvSpPr>
          <p:cNvPr id="14" name="Shape 10"/>
          <p:cNvSpPr/>
          <p:nvPr/>
        </p:nvSpPr>
        <p:spPr>
          <a:xfrm>
            <a:off x="6400800" y="5102352"/>
            <a:ext cx="5349240" cy="886968"/>
          </a:xfrm>
          <a:prstGeom prst="roundRect">
            <a:avLst>
              <a:gd name="adj" fmla="val 8247"/>
            </a:avLst>
          </a:prstGeom>
          <a:solidFill>
            <a:srgbClr val="E8F1F2"/>
          </a:solidFill>
          <a:ln/>
        </p:spPr>
        <p:txBody>
          <a:bodyPr/>
          <a:p/>
        </p:txBody>
      </p:sp>
      <p:sp>
        <p:nvSpPr>
          <p:cNvPr id="15" name="Text 11"/>
          <p:cNvSpPr txBox="1"/>
          <p:nvPr/>
        </p:nvSpPr>
        <p:spPr>
          <a:xfrm>
            <a:off x="6583680" y="5239512"/>
            <a:ext cx="4983480" cy="612648"/>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RC-5 No evidence by-product</a:t>
            </a:r>
            <a:endParaRPr lang="en-US" sz="1700" dirty="0"/>
          </a:p>
          <a:p>
            <a:pPr marL="0" indent="0">
              <a:spcAft>
                <a:spcPts val="400"/>
              </a:spcAft>
              <a:buNone/>
            </a:pPr>
            <a:r>
              <a:rPr lang="en-US" sz="1400" dirty="0">
                <a:solidFill>
                  <a:srgbClr val="1B2A2F"/>
                </a:solidFill>
              </a:rPr>
              <a:t>CI ran nothing useful; quick-start failed</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txBody>
          <a:bodyPr/>
          <a:p/>
        </p:txBody>
      </p:sp>
      <p:sp>
        <p:nvSpPr>
          <p:cNvPr id="3" name="Text 1"/>
          <p:cNvSpPr txBox="1"/>
          <p:nvPr/>
        </p:nvSpPr>
        <p:spPr>
          <a:xfrm>
            <a:off x="731520" y="1920240"/>
            <a:ext cx="2011680" cy="2011680"/>
          </a:xfrm>
          <a:prstGeom prst="rect">
            <a:avLst/>
          </a:prstGeom>
          <a:noFill/>
          <a:ln/>
        </p:spPr>
        <p:txBody>
          <a:bodyPr wrap="square" lIns="0" tIns="0" rIns="0" bIns="0" rtlCol="0" anchor="ctr"/>
          <a:lstStyle/>
          <a:p>
            <a:pPr marL="0" indent="0" algn="ctr">
              <a:buNone/>
            </a:pPr>
            <a:r>
              <a:rPr lang="en-US" sz="6000" b="1" dirty="0">
                <a:solidFill>
                  <a:srgbClr val="0B3C49"/>
                </a:solidFill>
              </a:rPr>
              <a:t>02</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marL="0" indent="0">
              <a:buNone/>
            </a:pPr>
            <a:r>
              <a:rPr lang="en-US" sz="4000" b="1" dirty="0">
                <a:solidFill>
                  <a:srgbClr val="FFFFFF"/>
                </a:solidFill>
              </a:rPr>
              <a:t>What we built and proved</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marL="0" indent="0">
              <a:buNone/>
            </a:pPr>
            <a:r>
              <a:rPr lang="en-US" sz="2000" dirty="0">
                <a:solidFill>
                  <a:srgbClr val="CFE3E7"/>
                </a:solidFill>
              </a:rPr>
              <a:t>One control point, AI behind a gateway, and the same attacks run twice</a:t>
            </a:r>
            <a:endParaRPr lang="en-US" sz="2000" dirty="0"/>
          </a:p>
        </p:txBody>
      </p:sp>
      <p:sp>
        <p:nvSpPr>
          <p:cNvPr id="6" name="Shape 4"/>
          <p:cNvSpPr/>
          <p:nvPr/>
        </p:nvSpPr>
        <p:spPr>
          <a:xfrm>
            <a:off x="9692640" y="4754880"/>
            <a:ext cx="3291840" cy="3291840"/>
          </a:xfrm>
          <a:prstGeom prst="ellipse">
            <a:avLst/>
          </a:prstGeom>
          <a:solidFill>
            <a:srgbClr val="134D5C"/>
          </a:solidFill>
          <a:ln/>
        </p:spPr>
        <p:txBody>
          <a:bodyPr/>
          <a:p/>
        </p:txBody>
      </p:sp>
      <p:sp>
        <p:nvSpPr>
          <p:cNvPr id="7" name="Shape 5"/>
          <p:cNvSpPr/>
          <p:nvPr/>
        </p:nvSpPr>
        <p:spPr>
          <a:xfrm>
            <a:off x="8869680" y="5760720"/>
            <a:ext cx="1463040" cy="1463040"/>
          </a:xfrm>
          <a:prstGeom prst="ellipse">
            <a:avLst/>
          </a:prstGeom>
          <a:solidFill>
            <a:srgbClr val="1F7A8C">
              <a:alpha val="60000"/>
            </a:srgbClr>
          </a:solidFill>
          <a:ln/>
        </p:spPr>
        <p:txBody>
          <a:body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02  WHAT WE BUILT AND PROVED</a:t>
            </a:r>
            <a:endParaRPr lang="en-US" sz="1100" dirty="0"/>
          </a:p>
        </p:txBody>
      </p:sp>
      <p:sp>
        <p:nvSpPr>
          <p:cNvPr id="3" name="Text 0"/>
          <p:cNvSpPr>
            <a:spLocks noGrp="1"/>
          </p:cNvSpPr>
          <p:nvPr>
            <p:ph type="title" idx="100" hasCustomPrompt="1"/>
          </p:nvPr>
        </p:nvSpPr>
        <p:spPr>
          <a:xfrm>
            <a:off x="457200" y="329184"/>
            <a:ext cx="10607040" cy="548640"/>
          </a:xfrm>
          <a:prstGeom prst="rect">
            <a:avLst/>
          </a:prstGeom>
          <a:noFill/>
          <a:ln/>
        </p:spPr>
        <p:txBody>
          <a:bodyPr wrap="square" lIns="0" tIns="0" rIns="0" bIns="0" rtlCol="0" anchor="ctr"/>
          <a:lstStyle/>
          <a:p>
            <a:pPr marL="0" indent="0" algn="l">
              <a:buNone/>
            </a:pPr>
            <a:r>
              <a:rPr lang="en-US" sz="2500" b="1" dirty="0">
                <a:solidFill>
                  <a:schemeClr val="tx2"/>
                </a:solidFill>
              </a:rPr>
              <a:t>Repo 2.0: one control point, ports, and AI behind a gateway</a:t>
            </a:r>
            <a:endParaRPr lang="en-US" sz="2500" dirty="0"/>
          </a:p>
        </p:txBody>
      </p:sp>
      <p:sp>
        <p:nvSpPr>
          <p:cNvPr id="5" name="03-architecture-repo-2.0:l_call"/>
          <p:cNvSpPr txBox="1"/>
          <p:nvPr/>
        </p:nvSpPr>
        <p:spPr>
          <a:xfrm>
            <a:off x="320254" y="1040130"/>
            <a:ext cx="1374815" cy="3760470"/>
          </a:xfrm>
          <a:prstGeom prst="roundRect">
            <a:avLst>
              <a:gd name="adj" fmla="val 1995"/>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Callers</a:t>
            </a:r>
            <a:endParaRPr lang="en-US" sz="1160" dirty="0"/>
          </a:p>
        </p:txBody>
      </p:sp>
      <p:sp>
        <p:nvSpPr>
          <p:cNvPr id="6" name="03-architecture-repo-2.0:ops"/>
          <p:cNvSpPr txBox="1"/>
          <p:nvPr/>
        </p:nvSpPr>
        <p:spPr>
          <a:xfrm>
            <a:off x="430239" y="1440180"/>
            <a:ext cx="1154844"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Operations</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view</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/ops,</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read-only</a:t>
            </a:r>
            <a:endParaRPr lang="en-US" sz="1010" dirty="0"/>
          </a:p>
        </p:txBody>
      </p:sp>
      <p:sp>
        <p:nvSpPr>
          <p:cNvPr id="7" name="03-architecture-repo-2.0:cli"/>
          <p:cNvSpPr txBox="1"/>
          <p:nvPr/>
        </p:nvSpPr>
        <p:spPr>
          <a:xfrm>
            <a:off x="430239" y="2560320"/>
            <a:ext cx="1154844"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API client</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bearer token:</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who, role,</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purpose</a:t>
            </a:r>
            <a:endParaRPr lang="en-US" sz="1010" dirty="0"/>
          </a:p>
        </p:txBody>
      </p:sp>
      <p:sp>
        <p:nvSpPr>
          <p:cNvPr id="8" name="03-architecture-repo-2.0:l_api"/>
          <p:cNvSpPr txBox="1"/>
          <p:nvPr/>
        </p:nvSpPr>
        <p:spPr>
          <a:xfrm>
            <a:off x="1805054" y="1040130"/>
            <a:ext cx="1833086" cy="3760470"/>
          </a:xfrm>
          <a:prstGeom prst="roundRect">
            <a:avLst>
              <a:gd name="adj" fmla="val 1496"/>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API layer</a:t>
            </a:r>
            <a:endParaRPr lang="en-US" sz="1160" dirty="0"/>
          </a:p>
        </p:txBody>
      </p:sp>
      <p:sp>
        <p:nvSpPr>
          <p:cNvPr id="9" name="03-architecture-repo-2.0:corr"/>
          <p:cNvSpPr txBox="1"/>
          <p:nvPr/>
        </p:nvSpPr>
        <p:spPr>
          <a:xfrm>
            <a:off x="1924205" y="2880360"/>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Correlation id</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on every request</a:t>
            </a:r>
            <a:endParaRPr lang="en-US" sz="1010" dirty="0"/>
          </a:p>
        </p:txBody>
      </p:sp>
      <p:sp>
        <p:nvSpPr>
          <p:cNvPr id="10" name="03-architecture-repo-2.0:tok"/>
          <p:cNvSpPr txBox="1"/>
          <p:nvPr/>
        </p:nvSpPr>
        <p:spPr>
          <a:xfrm>
            <a:off x="1924205" y="2120265"/>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Token check</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HS256; JWKS stub</a:t>
            </a:r>
            <a:endParaRPr lang="en-US" sz="1010" dirty="0"/>
          </a:p>
        </p:txBody>
      </p:sp>
      <p:sp>
        <p:nvSpPr>
          <p:cNvPr id="11" name="03-architecture-repo-2.0:routes"/>
          <p:cNvSpPr txBox="1"/>
          <p:nvPr/>
        </p:nvSpPr>
        <p:spPr>
          <a:xfrm>
            <a:off x="1924205" y="1360170"/>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Routes</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10 operations</a:t>
            </a:r>
            <a:endParaRPr lang="en-US" sz="1010" dirty="0"/>
          </a:p>
        </p:txBody>
      </p:sp>
      <p:sp>
        <p:nvSpPr>
          <p:cNvPr id="12" name="03-architecture-repo-2.0:err"/>
          <p:cNvSpPr txBox="1"/>
          <p:nvPr/>
        </p:nvSpPr>
        <p:spPr>
          <a:xfrm>
            <a:off x="1924205" y="3640455"/>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Error shape</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no internals leak</a:t>
            </a:r>
            <a:endParaRPr lang="en-US" sz="1010" dirty="0"/>
          </a:p>
        </p:txBody>
      </p:sp>
      <p:sp>
        <p:nvSpPr>
          <p:cNvPr id="13" name="03-architecture-repo-2.0:l_ctl"/>
          <p:cNvSpPr txBox="1"/>
          <p:nvPr/>
        </p:nvSpPr>
        <p:spPr>
          <a:xfrm>
            <a:off x="3748126" y="1040130"/>
            <a:ext cx="2016395" cy="3760470"/>
          </a:xfrm>
          <a:prstGeom prst="roundRect">
            <a:avLst>
              <a:gd name="adj" fmla="val 1360"/>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Control point</a:t>
            </a:r>
            <a:endParaRPr lang="en-US" sz="1160" dirty="0"/>
          </a:p>
        </p:txBody>
      </p:sp>
      <p:sp>
        <p:nvSpPr>
          <p:cNvPr id="14" name="03-architecture-repo-2.0:appr"/>
          <p:cNvSpPr txBox="1"/>
          <p:nvPr/>
        </p:nvSpPr>
        <p:spPr>
          <a:xfrm>
            <a:off x="3867276" y="3920490"/>
            <a:ext cx="1778094"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Approvals</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approve or reject, once</a:t>
            </a:r>
            <a:endParaRPr lang="en-US" sz="1010" dirty="0"/>
          </a:p>
        </p:txBody>
      </p:sp>
      <p:sp>
        <p:nvSpPr>
          <p:cNvPr id="15" name="03-architecture-repo-2.0:key"/>
          <p:cNvSpPr txBox="1"/>
          <p:nvPr/>
        </p:nvSpPr>
        <p:spPr>
          <a:xfrm>
            <a:off x="3867276" y="2560320"/>
            <a:ext cx="1778094" cy="560070"/>
          </a:xfrm>
          <a:prstGeom prst="roundRect">
            <a:avLst>
              <a:gd name="adj" fmla="val 9796"/>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Key pattern check</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else 422</a:t>
            </a:r>
            <a:endParaRPr lang="en-US" sz="1010" dirty="0"/>
          </a:p>
        </p:txBody>
      </p:sp>
      <p:sp>
        <p:nvSpPr>
          <p:cNvPr id="16" name="03-architecture-repo-2.0:rate"/>
          <p:cNvSpPr txBox="1"/>
          <p:nvPr/>
        </p:nvSpPr>
        <p:spPr>
          <a:xfrm>
            <a:off x="3867276" y="3240405"/>
            <a:ext cx="1778094" cy="560070"/>
          </a:xfrm>
          <a:prstGeom prst="roundRect">
            <a:avLst>
              <a:gd name="adj" fmla="val 9796"/>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Rate limit</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else 429</a:t>
            </a:r>
            <a:endParaRPr lang="en-US" sz="1010" dirty="0"/>
          </a:p>
        </p:txBody>
      </p:sp>
      <p:sp>
        <p:nvSpPr>
          <p:cNvPr id="17" name="03-architecture-repo-2.0:pol"/>
          <p:cNvSpPr txBox="1"/>
          <p:nvPr/>
        </p:nvSpPr>
        <p:spPr>
          <a:xfrm>
            <a:off x="3867276" y="1360170"/>
            <a:ext cx="1778094" cy="1080135"/>
          </a:xfrm>
          <a:prstGeom prst="roundRect">
            <a:avLst>
              <a:gd name="adj" fmla="val 5079"/>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010" b="1" dirty="0">
                <a:solidFill>
                  <a:srgbClr val="FFFFFF"/>
                </a:solidFill>
                <a:latin typeface="Calibri" pitchFamily="34" charset="0"/>
                <a:ea typeface="Calibri" pitchFamily="34" charset="-122"/>
                <a:cs typeface="Calibri" pitchFamily="34" charset="-120"/>
              </a:rPr>
              <a:t>Policy engine</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deny by default;</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persona, entity,</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purpose; rules from the</a:t>
            </a:r>
            <a:endParaRPr lang="en-US" sz="1010" dirty="0"/>
          </a:p>
          <a:p>
            <a:pPr marL="0" indent="0" algn="ctr">
              <a:buNone/>
            </a:pPr>
            <a:r>
              <a:rPr lang="en-US" sz="1010" dirty="0">
                <a:solidFill>
                  <a:srgbClr val="FFFFFF"/>
                </a:solidFill>
                <a:latin typeface="Calibri" pitchFamily="34" charset="0"/>
                <a:ea typeface="Calibri" pitchFamily="34" charset="-122"/>
                <a:cs typeface="Calibri" pitchFamily="34" charset="-120"/>
              </a:rPr>
              <a:t>semantic layer</a:t>
            </a:r>
            <a:endParaRPr lang="en-US" sz="1010" dirty="0"/>
          </a:p>
        </p:txBody>
      </p:sp>
      <p:sp>
        <p:nvSpPr>
          <p:cNvPr id="18" name="03-architecture-repo-2.0:l_ai"/>
          <p:cNvSpPr txBox="1"/>
          <p:nvPr/>
        </p:nvSpPr>
        <p:spPr>
          <a:xfrm>
            <a:off x="5874506" y="1040130"/>
            <a:ext cx="2199703" cy="3760470"/>
          </a:xfrm>
          <a:prstGeom prst="roundRect">
            <a:avLst>
              <a:gd name="adj" fmla="val 1247"/>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AI gateway (suggest-only)</a:t>
            </a:r>
            <a:endParaRPr lang="en-US" sz="1160" dirty="0"/>
          </a:p>
        </p:txBody>
      </p:sp>
      <p:sp>
        <p:nvSpPr>
          <p:cNvPr id="19" name="03-architecture-repo-2.0:ctx"/>
          <p:cNvSpPr txBox="1"/>
          <p:nvPr/>
        </p:nvSpPr>
        <p:spPr>
          <a:xfrm>
            <a:off x="5993656" y="1360170"/>
            <a:ext cx="1961402"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Context</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allowed fields only; text</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sanitised</a:t>
            </a:r>
            <a:endParaRPr lang="en-US" sz="1010" dirty="0"/>
          </a:p>
        </p:txBody>
      </p:sp>
      <p:sp>
        <p:nvSpPr>
          <p:cNvPr id="20" name="03-architecture-repo-2.0:prod"/>
          <p:cNvSpPr txBox="1"/>
          <p:nvPr/>
        </p:nvSpPr>
        <p:spPr>
          <a:xfrm>
            <a:off x="5993656" y="2200275"/>
            <a:ext cx="1961402"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Producer</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deterministic; model slot</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empty</a:t>
            </a:r>
            <a:endParaRPr lang="en-US" sz="1010" dirty="0"/>
          </a:p>
        </p:txBody>
      </p:sp>
      <p:sp>
        <p:nvSpPr>
          <p:cNvPr id="21" name="03-architecture-repo-2.0:chk"/>
          <p:cNvSpPr txBox="1"/>
          <p:nvPr/>
        </p:nvSpPr>
        <p:spPr>
          <a:xfrm>
            <a:off x="5993656" y="3040380"/>
            <a:ext cx="1961402"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Output checks</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schema, leaks, confidence</a:t>
            </a:r>
            <a:endParaRPr lang="en-US" sz="1010" dirty="0"/>
          </a:p>
        </p:txBody>
      </p:sp>
      <p:sp>
        <p:nvSpPr>
          <p:cNvPr id="22" name="03-architecture-repo-2.0:fb"/>
          <p:cNvSpPr txBox="1"/>
          <p:nvPr/>
        </p:nvSpPr>
        <p:spPr>
          <a:xfrm>
            <a:off x="5993656" y="3800475"/>
            <a:ext cx="1961402"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Fallback, then abstain</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never an invalid answer</a:t>
            </a:r>
            <a:endParaRPr lang="en-US" sz="1010" dirty="0"/>
          </a:p>
        </p:txBody>
      </p:sp>
      <p:sp>
        <p:nvSpPr>
          <p:cNvPr id="23" name="03-architecture-repo-2.0:l_port"/>
          <p:cNvSpPr txBox="1"/>
          <p:nvPr/>
        </p:nvSpPr>
        <p:spPr>
          <a:xfrm>
            <a:off x="8184194" y="1040130"/>
            <a:ext cx="3684503" cy="3760470"/>
          </a:xfrm>
          <a:prstGeom prst="roundRect">
            <a:avLst>
              <a:gd name="adj" fmla="val 745"/>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Ports and adapters</a:t>
            </a:r>
            <a:endParaRPr lang="en-US" sz="1160" dirty="0"/>
          </a:p>
        </p:txBody>
      </p:sp>
      <p:sp>
        <p:nvSpPr>
          <p:cNvPr id="24" name="03-architecture-repo-2.0:cur"/>
          <p:cNvSpPr txBox="1"/>
          <p:nvPr/>
        </p:nvSpPr>
        <p:spPr>
          <a:xfrm>
            <a:off x="8303345" y="1360170"/>
            <a:ext cx="1668108"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Curated data</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validated; fixture</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untouched</a:t>
            </a:r>
            <a:endParaRPr lang="en-US" sz="1010" dirty="0"/>
          </a:p>
        </p:txBody>
      </p:sp>
      <p:sp>
        <p:nvSpPr>
          <p:cNvPr id="25" name="03-architecture-repo-2.0:aud"/>
          <p:cNvSpPr txBox="1"/>
          <p:nvPr/>
        </p:nvSpPr>
        <p:spPr>
          <a:xfrm>
            <a:off x="10081439" y="1360170"/>
            <a:ext cx="1668108"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Audit chain</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hash-linked; verify</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endpoint</a:t>
            </a:r>
            <a:endParaRPr lang="en-US" sz="1010" dirty="0"/>
          </a:p>
        </p:txBody>
      </p:sp>
      <p:sp>
        <p:nvSpPr>
          <p:cNvPr id="26" name="03-architecture-repo-2.0:met"/>
          <p:cNvSpPr txBox="1"/>
          <p:nvPr/>
        </p:nvSpPr>
        <p:spPr>
          <a:xfrm>
            <a:off x="8303345" y="2240280"/>
            <a:ext cx="1668108"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Metrics, KPIs</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K1 to K10</a:t>
            </a:r>
            <a:endParaRPr lang="en-US" sz="1010" dirty="0"/>
          </a:p>
        </p:txBody>
      </p:sp>
      <p:sp>
        <p:nvSpPr>
          <p:cNvPr id="27" name="03-architecture-repo-2.0:saga"/>
          <p:cNvSpPr txBox="1"/>
          <p:nvPr/>
        </p:nvSpPr>
        <p:spPr>
          <a:xfrm>
            <a:off x="10081439" y="2240280"/>
            <a:ext cx="1668108"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Carrier saga</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book, confirm,</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compensate</a:t>
            </a:r>
            <a:endParaRPr lang="en-US" sz="1010" dirty="0"/>
          </a:p>
        </p:txBody>
      </p:sp>
      <p:sp>
        <p:nvSpPr>
          <p:cNvPr id="28" name="03-architecture-repo-2.0:idp"/>
          <p:cNvSpPr txBox="1"/>
          <p:nvPr/>
        </p:nvSpPr>
        <p:spPr>
          <a:xfrm>
            <a:off x="8303345" y="3000375"/>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marL="0" indent="0" algn="ctr">
              <a:buNone/>
            </a:pPr>
            <a:r>
              <a:rPr lang="en-US" sz="1010" b="1" dirty="0">
                <a:solidFill>
                  <a:srgbClr val="5F6E71"/>
                </a:solidFill>
                <a:latin typeface="Calibri" pitchFamily="34" charset="0"/>
                <a:ea typeface="Calibri" pitchFamily="34" charset="-122"/>
                <a:cs typeface="Calibri" pitchFamily="34" charset="-120"/>
              </a:rPr>
              <a:t>Identity provider</a:t>
            </a:r>
            <a:endParaRPr lang="en-US" sz="1010" dirty="0"/>
          </a:p>
        </p:txBody>
      </p:sp>
      <p:sp>
        <p:nvSpPr>
          <p:cNvPr id="29" name="03-architecture-repo-2.0:mdl"/>
          <p:cNvSpPr txBox="1"/>
          <p:nvPr/>
        </p:nvSpPr>
        <p:spPr>
          <a:xfrm>
            <a:off x="10081439" y="3000375"/>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marL="0" indent="0" algn="ctr">
              <a:buNone/>
            </a:pPr>
            <a:r>
              <a:rPr lang="en-US" sz="1010" b="1" dirty="0">
                <a:solidFill>
                  <a:srgbClr val="5F6E71"/>
                </a:solidFill>
                <a:latin typeface="Calibri" pitchFamily="34" charset="0"/>
                <a:ea typeface="Calibri" pitchFamily="34" charset="-122"/>
                <a:cs typeface="Calibri" pitchFamily="34" charset="-120"/>
              </a:rPr>
              <a:t>Real AI model</a:t>
            </a:r>
            <a:endParaRPr lang="en-US" sz="1010" dirty="0"/>
          </a:p>
        </p:txBody>
      </p:sp>
      <p:sp>
        <p:nvSpPr>
          <p:cNvPr id="30" name="03-architecture-repo-2.0:plat"/>
          <p:cNvSpPr txBox="1"/>
          <p:nvPr/>
        </p:nvSpPr>
        <p:spPr>
          <a:xfrm>
            <a:off x="8303345" y="3600450"/>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marL="0" indent="0" algn="ctr">
              <a:buNone/>
            </a:pPr>
            <a:r>
              <a:rPr lang="en-US" sz="1010" b="1" dirty="0">
                <a:solidFill>
                  <a:srgbClr val="5F6E71"/>
                </a:solidFill>
                <a:latin typeface="Calibri" pitchFamily="34" charset="0"/>
                <a:ea typeface="Calibri" pitchFamily="34" charset="-122"/>
                <a:cs typeface="Calibri" pitchFamily="34" charset="-120"/>
              </a:rPr>
              <a:t>Platform, IaC</a:t>
            </a:r>
            <a:endParaRPr lang="en-US" sz="1010" dirty="0"/>
          </a:p>
        </p:txBody>
      </p:sp>
      <p:sp>
        <p:nvSpPr>
          <p:cNvPr id="31" name="03-architecture-repo-2.0:trc"/>
          <p:cNvSpPr txBox="1"/>
          <p:nvPr/>
        </p:nvSpPr>
        <p:spPr>
          <a:xfrm>
            <a:off x="10081439" y="3600450"/>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marL="0" indent="0" algn="ctr">
              <a:buNone/>
            </a:pPr>
            <a:r>
              <a:rPr lang="en-US" sz="1010" b="1" dirty="0">
                <a:solidFill>
                  <a:srgbClr val="5F6E71"/>
                </a:solidFill>
                <a:latin typeface="Calibri" pitchFamily="34" charset="0"/>
                <a:ea typeface="Calibri" pitchFamily="34" charset="-122"/>
                <a:cs typeface="Calibri" pitchFamily="34" charset="-120"/>
              </a:rPr>
              <a:t>Tracing collector</a:t>
            </a:r>
            <a:endParaRPr lang="en-US" sz="1010" dirty="0"/>
          </a:p>
        </p:txBody>
      </p:sp>
      <p:sp>
        <p:nvSpPr>
          <p:cNvPr id="32" name="03-architecture-repo-2.0:leg"/>
          <p:cNvSpPr txBox="1"/>
          <p:nvPr/>
        </p:nvSpPr>
        <p:spPr>
          <a:xfrm>
            <a:off x="8303345" y="4160520"/>
            <a:ext cx="3446202" cy="480060"/>
          </a:xfrm>
          <a:prstGeom prst="roundRect">
            <a:avLst>
              <a:gd name="adj" fmla="val 11429"/>
            </a:avLst>
          </a:prstGeom>
          <a:solidFill>
            <a:srgbClr val="FFFFFF"/>
          </a:solidFill>
          <a:ln/>
        </p:spPr>
        <p:txBody>
          <a:bodyPr wrap="square" lIns="25400" tIns="50800" rIns="50800" bIns="25400" rtlCol="0" anchor="ctr"/>
          <a:lstStyle/>
          <a:p>
            <a:pPr marL="0" indent="0" algn="ctr">
              <a:buNone/>
            </a:pPr>
            <a:r>
              <a:rPr lang="en-US" sz="940" dirty="0">
                <a:solidFill>
                  <a:srgbClr val="41545A"/>
                </a:solidFill>
                <a:latin typeface="Calibri" pitchFamily="34" charset="0"/>
                <a:ea typeface="Calibri" pitchFamily="34" charset="-122"/>
                <a:cs typeface="Calibri" pitchFamily="34" charset="-120"/>
              </a:rPr>
              <a:t>Grey dashed: not built (owner decisions)</a:t>
            </a:r>
            <a:endParaRPr lang="en-US" sz="940" dirty="0"/>
          </a:p>
        </p:txBody>
      </p:sp>
      <p:sp>
        <p:nvSpPr>
          <p:cNvPr id="33" name="03-architecture-repo-2.0:l_low"/>
          <p:cNvSpPr txBox="1"/>
          <p:nvPr/>
        </p:nvSpPr>
        <p:spPr>
          <a:xfrm>
            <a:off x="320254" y="4920615"/>
            <a:ext cx="11548443" cy="1720215"/>
          </a:xfrm>
          <a:prstGeom prst="roundRect">
            <a:avLst>
              <a:gd name="adj" fmla="val 1595"/>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Batch, definitions and gates</a:t>
            </a:r>
            <a:endParaRPr lang="en-US" sz="1160" dirty="0"/>
          </a:p>
        </p:txBody>
      </p:sp>
      <p:sp>
        <p:nvSpPr>
          <p:cNvPr id="34" name="03-architecture-repo-2.0:etl"/>
          <p:cNvSpPr txBox="1"/>
          <p:nvPr/>
        </p:nvSpPr>
        <p:spPr>
          <a:xfrm>
            <a:off x="457736" y="5320665"/>
            <a:ext cx="1512296"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ETL intake</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same rules as the</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API</a:t>
            </a:r>
            <a:endParaRPr lang="en-US" sz="1010" dirty="0"/>
          </a:p>
        </p:txBody>
      </p:sp>
      <p:sp>
        <p:nvSpPr>
          <p:cNvPr id="35" name="03-architecture-repo-2.0:qua"/>
          <p:cNvSpPr txBox="1"/>
          <p:nvPr/>
        </p:nvSpPr>
        <p:spPr>
          <a:xfrm>
            <a:off x="2107513" y="5320665"/>
            <a:ext cx="1558123"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Curated layer +</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quarantine</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bad rows kept, never</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silently fixed</a:t>
            </a:r>
            <a:endParaRPr lang="en-US" sz="1010" dirty="0"/>
          </a:p>
        </p:txBody>
      </p:sp>
      <p:sp>
        <p:nvSpPr>
          <p:cNvPr id="36" name="03-architecture-repo-2.0:sem"/>
          <p:cNvSpPr txBox="1"/>
          <p:nvPr/>
        </p:nvSpPr>
        <p:spPr>
          <a:xfrm>
            <a:off x="3867276" y="5320665"/>
            <a:ext cx="1778094" cy="960120"/>
          </a:xfrm>
          <a:prstGeom prst="roundRect">
            <a:avLst>
              <a:gd name="adj" fmla="val 5714"/>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10" b="1" dirty="0">
                <a:solidFill>
                  <a:srgbClr val="1B1B1B"/>
                </a:solidFill>
                <a:latin typeface="Calibri" pitchFamily="34" charset="0"/>
                <a:ea typeface="Calibri" pitchFamily="34" charset="-122"/>
                <a:cs typeface="Calibri" pitchFamily="34" charset="-120"/>
              </a:rPr>
              <a:t>Semantic layer v2.0</a:t>
            </a:r>
            <a:endParaRPr lang="en-US" sz="1010" dirty="0"/>
          </a:p>
          <a:p>
            <a:pPr marL="0" indent="0" algn="ctr">
              <a:buNone/>
            </a:pPr>
            <a:r>
              <a:rPr lang="en-US" sz="1010" dirty="0">
                <a:solidFill>
                  <a:srgbClr val="1B1B1B"/>
                </a:solidFill>
                <a:latin typeface="Calibri" pitchFamily="34" charset="0"/>
                <a:ea typeface="Calibri" pitchFamily="34" charset="-122"/>
                <a:cs typeface="Calibri" pitchFamily="34" charset="-120"/>
              </a:rPr>
              <a:t>feeds policy, ETL rules</a:t>
            </a:r>
            <a:endParaRPr lang="en-US" sz="1010" dirty="0"/>
          </a:p>
          <a:p>
            <a:pPr marL="0" indent="0" algn="ctr">
              <a:buNone/>
            </a:pPr>
            <a:r>
              <a:rPr lang="en-US" sz="1010" dirty="0">
                <a:solidFill>
                  <a:srgbClr val="1B1B1B"/>
                </a:solidFill>
                <a:latin typeface="Calibri" pitchFamily="34" charset="0"/>
                <a:ea typeface="Calibri" pitchFamily="34" charset="-122"/>
                <a:cs typeface="Calibri" pitchFamily="34" charset="-120"/>
              </a:rPr>
              <a:t>and AI rules</a:t>
            </a:r>
            <a:endParaRPr lang="en-US" sz="1010" dirty="0"/>
          </a:p>
        </p:txBody>
      </p:sp>
      <p:sp>
        <p:nvSpPr>
          <p:cNvPr id="37" name="03-architecture-repo-2.0:rego"/>
          <p:cNvSpPr txBox="1"/>
          <p:nvPr/>
        </p:nvSpPr>
        <p:spPr>
          <a:xfrm>
            <a:off x="5993656" y="5320665"/>
            <a:ext cx="1961402"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Generated policy (Rego)</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built from the layer,</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tested in CI</a:t>
            </a:r>
            <a:endParaRPr lang="en-US" sz="1010" dirty="0"/>
          </a:p>
        </p:txBody>
      </p:sp>
      <p:sp>
        <p:nvSpPr>
          <p:cNvPr id="38" name="03-architecture-repo-2.0:ci"/>
          <p:cNvSpPr txBox="1"/>
          <p:nvPr/>
        </p:nvSpPr>
        <p:spPr>
          <a:xfrm>
            <a:off x="8303345" y="5320665"/>
            <a:ext cx="3446202" cy="960120"/>
          </a:xfrm>
          <a:prstGeom prst="roundRect">
            <a:avLst>
              <a:gd name="adj" fmla="val 5714"/>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010" b="1" dirty="0">
                <a:solidFill>
                  <a:srgbClr val="1E5631"/>
                </a:solidFill>
                <a:latin typeface="Calibri" pitchFamily="34" charset="0"/>
                <a:ea typeface="Calibri" pitchFamily="34" charset="-122"/>
                <a:cs typeface="Calibri" pitchFamily="34" charset="-120"/>
              </a:rPr>
              <a:t>CI gates</a:t>
            </a:r>
            <a:endParaRPr lang="en-US" sz="1010" dirty="0"/>
          </a:p>
          <a:p>
            <a:pPr marL="0" indent="0" algn="ctr">
              <a:buNone/>
            </a:pPr>
            <a:r>
              <a:rPr lang="en-US" sz="1010" dirty="0">
                <a:solidFill>
                  <a:srgbClr val="1E5631"/>
                </a:solidFill>
                <a:latin typeface="Calibri" pitchFamily="34" charset="0"/>
                <a:ea typeface="Calibri" pitchFamily="34" charset="-122"/>
                <a:cs typeface="Calibri" pitchFamily="34" charset="-120"/>
              </a:rPr>
              <a:t>lint, types, 181 tests, 97% coverage, secret</a:t>
            </a:r>
            <a:endParaRPr lang="en-US" sz="1010" dirty="0"/>
          </a:p>
          <a:p>
            <a:pPr marL="0" indent="0" algn="ctr">
              <a:buNone/>
            </a:pPr>
            <a:r>
              <a:rPr lang="en-US" sz="1010" dirty="0">
                <a:solidFill>
                  <a:srgbClr val="1E5631"/>
                </a:solidFill>
                <a:latin typeface="Calibri" pitchFamily="34" charset="0"/>
                <a:ea typeface="Calibri" pitchFamily="34" charset="-122"/>
                <a:cs typeface="Calibri" pitchFamily="34" charset="-120"/>
              </a:rPr>
              <a:t>scan, policy and semantic tests</a:t>
            </a:r>
            <a:endParaRPr lang="en-US" sz="1010" dirty="0"/>
          </a:p>
        </p:txBody>
      </p:sp>
      <p:sp>
        <p:nvSpPr>
          <p:cNvPr id="39" name="03-architecture-repo-2.0:edge:ops-&gt;routes"/>
          <p:cNvSpPr/>
          <p:nvPr/>
        </p:nvSpPr>
        <p:spPr>
          <a:xfrm flipV="1">
            <a:off x="1585084" y="1754619"/>
            <a:ext cx="339121" cy="32004"/>
          </a:xfrm>
          <a:prstGeom prst="line">
            <a:avLst/>
          </a:prstGeom>
          <a:noFill/>
          <a:ln w="19050">
            <a:solidFill>
              <a:srgbClr val="41545A"/>
            </a:solidFill>
            <a:prstDash val="solid"/>
            <a:tailEnd type="triangle"/>
          </a:ln>
        </p:spPr>
        <p:txBody>
          <a:bodyPr/>
          <a:p/>
        </p:txBody>
      </p:sp>
      <p:sp>
        <p:nvSpPr>
          <p:cNvPr id="40" name="03-architecture-repo-2.0:edge:cli-&gt;tok"/>
          <p:cNvSpPr/>
          <p:nvPr/>
        </p:nvSpPr>
        <p:spPr>
          <a:xfrm flipV="1">
            <a:off x="1585084" y="2701138"/>
            <a:ext cx="339121" cy="110414"/>
          </a:xfrm>
          <a:prstGeom prst="line">
            <a:avLst/>
          </a:prstGeom>
          <a:noFill/>
          <a:ln w="19050">
            <a:solidFill>
              <a:srgbClr val="41545A"/>
            </a:solidFill>
            <a:prstDash val="solid"/>
            <a:tailEnd type="triangle"/>
          </a:ln>
        </p:spPr>
        <p:txBody>
          <a:bodyPr/>
          <a:p/>
        </p:txBody>
      </p:sp>
      <p:sp>
        <p:nvSpPr>
          <p:cNvPr id="41" name="03-architecture-repo-2.0:edge:tok-&gt;pol"/>
          <p:cNvSpPr/>
          <p:nvPr/>
        </p:nvSpPr>
        <p:spPr>
          <a:xfrm flipV="1">
            <a:off x="3518990" y="2136267"/>
            <a:ext cx="348286" cy="92011"/>
          </a:xfrm>
          <a:prstGeom prst="line">
            <a:avLst/>
          </a:prstGeom>
          <a:noFill/>
          <a:ln w="19050">
            <a:solidFill>
              <a:srgbClr val="41545A"/>
            </a:solidFill>
            <a:prstDash val="solid"/>
            <a:tailEnd type="triangle"/>
          </a:ln>
        </p:spPr>
        <p:txBody>
          <a:bodyPr/>
          <a:p/>
        </p:txBody>
      </p:sp>
      <p:sp>
        <p:nvSpPr>
          <p:cNvPr id="42" name="03-architecture-repo-2.0:edge:pol-&gt;ctx"/>
          <p:cNvSpPr/>
          <p:nvPr/>
        </p:nvSpPr>
        <p:spPr>
          <a:xfrm flipV="1">
            <a:off x="5645370" y="1799425"/>
            <a:ext cx="348286" cy="28804"/>
          </a:xfrm>
          <a:prstGeom prst="line">
            <a:avLst/>
          </a:prstGeom>
          <a:noFill/>
          <a:ln w="19050">
            <a:solidFill>
              <a:srgbClr val="41545A"/>
            </a:solidFill>
            <a:prstDash val="solid"/>
            <a:tailEnd type="triangle"/>
          </a:ln>
        </p:spPr>
        <p:txBody>
          <a:bodyPr/>
          <a:p/>
        </p:txBody>
      </p:sp>
      <p:sp>
        <p:nvSpPr>
          <p:cNvPr id="43" name="03-architecture-repo-2.0:edge:ctx-&gt;prod"/>
          <p:cNvSpPr/>
          <p:nvPr/>
        </p:nvSpPr>
        <p:spPr>
          <a:xfrm>
            <a:off x="6974357" y="2080260"/>
            <a:ext cx="914" cy="120015"/>
          </a:xfrm>
          <a:prstGeom prst="line">
            <a:avLst/>
          </a:prstGeom>
          <a:noFill/>
          <a:ln w="19050">
            <a:solidFill>
              <a:srgbClr val="41545A"/>
            </a:solidFill>
            <a:prstDash val="solid"/>
            <a:tailEnd type="triangle"/>
          </a:ln>
        </p:spPr>
        <p:txBody>
          <a:bodyPr/>
          <a:p/>
        </p:txBody>
      </p:sp>
      <p:sp>
        <p:nvSpPr>
          <p:cNvPr id="44" name="03-architecture-repo-2.0:edge:prod-&gt;chk"/>
          <p:cNvSpPr/>
          <p:nvPr/>
        </p:nvSpPr>
        <p:spPr>
          <a:xfrm>
            <a:off x="6974357" y="2920365"/>
            <a:ext cx="914" cy="120015"/>
          </a:xfrm>
          <a:prstGeom prst="line">
            <a:avLst/>
          </a:prstGeom>
          <a:noFill/>
          <a:ln w="19050">
            <a:solidFill>
              <a:srgbClr val="41545A"/>
            </a:solidFill>
            <a:prstDash val="solid"/>
            <a:tailEnd type="triangle"/>
          </a:ln>
        </p:spPr>
        <p:txBody>
          <a:bodyPr/>
          <a:p/>
        </p:txBody>
      </p:sp>
      <p:sp>
        <p:nvSpPr>
          <p:cNvPr id="45" name="03-architecture-repo-2.0:edge:chk-&gt;fb"/>
          <p:cNvSpPr/>
          <p:nvPr/>
        </p:nvSpPr>
        <p:spPr>
          <a:xfrm>
            <a:off x="6974357" y="3680460"/>
            <a:ext cx="914" cy="120015"/>
          </a:xfrm>
          <a:prstGeom prst="line">
            <a:avLst/>
          </a:prstGeom>
          <a:noFill/>
          <a:ln w="19050">
            <a:solidFill>
              <a:srgbClr val="41545A"/>
            </a:solidFill>
            <a:prstDash val="solid"/>
            <a:tailEnd type="triangle"/>
          </a:ln>
        </p:spPr>
        <p:txBody>
          <a:bodyPr/>
          <a:p/>
        </p:txBody>
      </p:sp>
      <p:sp>
        <p:nvSpPr>
          <p:cNvPr id="46" name="03-architecture-repo-2.0:edge:etl-&gt;qua"/>
          <p:cNvSpPr/>
          <p:nvPr/>
        </p:nvSpPr>
        <p:spPr>
          <a:xfrm>
            <a:off x="1970032" y="5800725"/>
            <a:ext cx="137481" cy="914"/>
          </a:xfrm>
          <a:prstGeom prst="line">
            <a:avLst/>
          </a:prstGeom>
          <a:noFill/>
          <a:ln w="19050">
            <a:solidFill>
              <a:srgbClr val="41545A"/>
            </a:solidFill>
            <a:prstDash val="solid"/>
            <a:tailEnd type="triangle"/>
          </a:ln>
        </p:spPr>
        <p:txBody>
          <a:bodyPr/>
          <a:p/>
        </p:txBody>
      </p:sp>
      <p:sp>
        <p:nvSpPr>
          <p:cNvPr id="47" name="03-architecture-repo-2.0:edge:sem-&gt;rego"/>
          <p:cNvSpPr/>
          <p:nvPr/>
        </p:nvSpPr>
        <p:spPr>
          <a:xfrm>
            <a:off x="5645370" y="5800725"/>
            <a:ext cx="348286" cy="914"/>
          </a:xfrm>
          <a:prstGeom prst="line">
            <a:avLst/>
          </a:prstGeom>
          <a:noFill/>
          <a:ln w="19050">
            <a:solidFill>
              <a:srgbClr val="41545A"/>
            </a:solidFill>
            <a:prstDash val="solid"/>
            <a:tailEnd type="triangle"/>
          </a:ln>
        </p:spPr>
        <p:txBody>
          <a:bodyPr/>
          <a:p/>
        </p:txBody>
      </p:sp>
      <p:sp>
        <p:nvSpPr>
          <p:cNvPr id="4"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02  WHAT WE BUILT AND PROVED</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Repo 1.0 vs 2.0 vs 3.0 at a glance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914400"/>
        </p:xfrm>
        <a:graphic>
          <a:graphicData uri="http://schemas.openxmlformats.org/drawingml/2006/table">
            <a:tbl>
              <a:tblPr/>
              <a:tblGrid>
                <a:gridCol w="16002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3547872">
                  <a:extLst>
                    <a:ext uri="{9D8B030D-6E8A-4147-A177-3AD203B41FA5}">
                      <a16:colId xmlns:a16="http://schemas.microsoft.com/office/drawing/2014/main" val="20003"/>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Repo 1.0 (as delivered)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Repo 2.0 (as built)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Repo 3.0 (rebuilt from the semantic layer)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Tests and CI</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Test command fails; 3 tests; 45% coverage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Fixed  </a:t>
                      </a:r>
                      <a:r>
                        <a:rPr lang="en-US" sz="1100" dirty="0">
                          <a:solidFill>
                            <a:srgbClr val="1B2A2F"/>
                          </a:solidFill>
                          <a:latin typeface="Calibri" pitchFamily="34" charset="0"/>
                          <a:ea typeface="Calibri" pitchFamily="34" charset="-122"/>
                          <a:cs typeface="Calibri" pitchFamily="34" charset="-120"/>
                        </a:rPr>
                        <a:t>181 tests; 97% coverage; CI green on 3.11 and 3.14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Partial  </a:t>
                      </a:r>
                      <a:r>
                        <a:rPr lang="en-US" sz="1100" dirty="0">
                          <a:solidFill>
                            <a:srgbClr val="1B2A2F"/>
                          </a:solidFill>
                          <a:latin typeface="Calibri" pitchFamily="34" charset="0"/>
                          <a:ea typeface="Calibri" pitchFamily="34" charset="-122"/>
                          <a:cs typeface="Calibri" pitchFamily="34" charset="-120"/>
                        </a:rPr>
                        <a:t>175 tests pass; 95% coverage; no CI</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Identity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Role taken from a request header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Fixed (interim)  </a:t>
                      </a:r>
                      <a:r>
                        <a:rPr lang="en-US" sz="1100" dirty="0">
                          <a:solidFill>
                            <a:srgbClr val="1B2A2F"/>
                          </a:solidFill>
                          <a:latin typeface="Calibri" pitchFamily="34" charset="0"/>
                          <a:ea typeface="Calibri" pitchFamily="34" charset="-122"/>
                          <a:cs typeface="Calibri" pitchFamily="34" charset="-120"/>
                        </a:rPr>
                        <a:t>signed token; forged tokens rejected; no identity provider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Same  </a:t>
                      </a:r>
                      <a:r>
                        <a:rPr lang="en-US" sz="1100" dirty="0">
                          <a:solidFill>
                            <a:srgbClr val="1B2A2F"/>
                          </a:solidFill>
                          <a:latin typeface="Calibri" pitchFamily="34" charset="0"/>
                          <a:ea typeface="Calibri" pitchFamily="34" charset="-122"/>
                          <a:cs typeface="Calibri" pitchFamily="34" charset="-120"/>
                        </a:rPr>
                        <a:t>signed token; forged and alg-none tokens rejected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Authorisation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Flat allow-list; policy file unused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Fixed (scope partial)  </a:t>
                      </a:r>
                      <a:r>
                        <a:rPr lang="en-US" sz="1100" dirty="0">
                          <a:solidFill>
                            <a:srgbClr val="1B2A2F"/>
                          </a:solidFill>
                          <a:latin typeface="Calibri" pitchFamily="34" charset="0"/>
                          <a:ea typeface="Calibri" pitchFamily="34" charset="-122"/>
                          <a:cs typeface="Calibri" pitchFamily="34" charset="-120"/>
                        </a:rPr>
                        <a:t>deny by default; persona, entity, purpose; policy file generated and tested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Same  </a:t>
                      </a:r>
                      <a:r>
                        <a:rPr lang="en-US" sz="1100" dirty="0">
                          <a:solidFill>
                            <a:srgbClr val="1B2A2F"/>
                          </a:solidFill>
                          <a:latin typeface="Calibri" pitchFamily="34" charset="0"/>
                          <a:ea typeface="Calibri" pitchFamily="34" charset="-122"/>
                          <a:cs typeface="Calibri" pitchFamily="34" charset="-120"/>
                        </a:rPr>
                        <a:t>decisions on every probe; scope not enforced; no policy file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Record lookup</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Any column; wrong record on a miss</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Fixed  </a:t>
                      </a:r>
                      <a:r>
                        <a:rPr lang="en-US" sz="1100" dirty="0">
                          <a:solidFill>
                            <a:srgbClr val="1B2A2F"/>
                          </a:solidFill>
                          <a:latin typeface="Calibri" pitchFamily="34" charset="0"/>
                          <a:ea typeface="Calibri" pitchFamily="34" charset="-122"/>
                          <a:cs typeface="Calibri" pitchFamily="34" charset="-120"/>
                        </a:rPr>
                        <a:t>key pattern enforced; 404 on a miss; collisions quarantined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Same  </a:t>
                      </a:r>
                      <a:r>
                        <a:rPr lang="en-US" sz="1100" dirty="0">
                          <a:solidFill>
                            <a:srgbClr val="1B2A2F"/>
                          </a:solidFill>
                          <a:latin typeface="Calibri" pitchFamily="34" charset="0"/>
                          <a:ea typeface="Calibri" pitchFamily="34" charset="-122"/>
                          <a:cs typeface="Calibri" pitchFamily="34" charset="-120"/>
                        </a:rPr>
                        <a:t>422 malformed key, 404 on a miss</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4"/>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AI endpoint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No auth; guardrail off; no schema</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Fixed (no model)  </a:t>
                      </a:r>
                      <a:r>
                        <a:rPr lang="en-US" sz="1100" dirty="0">
                          <a:solidFill>
                            <a:srgbClr val="1B2A2F"/>
                          </a:solidFill>
                          <a:latin typeface="Calibri" pitchFamily="34" charset="0"/>
                          <a:ea typeface="Calibri" pitchFamily="34" charset="-122"/>
                          <a:cs typeface="Calibri" pitchFamily="34" charset="-120"/>
                        </a:rPr>
                        <a:t>authorised, rate-limited, allow-listed context, checked output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Same  </a:t>
                      </a:r>
                      <a:r>
                        <a:rPr lang="en-US" sz="1100" dirty="0">
                          <a:solidFill>
                            <a:srgbClr val="1B2A2F"/>
                          </a:solidFill>
                          <a:latin typeface="Calibri" pitchFamily="34" charset="0"/>
                          <a:ea typeface="Calibri" pitchFamily="34" charset="-122"/>
                          <a:cs typeface="Calibri" pitchFamily="34" charset="-120"/>
                        </a:rPr>
                        <a:t>19 response fields; 41 of 41 AI decisions agree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5"/>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Human approval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Fixed (no four-eyes)  </a:t>
                      </a:r>
                      <a:r>
                        <a:rPr lang="en-US" sz="1100" dirty="0">
                          <a:solidFill>
                            <a:srgbClr val="1B2A2F"/>
                          </a:solidFill>
                          <a:latin typeface="Calibri" pitchFamily="34" charset="0"/>
                          <a:ea typeface="Calibri" pitchFamily="34" charset="-122"/>
                          <a:cs typeface="Calibri" pitchFamily="34" charset="-120"/>
                        </a:rPr>
                        <a:t>approve or reject once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Same  </a:t>
                      </a:r>
                      <a:r>
                        <a:rPr lang="en-US" sz="1100" dirty="0">
                          <a:solidFill>
                            <a:srgbClr val="1B2A2F"/>
                          </a:solidFill>
                          <a:latin typeface="Calibri" pitchFamily="34" charset="0"/>
                          <a:ea typeface="Calibri" pitchFamily="34" charset="-122"/>
                          <a:cs typeface="Calibri" pitchFamily="34" charset="-120"/>
                        </a:rPr>
                        <a:t>once only; 409 on repeat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6"/>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Audit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Time and action only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Partial  </a:t>
                      </a:r>
                      <a:r>
                        <a:rPr lang="en-US" sz="1100" dirty="0">
                          <a:solidFill>
                            <a:srgbClr val="1B2A2F"/>
                          </a:solidFill>
                          <a:latin typeface="Calibri" pitchFamily="34" charset="0"/>
                          <a:ea typeface="Calibri" pitchFamily="34" charset="-122"/>
                          <a:cs typeface="Calibri" pitchFamily="34" charset="-120"/>
                        </a:rPr>
                        <a:t>hash-chained; tampering detected; local file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Same  </a:t>
                      </a:r>
                      <a:r>
                        <a:rPr lang="en-US" sz="1100" dirty="0">
                          <a:solidFill>
                            <a:srgbClr val="1B2A2F"/>
                          </a:solidFill>
                          <a:latin typeface="Calibri" pitchFamily="34" charset="0"/>
                          <a:ea typeface="Calibri" pitchFamily="34" charset="-122"/>
                          <a:cs typeface="Calibri" pitchFamily="34" charset="-120"/>
                        </a:rPr>
                        <a:t>hash-chained; tampering detected; local file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extLst>
                  <a:ext uri="{0D108BD9-81ED-4DB2-BD59-A6C34878D82A}">
                    <a16:rowId xmlns:a16="http://schemas.microsoft.com/office/drawing/2014/main" val="10007"/>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Data intake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Defects counted, then discarded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Fixed  </a:t>
                      </a:r>
                      <a:r>
                        <a:rPr lang="en-US" sz="1100" dirty="0">
                          <a:solidFill>
                            <a:srgbClr val="1B2A2F"/>
                          </a:solidFill>
                          <a:latin typeface="Calibri" pitchFamily="34" charset="0"/>
                          <a:ea typeface="Calibri" pitchFamily="34" charset="-122"/>
                          <a:cs typeface="Calibri" pitchFamily="34" charset="-120"/>
                        </a:rPr>
                        <a:t>validated; bad rows quarantined, the rest flagged and kept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Gap  </a:t>
                      </a:r>
                      <a:r>
                        <a:rPr lang="en-US" sz="1100" dirty="0">
                          <a:solidFill>
                            <a:srgbClr val="1B2A2F"/>
                          </a:solidFill>
                          <a:latin typeface="Calibri" pitchFamily="34" charset="0"/>
                          <a:ea typeface="Calibri" pitchFamily="34" charset="-122"/>
                          <a:cs typeface="Calibri" pitchFamily="34" charset="-120"/>
                        </a:rPr>
                        <a:t>rejects all 354 original rows: layer rule stricter than 2.0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extLst>
                  <a:ext uri="{0D108BD9-81ED-4DB2-BD59-A6C34878D82A}">
                    <a16:rowId xmlns:a16="http://schemas.microsoft.com/office/drawing/2014/main" val="10008"/>
                  </a:ext>
                </a:extLst>
              </a:tr>
              <a:tr h="457200">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Infrastructure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Terraform writes one local file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Deferred  </a:t>
                      </a:r>
                      <a:r>
                        <a:rPr lang="en-US" sz="1100" dirty="0">
                          <a:solidFill>
                            <a:srgbClr val="1B2A2F"/>
                          </a:solidFill>
                          <a:latin typeface="Calibri" pitchFamily="34" charset="0"/>
                          <a:ea typeface="Calibri" pitchFamily="34" charset="-122"/>
                          <a:cs typeface="Calibri" pitchFamily="34" charset="-120"/>
                        </a:rPr>
                        <a:t>container recipe; nothing provisioned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Gap  </a:t>
                      </a:r>
                      <a:r>
                        <a:rPr lang="en-US" sz="1100" dirty="0">
                          <a:solidFill>
                            <a:srgbClr val="1B2A2F"/>
                          </a:solidFill>
                          <a:latin typeface="Calibri" pitchFamily="34" charset="0"/>
                          <a:ea typeface="Calibri" pitchFamily="34" charset="-122"/>
                          <a:cs typeface="Calibri" pitchFamily="34" charset="-120"/>
                        </a:rPr>
                        <a:t>none: not described in the layer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extLst>
                  <a:ext uri="{0D108BD9-81ED-4DB2-BD59-A6C34878D82A}">
                    <a16:rowId xmlns:a16="http://schemas.microsoft.com/office/drawing/2014/main" val="10009"/>
                  </a:ext>
                </a:extLst>
              </a:tr>
            </a:tbl>
          </a:graphicData>
        </a:graphic>
      </p:graphicFrame>
      <p:sp>
        <p:nvSpPr>
          <p:cNvPr id="6" name="Text 2"/>
          <p:cNvSpPr txBox="1"/>
          <p:nvPr/>
        </p:nvSpPr>
        <p:spPr>
          <a:xfrm>
            <a:off x="457200" y="5897880"/>
            <a:ext cx="11247120" cy="411480"/>
          </a:xfrm>
          <a:prstGeom prst="rect">
            <a:avLst/>
          </a:prstGeom>
          <a:noFill/>
          <a:ln/>
        </p:spPr>
        <p:txBody>
          <a:bodyPr wrap="square" lIns="0" tIns="0" rIns="0" bIns="0" rtlCol="0" anchor="ctr"/>
          <a:lstStyle/>
          <a:p>
            <a:pPr marL="0" indent="0">
              <a:buNone/>
            </a:pPr>
            <a:r>
              <a:rPr lang="en-US" sz="1200" i="1" dirty="0">
                <a:solidFill>
                  <a:srgbClr val="5F6E71"/>
                </a:solidFill>
              </a:rPr>
              <a:t>Repo 3.0 = the repository a separate agent rebuilt blind from the 21 semantic-layer files only (part 03). Green: done or same; amber: partial; red: gap.</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02  WHAT WE BUILT AND PROVED</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Proof: the same 12 attacks, before and after</a:t>
            </a:r>
            <a:endParaRPr lang="en-US" sz="2800" dirty="0"/>
          </a:p>
        </p:txBody>
      </p:sp>
      <p:sp>
        <p:nvSpPr>
          <p:cNvPr id="5" name="Shape 2"/>
          <p:cNvSpPr/>
          <p:nvPr/>
        </p:nvSpPr>
        <p:spPr>
          <a:xfrm>
            <a:off x="457200" y="1234440"/>
            <a:ext cx="3383280" cy="1965960"/>
          </a:xfrm>
          <a:prstGeom prst="roundRect">
            <a:avLst>
              <a:gd name="adj" fmla="val 4651"/>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6" name="Text 3"/>
          <p:cNvSpPr txBox="1"/>
          <p:nvPr/>
        </p:nvSpPr>
        <p:spPr>
          <a:xfrm>
            <a:off x="685800" y="1417320"/>
            <a:ext cx="2926080" cy="868680"/>
          </a:xfrm>
          <a:prstGeom prst="rect">
            <a:avLst/>
          </a:prstGeom>
          <a:noFill/>
          <a:ln/>
        </p:spPr>
        <p:txBody>
          <a:bodyPr wrap="square" lIns="0" tIns="0" rIns="0" bIns="0" rtlCol="0" anchor="ctr"/>
          <a:lstStyle/>
          <a:p>
            <a:pPr marL="0" indent="0">
              <a:buNone/>
            </a:pPr>
            <a:r>
              <a:rPr lang="en-US" sz="4000" b="1" dirty="0">
                <a:solidFill>
                  <a:srgbClr val="C0392B"/>
                </a:solidFill>
              </a:rPr>
              <a:t>10 of 12</a:t>
            </a:r>
            <a:endParaRPr lang="en-US" sz="4000" dirty="0"/>
          </a:p>
        </p:txBody>
      </p:sp>
      <p:sp>
        <p:nvSpPr>
          <p:cNvPr id="7" name="Text 4"/>
          <p:cNvSpPr txBox="1"/>
          <p:nvPr/>
        </p:nvSpPr>
        <p:spPr>
          <a:xfrm>
            <a:off x="685800" y="2286000"/>
            <a:ext cx="2926080" cy="777240"/>
          </a:xfrm>
          <a:prstGeom prst="rect">
            <a:avLst/>
          </a:prstGeom>
          <a:noFill/>
          <a:ln/>
        </p:spPr>
        <p:txBody>
          <a:bodyPr wrap="square" lIns="0" tIns="0" rIns="0" bIns="0" rtlCol="0" anchor="t"/>
          <a:lstStyle/>
          <a:p>
            <a:pPr marL="0" indent="0">
              <a:buNone/>
            </a:pPr>
            <a:r>
              <a:rPr lang="en-US" sz="1400" dirty="0">
                <a:solidFill>
                  <a:srgbClr val="1B2A2F"/>
                </a:solidFill>
              </a:rPr>
              <a:t>succeeded against Repo 1.0</a:t>
            </a:r>
            <a:endParaRPr lang="en-US" sz="1400" dirty="0"/>
          </a:p>
        </p:txBody>
      </p:sp>
      <p:sp>
        <p:nvSpPr>
          <p:cNvPr id="8" name="Shape 5"/>
          <p:cNvSpPr/>
          <p:nvPr/>
        </p:nvSpPr>
        <p:spPr>
          <a:xfrm>
            <a:off x="457200" y="3429000"/>
            <a:ext cx="3383280" cy="1965960"/>
          </a:xfrm>
          <a:prstGeom prst="roundRect">
            <a:avLst>
              <a:gd name="adj" fmla="val 4651"/>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9" name="Text 6"/>
          <p:cNvSpPr txBox="1"/>
          <p:nvPr/>
        </p:nvSpPr>
        <p:spPr>
          <a:xfrm>
            <a:off x="685800" y="3611880"/>
            <a:ext cx="2926080" cy="868680"/>
          </a:xfrm>
          <a:prstGeom prst="rect">
            <a:avLst/>
          </a:prstGeom>
          <a:noFill/>
          <a:ln/>
        </p:spPr>
        <p:txBody>
          <a:bodyPr wrap="square" lIns="0" tIns="0" rIns="0" bIns="0" rtlCol="0" anchor="ctr"/>
          <a:lstStyle/>
          <a:p>
            <a:pPr marL="0" indent="0">
              <a:buNone/>
            </a:pPr>
            <a:r>
              <a:rPr lang="en-US" sz="4000" b="1" dirty="0">
                <a:solidFill>
                  <a:srgbClr val="2E8B57"/>
                </a:solidFill>
              </a:rPr>
              <a:t>0 of 12</a:t>
            </a:r>
            <a:endParaRPr lang="en-US" sz="4000" dirty="0"/>
          </a:p>
        </p:txBody>
      </p:sp>
      <p:sp>
        <p:nvSpPr>
          <p:cNvPr id="10" name="Text 7"/>
          <p:cNvSpPr txBox="1"/>
          <p:nvPr/>
        </p:nvSpPr>
        <p:spPr>
          <a:xfrm>
            <a:off x="685800" y="4480560"/>
            <a:ext cx="2926080" cy="777240"/>
          </a:xfrm>
          <a:prstGeom prst="rect">
            <a:avLst/>
          </a:prstGeom>
          <a:noFill/>
          <a:ln/>
        </p:spPr>
        <p:txBody>
          <a:bodyPr wrap="square" lIns="0" tIns="0" rIns="0" bIns="0" rtlCol="0" anchor="t"/>
          <a:lstStyle/>
          <a:p>
            <a:pPr marL="0" indent="0">
              <a:buNone/>
            </a:pPr>
            <a:r>
              <a:rPr lang="en-US" sz="1400" dirty="0">
                <a:solidFill>
                  <a:srgbClr val="1B2A2F"/>
                </a:solidFill>
              </a:rPr>
              <a:t>succeed against Repo 2.0</a:t>
            </a:r>
            <a:endParaRPr lang="en-US" sz="1400" dirty="0"/>
          </a:p>
        </p:txBody>
      </p:sp>
      <p:sp>
        <p:nvSpPr>
          <p:cNvPr id="11" name="Text 8"/>
          <p:cNvSpPr txBox="1"/>
          <p:nvPr/>
        </p:nvSpPr>
        <p:spPr>
          <a:xfrm>
            <a:off x="457200" y="5577840"/>
            <a:ext cx="3383280" cy="731520"/>
          </a:xfrm>
          <a:prstGeom prst="rect">
            <a:avLst/>
          </a:prstGeom>
          <a:noFill/>
          <a:ln/>
        </p:spPr>
        <p:txBody>
          <a:bodyPr wrap="square" lIns="0" tIns="0" rIns="0" bIns="0" rtlCol="0" anchor="t"/>
          <a:lstStyle/>
          <a:p>
            <a:pPr marL="0" indent="0">
              <a:buNone/>
            </a:pPr>
            <a:r>
              <a:rPr lang="en-US" sz="1100" dirty="0">
                <a:solidFill>
                  <a:srgbClr val="5F6E71"/>
                </a:solidFill>
              </a:rPr>
              <a:t>Run by the builder, not an independent team. Source: evidence/26-tevv/EVD-L-03-redteam-*.json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234440"/>
          <a:ext cx="7616952" cy="914400"/>
        </p:xfrm>
        <a:graphic>
          <a:graphicData uri="http://schemas.openxmlformats.org/drawingml/2006/table">
            <a:tbl>
              <a:tblPr/>
              <a:tblGrid>
                <a:gridCol w="731520">
                  <a:extLst>
                    <a:ext uri="{9D8B030D-6E8A-4147-A177-3AD203B41FA5}">
                      <a16:colId xmlns:a16="http://schemas.microsoft.com/office/drawing/2014/main" val="20000"/>
                    </a:ext>
                  </a:extLst>
                </a:gridCol>
                <a:gridCol w="3227832">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5661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Attack</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Goal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Repo 1.0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Repo 2.0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Call the AI endpoint with no identity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1"/>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Claim admin with a header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2"/>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RT-03</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Use a persona from another domain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3"/>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Look up a record by a non-key column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4"/>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RT-05</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Ask for a record that does not exist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5"/>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RT-06</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Reach the planted colliding key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6"/>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RT-07</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Reflect attacker text through the AI</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7"/>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RT-08</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Smuggle text via a category field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8"/>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RT-09</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Find the guardrail switched off</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9"/>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RT-10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Action a suggestion without approval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404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10"/>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RT-11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Forge a token (alg none, admin)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11"/>
                  </a:ext>
                </a:extLst>
              </a:tr>
              <a:tr h="356616">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RT-12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Exhaust the AI endpoint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marL="0" indent="0">
                        <a:buNone/>
                      </a:pPr>
                      <a:r>
                        <a:rPr lang="en-US" sz="1100" dirty="0">
                          <a:solidFill>
                            <a:srgbClr val="1B2A2F"/>
                          </a:solidFill>
                          <a:latin typeface="Calibri" pitchFamily="34" charset="0"/>
                          <a:ea typeface="Calibri" pitchFamily="34" charset="-122"/>
                          <a:cs typeface="Calibri" pitchFamily="34" charset="-120"/>
                        </a:rPr>
                        <a:t>429</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12"/>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txBody>
          <a:bodyPr/>
          <a:p/>
        </p:txBody>
      </p:sp>
      <p:sp>
        <p:nvSpPr>
          <p:cNvPr id="3" name="Text 1"/>
          <p:cNvSpPr txBox="1"/>
          <p:nvPr/>
        </p:nvSpPr>
        <p:spPr>
          <a:xfrm>
            <a:off x="731520" y="1920240"/>
            <a:ext cx="2011680" cy="2011680"/>
          </a:xfrm>
          <a:prstGeom prst="rect">
            <a:avLst/>
          </a:prstGeom>
          <a:noFill/>
          <a:ln/>
        </p:spPr>
        <p:txBody>
          <a:bodyPr wrap="square" lIns="0" tIns="0" rIns="0" bIns="0" rtlCol="0" anchor="ctr"/>
          <a:lstStyle/>
          <a:p>
            <a:pPr marL="0" indent="0" algn="ctr">
              <a:buNone/>
            </a:pPr>
            <a:r>
              <a:rPr lang="en-US" sz="6000" b="1" dirty="0">
                <a:solidFill>
                  <a:srgbClr val="0B3C49"/>
                </a:solidFill>
              </a:rPr>
              <a:t>03</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marL="0" indent="0">
              <a:buNone/>
            </a:pPr>
            <a:r>
              <a:rPr lang="en-US" sz="4000" b="1" dirty="0">
                <a:solidFill>
                  <a:srgbClr val="FFFFFF"/>
                </a:solidFill>
              </a:rPr>
              <a:t>Can the knowledge travel?</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marL="0" indent="0">
              <a:buNone/>
            </a:pPr>
            <a:r>
              <a:rPr lang="en-US" sz="2000" dirty="0">
                <a:solidFill>
                  <a:srgbClr val="CFE3E7"/>
                </a:solidFill>
              </a:rPr>
              <a:t>We rebuilt the system from the semantic layer alone, then compared</a:t>
            </a:r>
            <a:endParaRPr lang="en-US" sz="2000" dirty="0"/>
          </a:p>
        </p:txBody>
      </p:sp>
      <p:sp>
        <p:nvSpPr>
          <p:cNvPr id="6" name="Shape 4"/>
          <p:cNvSpPr/>
          <p:nvPr/>
        </p:nvSpPr>
        <p:spPr>
          <a:xfrm>
            <a:off x="9692640" y="4754880"/>
            <a:ext cx="3291840" cy="3291840"/>
          </a:xfrm>
          <a:prstGeom prst="ellipse">
            <a:avLst/>
          </a:prstGeom>
          <a:solidFill>
            <a:srgbClr val="134D5C"/>
          </a:solidFill>
          <a:ln/>
        </p:spPr>
        <p:txBody>
          <a:bodyPr/>
          <a:p/>
        </p:txBody>
      </p:sp>
      <p:sp>
        <p:nvSpPr>
          <p:cNvPr id="7" name="Shape 5"/>
          <p:cNvSpPr/>
          <p:nvPr/>
        </p:nvSpPr>
        <p:spPr>
          <a:xfrm>
            <a:off x="8869680" y="5760720"/>
            <a:ext cx="1463040" cy="1463040"/>
          </a:xfrm>
          <a:prstGeom prst="ellipse">
            <a:avLst/>
          </a:prstGeom>
          <a:solidFill>
            <a:srgbClr val="1F7A8C">
              <a:alpha val="60000"/>
            </a:srgbClr>
          </a:solidFill>
          <a:ln/>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03  CAN THE KNOWLEDGE TRAVEL?</a:t>
            </a:r>
            <a:endParaRPr lang="en-US" sz="1100" dirty="0"/>
          </a:p>
        </p:txBody>
      </p:sp>
      <p:sp>
        <p:nvSpPr>
          <p:cNvPr id="3" name="Text 0"/>
          <p:cNvSpPr>
            <a:spLocks noGrp="1"/>
          </p:cNvSpPr>
          <p:nvPr>
            <p:ph type="title" idx="100" hasCustomPrompt="1"/>
          </p:nvPr>
        </p:nvSpPr>
        <p:spPr>
          <a:xfrm>
            <a:off x="457200" y="329184"/>
            <a:ext cx="10607040" cy="548640"/>
          </a:xfrm>
          <a:prstGeom prst="rect">
            <a:avLst/>
          </a:prstGeom>
          <a:noFill/>
          <a:ln/>
        </p:spPr>
        <p:txBody>
          <a:bodyPr wrap="square" lIns="0" tIns="0" rIns="0" bIns="0" rtlCol="0" anchor="ctr"/>
          <a:lstStyle/>
          <a:p>
            <a:pPr marL="0" indent="0" algn="l">
              <a:buNone/>
            </a:pPr>
            <a:r>
              <a:rPr lang="en-US" sz="2500" b="1" dirty="0">
                <a:solidFill>
                  <a:schemeClr val="tx2"/>
                </a:solidFill>
              </a:rPr>
              <a:t>Semantic layer v2.0: knowledge owned outside the code and the model</a:t>
            </a:r>
            <a:endParaRPr lang="en-US" sz="2500" dirty="0"/>
          </a:p>
        </p:txBody>
      </p:sp>
      <p:sp>
        <p:nvSpPr>
          <p:cNvPr id="5" name="06-semantic-layer:md"/>
          <p:cNvSpPr txBox="1"/>
          <p:nvPr/>
        </p:nvSpPr>
        <p:spPr>
          <a:xfrm>
            <a:off x="320254" y="1040130"/>
            <a:ext cx="7515654" cy="1000125"/>
          </a:xfrm>
          <a:prstGeom prst="roundRect">
            <a:avLst>
              <a:gd name="adj" fmla="val 2743"/>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Markdown: for people</a:t>
            </a:r>
            <a:endParaRPr lang="en-US" sz="1160" dirty="0"/>
          </a:p>
        </p:txBody>
      </p:sp>
      <p:sp>
        <p:nvSpPr>
          <p:cNvPr id="6" name="06-semantic-layer:m0"/>
          <p:cNvSpPr txBox="1"/>
          <p:nvPr/>
        </p:nvSpPr>
        <p:spPr>
          <a:xfrm>
            <a:off x="457736"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README</a:t>
            </a:r>
            <a:endParaRPr lang="en-US" sz="1090" dirty="0"/>
          </a:p>
        </p:txBody>
      </p:sp>
      <p:sp>
        <p:nvSpPr>
          <p:cNvPr id="7" name="06-semantic-layer:m1"/>
          <p:cNvSpPr txBox="1"/>
          <p:nvPr/>
        </p:nvSpPr>
        <p:spPr>
          <a:xfrm>
            <a:off x="1924205"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Glossary</a:t>
            </a:r>
            <a:endParaRPr lang="en-US" sz="1090" dirty="0"/>
          </a:p>
        </p:txBody>
      </p:sp>
      <p:sp>
        <p:nvSpPr>
          <p:cNvPr id="8" name="06-semantic-layer:m2"/>
          <p:cNvSpPr txBox="1"/>
          <p:nvPr/>
        </p:nvSpPr>
        <p:spPr>
          <a:xfrm>
            <a:off x="3390674"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Domain knowledge</a:t>
            </a:r>
            <a:endParaRPr lang="en-US" sz="1090" dirty="0"/>
          </a:p>
        </p:txBody>
      </p:sp>
      <p:sp>
        <p:nvSpPr>
          <p:cNvPr id="9" name="06-semantic-layer:m3"/>
          <p:cNvSpPr txBox="1"/>
          <p:nvPr/>
        </p:nvSpPr>
        <p:spPr>
          <a:xfrm>
            <a:off x="4857143"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Enum violations</a:t>
            </a:r>
            <a:endParaRPr lang="en-US" sz="1090" dirty="0"/>
          </a:p>
        </p:txBody>
      </p:sp>
      <p:sp>
        <p:nvSpPr>
          <p:cNvPr id="10" name="06-semantic-layer:m4"/>
          <p:cNvSpPr txBox="1"/>
          <p:nvPr/>
        </p:nvSpPr>
        <p:spPr>
          <a:xfrm>
            <a:off x="6323612"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Completeness</a:t>
            </a:r>
            <a:endParaRPr lang="en-US" sz="1090" dirty="0"/>
          </a:p>
        </p:txBody>
      </p:sp>
      <p:sp>
        <p:nvSpPr>
          <p:cNvPr id="11" name="06-semantic-layer:ym"/>
          <p:cNvSpPr txBox="1"/>
          <p:nvPr/>
        </p:nvSpPr>
        <p:spPr>
          <a:xfrm>
            <a:off x="320254" y="2160270"/>
            <a:ext cx="7515654" cy="1840230"/>
          </a:xfrm>
          <a:prstGeom prst="roundRect">
            <a:avLst>
              <a:gd name="adj" fmla="val 1491"/>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YAML: definitions (source of truth)</a:t>
            </a:r>
            <a:endParaRPr lang="en-US" sz="1160" dirty="0"/>
          </a:p>
        </p:txBody>
      </p:sp>
      <p:sp>
        <p:nvSpPr>
          <p:cNvPr id="12" name="06-semantic-layer:y0"/>
          <p:cNvSpPr txBox="1"/>
          <p:nvPr/>
        </p:nvSpPr>
        <p:spPr>
          <a:xfrm>
            <a:off x="457736"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Entities</a:t>
            </a:r>
            <a:endParaRPr lang="en-US" sz="1090" dirty="0"/>
          </a:p>
          <a:p>
            <a:pPr marL="0" indent="0" algn="ctr">
              <a:buNone/>
            </a:pPr>
            <a:r>
              <a:rPr lang="en-US" sz="1090" dirty="0">
                <a:solidFill>
                  <a:srgbClr val="1B1B1B"/>
                </a:solidFill>
                <a:latin typeface="Calibri" pitchFamily="34" charset="0"/>
                <a:ea typeface="Calibri" pitchFamily="34" charset="-122"/>
                <a:cs typeface="Calibri" pitchFamily="34" charset="-120"/>
              </a:rPr>
              <a:t>56 of 56 columns</a:t>
            </a:r>
            <a:endParaRPr lang="en-US" sz="1090" dirty="0"/>
          </a:p>
        </p:txBody>
      </p:sp>
      <p:sp>
        <p:nvSpPr>
          <p:cNvPr id="13" name="06-semantic-layer:y1"/>
          <p:cNvSpPr txBox="1"/>
          <p:nvPr/>
        </p:nvSpPr>
        <p:spPr>
          <a:xfrm>
            <a:off x="2290822"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Status taxonomy</a:t>
            </a:r>
            <a:endParaRPr lang="en-US" sz="1090" dirty="0"/>
          </a:p>
        </p:txBody>
      </p:sp>
      <p:sp>
        <p:nvSpPr>
          <p:cNvPr id="14" name="06-semantic-layer:y2"/>
          <p:cNvSpPr txBox="1"/>
          <p:nvPr/>
        </p:nvSpPr>
        <p:spPr>
          <a:xfrm>
            <a:off x="4123908"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Relationships</a:t>
            </a:r>
            <a:endParaRPr lang="en-US" sz="1090" dirty="0"/>
          </a:p>
          <a:p>
            <a:pPr marL="0" indent="0" algn="ctr">
              <a:buNone/>
            </a:pPr>
            <a:r>
              <a:rPr lang="en-US" sz="1090" dirty="0">
                <a:solidFill>
                  <a:srgbClr val="1B1B1B"/>
                </a:solidFill>
                <a:latin typeface="Calibri" pitchFamily="34" charset="0"/>
                <a:ea typeface="Calibri" pitchFamily="34" charset="-122"/>
                <a:cs typeface="Calibri" pitchFamily="34" charset="-120"/>
              </a:rPr>
              <a:t>and saga</a:t>
            </a:r>
            <a:endParaRPr lang="en-US" sz="1090" dirty="0"/>
          </a:p>
        </p:txBody>
      </p:sp>
      <p:sp>
        <p:nvSpPr>
          <p:cNvPr id="15" name="06-semantic-layer:y3"/>
          <p:cNvSpPr txBox="1"/>
          <p:nvPr/>
        </p:nvSpPr>
        <p:spPr>
          <a:xfrm>
            <a:off x="5956995"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Business rules</a:t>
            </a:r>
            <a:endParaRPr lang="en-US" sz="1090" dirty="0"/>
          </a:p>
          <a:p>
            <a:pPr marL="0" indent="0" algn="ctr">
              <a:buNone/>
            </a:pPr>
            <a:r>
              <a:rPr lang="en-US" sz="1090" dirty="0">
                <a:solidFill>
                  <a:srgbClr val="1B1B1B"/>
                </a:solidFill>
                <a:latin typeface="Calibri" pitchFamily="34" charset="0"/>
                <a:ea typeface="Calibri" pitchFamily="34" charset="-122"/>
                <a:cs typeface="Calibri" pitchFamily="34" charset="-120"/>
              </a:rPr>
              <a:t>BR-01 to BR-13</a:t>
            </a:r>
            <a:endParaRPr lang="en-US" sz="1090" dirty="0"/>
          </a:p>
        </p:txBody>
      </p:sp>
      <p:sp>
        <p:nvSpPr>
          <p:cNvPr id="16" name="06-semantic-layer:y4"/>
          <p:cNvSpPr txBox="1"/>
          <p:nvPr/>
        </p:nvSpPr>
        <p:spPr>
          <a:xfrm>
            <a:off x="457736"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Metrics</a:t>
            </a:r>
            <a:endParaRPr lang="en-US" sz="1090" dirty="0"/>
          </a:p>
          <a:p>
            <a:pPr marL="0" indent="0" algn="ctr">
              <a:buNone/>
            </a:pPr>
            <a:r>
              <a:rPr lang="en-US" sz="1090" dirty="0">
                <a:solidFill>
                  <a:srgbClr val="1B1B1B"/>
                </a:solidFill>
                <a:latin typeface="Calibri" pitchFamily="34" charset="0"/>
                <a:ea typeface="Calibri" pitchFamily="34" charset="-122"/>
                <a:cs typeface="Calibri" pitchFamily="34" charset="-120"/>
              </a:rPr>
              <a:t>K1 to K10</a:t>
            </a:r>
            <a:endParaRPr lang="en-US" sz="1090" dirty="0"/>
          </a:p>
        </p:txBody>
      </p:sp>
      <p:sp>
        <p:nvSpPr>
          <p:cNvPr id="17" name="06-semantic-layer:y5"/>
          <p:cNvSpPr txBox="1"/>
          <p:nvPr/>
        </p:nvSpPr>
        <p:spPr>
          <a:xfrm>
            <a:off x="2290822"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Access semantics</a:t>
            </a:r>
            <a:endParaRPr lang="en-US" sz="1090" dirty="0"/>
          </a:p>
          <a:p>
            <a:pPr marL="0" indent="0" algn="ctr">
              <a:buNone/>
            </a:pPr>
            <a:r>
              <a:rPr lang="en-US" sz="1090" dirty="0">
                <a:solidFill>
                  <a:srgbClr val="1B1B1B"/>
                </a:solidFill>
                <a:latin typeface="Calibri" pitchFamily="34" charset="0"/>
                <a:ea typeface="Calibri" pitchFamily="34" charset="-122"/>
                <a:cs typeface="Calibri" pitchFamily="34" charset="-120"/>
              </a:rPr>
              <a:t>8 personas</a:t>
            </a:r>
            <a:endParaRPr lang="en-US" sz="1090" dirty="0"/>
          </a:p>
        </p:txBody>
      </p:sp>
      <p:sp>
        <p:nvSpPr>
          <p:cNvPr id="18" name="06-semantic-layer:y6"/>
          <p:cNvSpPr txBox="1"/>
          <p:nvPr/>
        </p:nvSpPr>
        <p:spPr>
          <a:xfrm>
            <a:off x="4123908"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AI context policy</a:t>
            </a:r>
            <a:endParaRPr lang="en-US" sz="1090" dirty="0"/>
          </a:p>
        </p:txBody>
      </p:sp>
      <p:sp>
        <p:nvSpPr>
          <p:cNvPr id="19" name="06-semantic-layer:y7"/>
          <p:cNvSpPr txBox="1"/>
          <p:nvPr/>
        </p:nvSpPr>
        <p:spPr>
          <a:xfrm>
            <a:off x="5956995"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Workflow semantics</a:t>
            </a:r>
            <a:endParaRPr lang="en-US" sz="1090" dirty="0"/>
          </a:p>
        </p:txBody>
      </p:sp>
      <p:sp>
        <p:nvSpPr>
          <p:cNvPr id="20" name="06-semantic-layer:js"/>
          <p:cNvSpPr txBox="1"/>
          <p:nvPr/>
        </p:nvSpPr>
        <p:spPr>
          <a:xfrm>
            <a:off x="320254" y="4120515"/>
            <a:ext cx="3666172" cy="960120"/>
          </a:xfrm>
          <a:prstGeom prst="roundRect">
            <a:avLst>
              <a:gd name="adj" fmla="val 2857"/>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JSON Schema: validation</a:t>
            </a:r>
            <a:endParaRPr lang="en-US" sz="1160" dirty="0"/>
          </a:p>
        </p:txBody>
      </p:sp>
      <p:sp>
        <p:nvSpPr>
          <p:cNvPr id="21" name="06-semantic-layer:js1"/>
          <p:cNvSpPr txBox="1"/>
          <p:nvPr/>
        </p:nvSpPr>
        <p:spPr>
          <a:xfrm>
            <a:off x="457736" y="4456557"/>
            <a:ext cx="3391210"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semantic-layer.schema.json</a:t>
            </a:r>
            <a:endParaRPr lang="en-US" sz="1010" dirty="0"/>
          </a:p>
          <a:p>
            <a:pPr marL="0" indent="0" algn="ctr">
              <a:buNone/>
            </a:pPr>
            <a:r>
              <a:rPr lang="en-US" sz="1010" dirty="0">
                <a:solidFill>
                  <a:srgbClr val="0B3C49"/>
                </a:solidFill>
                <a:latin typeface="Calibri" pitchFamily="34" charset="0"/>
                <a:ea typeface="Calibri" pitchFamily="34" charset="-122"/>
                <a:cs typeface="Calibri" pitchFamily="34" charset="-120"/>
              </a:rPr>
              <a:t>one definition per file</a:t>
            </a:r>
            <a:endParaRPr lang="en-US" sz="1010" dirty="0"/>
          </a:p>
        </p:txBody>
      </p:sp>
      <p:sp>
        <p:nvSpPr>
          <p:cNvPr id="22" name="06-semantic-layer:jn"/>
          <p:cNvSpPr txBox="1"/>
          <p:nvPr/>
        </p:nvSpPr>
        <p:spPr>
          <a:xfrm>
            <a:off x="4078081" y="4120515"/>
            <a:ext cx="3757827" cy="960120"/>
          </a:xfrm>
          <a:prstGeom prst="roundRect">
            <a:avLst>
              <a:gd name="adj" fmla="val 2857"/>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JSON: exchange</a:t>
            </a:r>
            <a:endParaRPr lang="en-US" sz="1160" dirty="0"/>
          </a:p>
        </p:txBody>
      </p:sp>
      <p:sp>
        <p:nvSpPr>
          <p:cNvPr id="23" name="06-semantic-layer:jn1"/>
          <p:cNvSpPr txBox="1"/>
          <p:nvPr/>
        </p:nvSpPr>
        <p:spPr>
          <a:xfrm>
            <a:off x="4215563" y="4456557"/>
            <a:ext cx="1695605"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10" b="1" dirty="0">
                <a:solidFill>
                  <a:srgbClr val="0B3C49"/>
                </a:solidFill>
                <a:latin typeface="Calibri" pitchFamily="34" charset="0"/>
                <a:ea typeface="Calibri" pitchFamily="34" charset="-122"/>
                <a:cs typeface="Calibri" pitchFamily="34" charset="-120"/>
              </a:rPr>
              <a:t>api-contract.json</a:t>
            </a:r>
            <a:endParaRPr lang="en-US" sz="1010" dirty="0"/>
          </a:p>
        </p:txBody>
      </p:sp>
      <p:sp>
        <p:nvSpPr>
          <p:cNvPr id="24" name="06-semantic-layer:jn2"/>
          <p:cNvSpPr txBox="1"/>
          <p:nvPr/>
        </p:nvSpPr>
        <p:spPr>
          <a:xfrm>
            <a:off x="6021153" y="4456557"/>
            <a:ext cx="1695605"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940" b="1" dirty="0">
                <a:solidFill>
                  <a:srgbClr val="0B3C49"/>
                </a:solidFill>
                <a:latin typeface="Calibri" pitchFamily="34" charset="0"/>
                <a:ea typeface="Calibri" pitchFamily="34" charset="-122"/>
                <a:cs typeface="Calibri" pitchFamily="34" charset="-120"/>
              </a:rPr>
              <a:t>Generated layer</a:t>
            </a:r>
            <a:endParaRPr lang="en-US" sz="940" dirty="0"/>
          </a:p>
          <a:p>
            <a:pPr marL="0" indent="0" algn="ctr">
              <a:buNone/>
            </a:pPr>
            <a:r>
              <a:rPr lang="en-US" sz="940" dirty="0">
                <a:solidFill>
                  <a:srgbClr val="0B3C49"/>
                </a:solidFill>
                <a:latin typeface="Calibri" pitchFamily="34" charset="0"/>
                <a:ea typeface="Calibri" pitchFamily="34" charset="-122"/>
                <a:cs typeface="Calibri" pitchFamily="34" charset="-120"/>
              </a:rPr>
              <a:t>semantic-layer.json</a:t>
            </a:r>
            <a:endParaRPr lang="en-US" sz="940" dirty="0"/>
          </a:p>
        </p:txBody>
      </p:sp>
      <p:sp>
        <p:nvSpPr>
          <p:cNvPr id="25" name="06-semantic-layer:ts"/>
          <p:cNvSpPr txBox="1"/>
          <p:nvPr/>
        </p:nvSpPr>
        <p:spPr>
          <a:xfrm>
            <a:off x="320254" y="5200650"/>
            <a:ext cx="7515654" cy="800100"/>
          </a:xfrm>
          <a:prstGeom prst="roundRect">
            <a:avLst>
              <a:gd name="adj" fmla="val 3429"/>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Tests: integrity</a:t>
            </a:r>
            <a:endParaRPr lang="en-US" sz="1160" dirty="0"/>
          </a:p>
        </p:txBody>
      </p:sp>
      <p:sp>
        <p:nvSpPr>
          <p:cNvPr id="26" name="06-semantic-layer:ts1"/>
          <p:cNvSpPr txBox="1"/>
          <p:nvPr/>
        </p:nvSpPr>
        <p:spPr>
          <a:xfrm>
            <a:off x="457736" y="5520690"/>
            <a:ext cx="3574518" cy="384048"/>
          </a:xfrm>
          <a:prstGeom prst="roundRect">
            <a:avLst>
              <a:gd name="adj" fmla="val 14286"/>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090" b="1" dirty="0">
                <a:solidFill>
                  <a:srgbClr val="1E5631"/>
                </a:solidFill>
                <a:latin typeface="Calibri" pitchFamily="34" charset="0"/>
                <a:ea typeface="Calibri" pitchFamily="34" charset="-122"/>
                <a:cs typeface="Calibri" pitchFamily="34" charset="-120"/>
              </a:rPr>
              <a:t>23 layer tests</a:t>
            </a:r>
            <a:endParaRPr lang="en-US" sz="1090" dirty="0"/>
          </a:p>
        </p:txBody>
      </p:sp>
      <p:sp>
        <p:nvSpPr>
          <p:cNvPr id="27" name="06-semantic-layer:ts2"/>
          <p:cNvSpPr txBox="1"/>
          <p:nvPr/>
        </p:nvSpPr>
        <p:spPr>
          <a:xfrm>
            <a:off x="4142239" y="5520690"/>
            <a:ext cx="3574518" cy="384048"/>
          </a:xfrm>
          <a:prstGeom prst="roundRect">
            <a:avLst>
              <a:gd name="adj" fmla="val 14286"/>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090" b="1" dirty="0">
                <a:solidFill>
                  <a:srgbClr val="1E5631"/>
                </a:solidFill>
                <a:latin typeface="Calibri" pitchFamily="34" charset="0"/>
                <a:ea typeface="Calibri" pitchFamily="34" charset="-122"/>
                <a:cs typeface="Calibri" pitchFamily="34" charset="-120"/>
              </a:rPr>
              <a:t>5 conformance tests: app matches layer</a:t>
            </a:r>
            <a:endParaRPr lang="en-US" sz="1090" dirty="0"/>
          </a:p>
        </p:txBody>
      </p:sp>
      <p:sp>
        <p:nvSpPr>
          <p:cNvPr id="28" name="06-semantic-layer:use"/>
          <p:cNvSpPr txBox="1"/>
          <p:nvPr/>
        </p:nvSpPr>
        <p:spPr>
          <a:xfrm>
            <a:off x="8019217" y="1040130"/>
            <a:ext cx="3849481" cy="4960620"/>
          </a:xfrm>
          <a:prstGeom prst="roundRect">
            <a:avLst>
              <a:gd name="adj" fmla="val 713"/>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Used by</a:t>
            </a:r>
            <a:endParaRPr lang="en-US" sz="1160" dirty="0"/>
          </a:p>
        </p:txBody>
      </p:sp>
      <p:sp>
        <p:nvSpPr>
          <p:cNvPr id="29" name="06-semantic-layer:u0"/>
          <p:cNvSpPr txBox="1"/>
          <p:nvPr/>
        </p:nvSpPr>
        <p:spPr>
          <a:xfrm>
            <a:off x="8202525" y="1400175"/>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Policy engine</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access decisions</a:t>
            </a:r>
            <a:endParaRPr lang="en-US" sz="1090" dirty="0"/>
          </a:p>
        </p:txBody>
      </p:sp>
      <p:sp>
        <p:nvSpPr>
          <p:cNvPr id="30" name="06-semantic-layer:u1"/>
          <p:cNvSpPr txBox="1"/>
          <p:nvPr/>
        </p:nvSpPr>
        <p:spPr>
          <a:xfrm>
            <a:off x="8202525" y="2296287"/>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ETL validation</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rules and taxonomy</a:t>
            </a:r>
            <a:endParaRPr lang="en-US" sz="1090" dirty="0"/>
          </a:p>
        </p:txBody>
      </p:sp>
      <p:sp>
        <p:nvSpPr>
          <p:cNvPr id="31" name="06-semantic-layer:u2"/>
          <p:cNvSpPr txBox="1"/>
          <p:nvPr/>
        </p:nvSpPr>
        <p:spPr>
          <a:xfrm>
            <a:off x="8202525" y="3192399"/>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AI gateway</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context and decision rules</a:t>
            </a:r>
            <a:endParaRPr lang="en-US" sz="1090" dirty="0"/>
          </a:p>
        </p:txBody>
      </p:sp>
      <p:sp>
        <p:nvSpPr>
          <p:cNvPr id="32" name="06-semantic-layer:u3"/>
          <p:cNvSpPr txBox="1"/>
          <p:nvPr/>
        </p:nvSpPr>
        <p:spPr>
          <a:xfrm>
            <a:off x="8202525" y="4088511"/>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Generated policy (Rego)</a:t>
            </a:r>
            <a:endParaRPr lang="en-US" sz="1090" dirty="0"/>
          </a:p>
        </p:txBody>
      </p:sp>
      <p:sp>
        <p:nvSpPr>
          <p:cNvPr id="33" name="06-semantic-layer:u4"/>
          <p:cNvSpPr txBox="1"/>
          <p:nvPr/>
        </p:nvSpPr>
        <p:spPr>
          <a:xfrm>
            <a:off x="8202525" y="4984623"/>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Rebuilds from the layer</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Stage Q subset; blind rebuild of v2.0</a:t>
            </a:r>
            <a:endParaRPr lang="en-US" sz="1090" dirty="0"/>
          </a:p>
        </p:txBody>
      </p:sp>
      <p:sp>
        <p:nvSpPr>
          <p:cNvPr id="34" name="06-semantic-layer:qn"/>
          <p:cNvSpPr txBox="1"/>
          <p:nvPr/>
        </p:nvSpPr>
        <p:spPr>
          <a:xfrm>
            <a:off x="320254" y="6120765"/>
            <a:ext cx="11548443" cy="560070"/>
          </a:xfrm>
          <a:prstGeom prst="roundRect">
            <a:avLst>
              <a:gd name="adj" fmla="val 9796"/>
            </a:avLst>
          </a:prstGeom>
          <a:solidFill>
            <a:srgbClr val="FFFFFF"/>
          </a:solidFill>
          <a:ln/>
        </p:spPr>
        <p:txBody>
          <a:bodyPr wrap="square" lIns="25400" tIns="50800" rIns="50800" bIns="25400" rtlCol="0" anchor="ctr"/>
          <a:lstStyle/>
          <a:p>
            <a:pPr marL="0" indent="0" algn="l">
              <a:buNone/>
            </a:pPr>
            <a:r>
              <a:rPr lang="en-US" sz="1010" dirty="0">
                <a:solidFill>
                  <a:srgbClr val="41545A"/>
                </a:solidFill>
                <a:latin typeface="Calibri" pitchFamily="34" charset="0"/>
                <a:ea typeface="Calibri" pitchFamily="34" charset="-122"/>
                <a:cs typeface="Calibri" pitchFamily="34" charset="-120"/>
              </a:rPr>
              <a:t>Tested twice. Stage Q (v1.0): a second model rebuilt a subset; safety 5 of 5, fidelity 0 of 2. Blind rebuild of v2.0 alone: 29 of 30 checks and 41 of 41 AI</a:t>
            </a:r>
            <a:endParaRPr lang="en-US" sz="1010" dirty="0"/>
          </a:p>
          <a:p>
            <a:pPr marL="0" indent="0" algn="l">
              <a:buNone/>
            </a:pPr>
            <a:r>
              <a:rPr lang="en-US" sz="1010" dirty="0">
                <a:solidFill>
                  <a:srgbClr val="41545A"/>
                </a:solidFill>
                <a:latin typeface="Calibri" pitchFamily="34" charset="0"/>
                <a:ea typeface="Calibri" pitchFamily="34" charset="-122"/>
                <a:cs typeface="Calibri" pitchFamily="34" charset="-120"/>
              </a:rPr>
              <a:t>decisions match; 0 of 354 original rows accepted.</a:t>
            </a:r>
            <a:endParaRPr lang="en-US" sz="1010" dirty="0"/>
          </a:p>
        </p:txBody>
      </p:sp>
      <p:sp>
        <p:nvSpPr>
          <p:cNvPr id="35" name="06-semantic-layer:edge:ym-&gt;use"/>
          <p:cNvSpPr/>
          <p:nvPr/>
        </p:nvSpPr>
        <p:spPr>
          <a:xfrm>
            <a:off x="7835908" y="3362020"/>
            <a:ext cx="183309" cy="14402"/>
          </a:xfrm>
          <a:prstGeom prst="line">
            <a:avLst/>
          </a:prstGeom>
          <a:noFill/>
          <a:ln w="19050">
            <a:solidFill>
              <a:srgbClr val="41545A"/>
            </a:solidFill>
            <a:prstDash val="solid"/>
            <a:tailEnd type="triangle"/>
          </a:ln>
        </p:spPr>
        <p:txBody>
          <a:bodyPr/>
          <a:p/>
        </p:txBody>
      </p:sp>
      <p:sp>
        <p:nvSpPr>
          <p:cNvPr id="4"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03  CAN THE KNOWLEDGE TRAVEL?</a:t>
            </a:r>
            <a:endParaRPr lang="en-US" sz="1100" dirty="0"/>
          </a:p>
        </p:txBody>
      </p:sp>
      <p:sp>
        <p:nvSpPr>
          <p:cNvPr id="3" name="Text 0"/>
          <p:cNvSpPr>
            <a:spLocks noGrp="1"/>
          </p:cNvSpPr>
          <p:nvPr>
            <p:ph type="title" idx="100" hasCustomPrompt="1"/>
          </p:nvPr>
        </p:nvSpPr>
        <p:spPr>
          <a:xfrm>
            <a:off x="457200" y="329184"/>
            <a:ext cx="10607040" cy="548640"/>
          </a:xfrm>
          <a:prstGeom prst="rect">
            <a:avLst/>
          </a:prstGeom>
          <a:noFill/>
          <a:ln/>
        </p:spPr>
        <p:txBody>
          <a:bodyPr wrap="square" lIns="0" tIns="0" rIns="0" bIns="0" rtlCol="0" anchor="ctr"/>
          <a:lstStyle/>
          <a:p>
            <a:pPr marL="0" indent="0" algn="l">
              <a:buNone/>
            </a:pPr>
            <a:r>
              <a:rPr lang="en-US" sz="2500" b="1" dirty="0">
                <a:solidFill>
                  <a:schemeClr val="tx2"/>
                </a:solidFill>
              </a:rPr>
              <a:t>The rebuild: semantic layer in, application out, then compared</a:t>
            </a:r>
            <a:endParaRPr lang="en-US" sz="2500" dirty="0"/>
          </a:p>
        </p:txBody>
      </p:sp>
      <p:sp>
        <p:nvSpPr>
          <p:cNvPr id="5" name="07-semantic-layer-rebuild:l_build"/>
          <p:cNvSpPr txBox="1"/>
          <p:nvPr/>
        </p:nvSpPr>
        <p:spPr>
          <a:xfrm>
            <a:off x="320254" y="1040130"/>
            <a:ext cx="11548443" cy="2000250"/>
          </a:xfrm>
          <a:prstGeom prst="roundRect">
            <a:avLst>
              <a:gd name="adj" fmla="val 1371"/>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Step 1: rebuild from the semantic layer alone</a:t>
            </a:r>
            <a:endParaRPr lang="en-US" sz="1160" dirty="0"/>
          </a:p>
        </p:txBody>
      </p:sp>
      <p:sp>
        <p:nvSpPr>
          <p:cNvPr id="6" name="07-semantic-layer-rebuild:in"/>
          <p:cNvSpPr txBox="1"/>
          <p:nvPr/>
        </p:nvSpPr>
        <p:spPr>
          <a:xfrm>
            <a:off x="503563" y="1520190"/>
            <a:ext cx="2034726" cy="1200150"/>
          </a:xfrm>
          <a:prstGeom prst="roundRect">
            <a:avLst>
              <a:gd name="adj" fmla="val 4571"/>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160" b="1" dirty="0">
                <a:solidFill>
                  <a:srgbClr val="1B1B1B"/>
                </a:solidFill>
                <a:latin typeface="Calibri" pitchFamily="34" charset="0"/>
                <a:ea typeface="Calibri" pitchFamily="34" charset="-122"/>
                <a:cs typeface="Calibri" pitchFamily="34" charset="-120"/>
              </a:rPr>
              <a:t>Input</a:t>
            </a:r>
            <a:endParaRPr lang="en-US" sz="1160" dirty="0"/>
          </a:p>
          <a:p>
            <a:pPr marL="0" indent="0" algn="ctr">
              <a:buNone/>
            </a:pPr>
            <a:r>
              <a:rPr lang="en-US" sz="1160" dirty="0">
                <a:solidFill>
                  <a:srgbClr val="1B1B1B"/>
                </a:solidFill>
                <a:latin typeface="Calibri" pitchFamily="34" charset="0"/>
                <a:ea typeface="Calibri" pitchFamily="34" charset="-122"/>
                <a:cs typeface="Calibri" pitchFamily="34" charset="-120"/>
              </a:rPr>
              <a:t>semantic-layer/ only:</a:t>
            </a:r>
            <a:endParaRPr lang="en-US" sz="1160" dirty="0"/>
          </a:p>
          <a:p>
            <a:pPr marL="0" indent="0" algn="ctr">
              <a:buNone/>
            </a:pPr>
            <a:r>
              <a:rPr lang="en-US" sz="1160" dirty="0">
                <a:solidFill>
                  <a:srgbClr val="1B1B1B"/>
                </a:solidFill>
                <a:latin typeface="Calibri" pitchFamily="34" charset="0"/>
                <a:ea typeface="Calibri" pitchFamily="34" charset="-122"/>
                <a:cs typeface="Calibri" pitchFamily="34" charset="-120"/>
              </a:rPr>
              <a:t>21 files from commit</a:t>
            </a:r>
            <a:endParaRPr lang="en-US" sz="1160" dirty="0"/>
          </a:p>
          <a:p>
            <a:pPr marL="0" indent="0" algn="ctr">
              <a:buNone/>
            </a:pPr>
            <a:r>
              <a:rPr lang="en-US" sz="1160" dirty="0">
                <a:solidFill>
                  <a:srgbClr val="1B1B1B"/>
                </a:solidFill>
                <a:latin typeface="Calibri" pitchFamily="34" charset="0"/>
                <a:ea typeface="Calibri" pitchFamily="34" charset="-122"/>
                <a:cs typeface="Calibri" pitchFamily="34" charset="-120"/>
              </a:rPr>
              <a:t>a6fc839</a:t>
            </a:r>
            <a:endParaRPr lang="en-US" sz="1160" dirty="0"/>
          </a:p>
        </p:txBody>
      </p:sp>
      <p:sp>
        <p:nvSpPr>
          <p:cNvPr id="7" name="07-semantic-layer-rebuild:ag"/>
          <p:cNvSpPr txBox="1"/>
          <p:nvPr/>
        </p:nvSpPr>
        <p:spPr>
          <a:xfrm>
            <a:off x="2776590" y="1520190"/>
            <a:ext cx="2034726" cy="1200150"/>
          </a:xfrm>
          <a:prstGeom prst="roundRect">
            <a:avLst>
              <a:gd name="adj" fmla="val 4571"/>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160" b="1" dirty="0">
                <a:solidFill>
                  <a:srgbClr val="FFFFFF"/>
                </a:solidFill>
                <a:latin typeface="Calibri" pitchFamily="34" charset="0"/>
                <a:ea typeface="Calibri" pitchFamily="34" charset="-122"/>
                <a:cs typeface="Calibri" pitchFamily="34" charset="-120"/>
              </a:rPr>
              <a:t>Blind builder agent</a:t>
            </a:r>
            <a:endParaRPr lang="en-US" sz="1160" dirty="0"/>
          </a:p>
          <a:p>
            <a:pPr marL="0" indent="0" algn="ctr">
              <a:buNone/>
            </a:pPr>
            <a:r>
              <a:rPr lang="en-US" sz="1160" dirty="0">
                <a:solidFill>
                  <a:srgbClr val="FFFFFF"/>
                </a:solidFill>
                <a:latin typeface="Calibri" pitchFamily="34" charset="0"/>
                <a:ea typeface="Calibri" pitchFamily="34" charset="-122"/>
                <a:cs typeface="Calibri" pitchFamily="34" charset="-120"/>
              </a:rPr>
              <a:t>reads nothing else; all</a:t>
            </a:r>
            <a:endParaRPr lang="en-US" sz="1160" dirty="0"/>
          </a:p>
          <a:p>
            <a:pPr marL="0" indent="0" algn="ctr">
              <a:buNone/>
            </a:pPr>
            <a:r>
              <a:rPr lang="en-US" sz="1160" dirty="0">
                <a:solidFill>
                  <a:srgbClr val="FFFFFF"/>
                </a:solidFill>
                <a:latin typeface="Calibri" pitchFamily="34" charset="0"/>
                <a:ea typeface="Calibri" pitchFamily="34" charset="-122"/>
                <a:cs typeface="Calibri" pitchFamily="34" charset="-120"/>
              </a:rPr>
              <a:t>57 actions audited</a:t>
            </a:r>
            <a:endParaRPr lang="en-US" sz="1160" dirty="0"/>
          </a:p>
        </p:txBody>
      </p:sp>
      <p:sp>
        <p:nvSpPr>
          <p:cNvPr id="8" name="07-semantic-layer-rebuild:prd"/>
          <p:cNvSpPr txBox="1"/>
          <p:nvPr/>
        </p:nvSpPr>
        <p:spPr>
          <a:xfrm>
            <a:off x="5049617" y="1520190"/>
            <a:ext cx="2034726"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PRD</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10 API operations, 5</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workflows, each cited</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to the layer</a:t>
            </a:r>
            <a:endParaRPr lang="en-US" sz="1160" dirty="0"/>
          </a:p>
        </p:txBody>
      </p:sp>
      <p:sp>
        <p:nvSpPr>
          <p:cNvPr id="9" name="07-semantic-layer-rebuild:app"/>
          <p:cNvSpPr txBox="1"/>
          <p:nvPr/>
        </p:nvSpPr>
        <p:spPr>
          <a:xfrm>
            <a:off x="7322644" y="1520190"/>
            <a:ext cx="2034726"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Application</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own synthetic data; 175</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tests pass</a:t>
            </a:r>
            <a:endParaRPr lang="en-US" sz="1160" dirty="0"/>
          </a:p>
        </p:txBody>
      </p:sp>
      <p:sp>
        <p:nvSpPr>
          <p:cNvPr id="10" name="07-semantic-layer-rebuild:gap"/>
          <p:cNvSpPr txBox="1"/>
          <p:nvPr/>
        </p:nvSpPr>
        <p:spPr>
          <a:xfrm>
            <a:off x="9595671" y="1520190"/>
            <a:ext cx="2034726" cy="1200150"/>
          </a:xfrm>
          <a:prstGeom prst="roundRect">
            <a:avLst>
              <a:gd name="adj" fmla="val 4571"/>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160" b="1" dirty="0">
                <a:solidFill>
                  <a:srgbClr val="7B241C"/>
                </a:solidFill>
                <a:latin typeface="Calibri" pitchFamily="34" charset="0"/>
                <a:ea typeface="Calibri" pitchFamily="34" charset="-122"/>
                <a:cs typeface="Calibri" pitchFamily="34" charset="-120"/>
              </a:rPr>
              <a:t>GAPS.md</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67 assumptions, 17 not</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buildable, 24 layer</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defects</a:t>
            </a:r>
            <a:endParaRPr lang="en-US" sz="1160" dirty="0"/>
          </a:p>
        </p:txBody>
      </p:sp>
      <p:sp>
        <p:nvSpPr>
          <p:cNvPr id="11" name="07-semantic-layer-rebuild:l_cmp"/>
          <p:cNvSpPr txBox="1"/>
          <p:nvPr/>
        </p:nvSpPr>
        <p:spPr>
          <a:xfrm>
            <a:off x="320254" y="3200400"/>
            <a:ext cx="11548443" cy="1520190"/>
          </a:xfrm>
          <a:prstGeom prst="roundRect">
            <a:avLst>
              <a:gd name="adj" fmla="val 1805"/>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Step 2: the same probes against both applications</a:t>
            </a:r>
            <a:endParaRPr lang="en-US" sz="1160" dirty="0"/>
          </a:p>
        </p:txBody>
      </p:sp>
      <p:sp>
        <p:nvSpPr>
          <p:cNvPr id="12" name="07-semantic-layer-rebuild:orig"/>
          <p:cNvSpPr txBox="1"/>
          <p:nvPr/>
        </p:nvSpPr>
        <p:spPr>
          <a:xfrm>
            <a:off x="503563" y="3600450"/>
            <a:ext cx="2749629"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Original application</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Repo 2.0 as built</a:t>
            </a:r>
            <a:endParaRPr lang="en-US" sz="1160" dirty="0"/>
          </a:p>
        </p:txBody>
      </p:sp>
      <p:sp>
        <p:nvSpPr>
          <p:cNvPr id="13" name="07-semantic-layer-rebuild:reb"/>
          <p:cNvSpPr txBox="1"/>
          <p:nvPr/>
        </p:nvSpPr>
        <p:spPr>
          <a:xfrm>
            <a:off x="8935760" y="3600450"/>
            <a:ext cx="2749629"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Rebuilt application</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from the layer only</a:t>
            </a:r>
            <a:endParaRPr lang="en-US" sz="1160" dirty="0"/>
          </a:p>
        </p:txBody>
      </p:sp>
      <p:sp>
        <p:nvSpPr>
          <p:cNvPr id="14" name="07-semantic-layer-rebuild:probe"/>
          <p:cNvSpPr txBox="1"/>
          <p:nvPr/>
        </p:nvSpPr>
        <p:spPr>
          <a:xfrm>
            <a:off x="3894772" y="3520440"/>
            <a:ext cx="4399407" cy="1040130"/>
          </a:xfrm>
          <a:prstGeom prst="roundRect">
            <a:avLst>
              <a:gd name="adj" fmla="val 5275"/>
            </a:avLst>
          </a:prstGeom>
          <a:solidFill>
            <a:srgbClr val="0B3C49"/>
          </a:solidFill>
          <a:ln w="15875">
            <a:solidFill>
              <a:srgbClr val="0B3C49"/>
            </a:solidFill>
            <a:prstDash val="solid"/>
          </a:ln>
        </p:spPr>
        <p:txBody>
          <a:bodyPr wrap="square" lIns="25400" tIns="50800" rIns="50800" bIns="25400" rtlCol="0" anchor="ctr"/>
          <a:lstStyle/>
          <a:p>
            <a:pPr marL="0" indent="0" algn="ctr">
              <a:buNone/>
            </a:pPr>
            <a:r>
              <a:rPr lang="en-US" sz="1160" b="1" dirty="0">
                <a:solidFill>
                  <a:srgbClr val="FFFFFF"/>
                </a:solidFill>
                <a:latin typeface="Calibri" pitchFamily="34" charset="0"/>
                <a:ea typeface="Calibri" pitchFamily="34" charset="-122"/>
                <a:cs typeface="Calibri" pitchFamily="34" charset="-120"/>
              </a:rPr>
              <a:t>Probe script</a:t>
            </a:r>
            <a:endParaRPr lang="en-US" sz="1160" dirty="0"/>
          </a:p>
          <a:p>
            <a:pPr marL="0" indent="0" algn="ctr">
              <a:buNone/>
            </a:pPr>
            <a:r>
              <a:rPr lang="en-US" sz="1160" dirty="0">
                <a:solidFill>
                  <a:srgbClr val="FFFFFF"/>
                </a:solidFill>
                <a:latin typeface="Calibri" pitchFamily="34" charset="0"/>
                <a:ea typeface="Calibri" pitchFamily="34" charset="-122"/>
                <a:cs typeface="Calibri" pitchFamily="34" charset="-120"/>
              </a:rPr>
              <a:t>30 HTTP checks, plus the AI decision for every</a:t>
            </a:r>
            <a:endParaRPr lang="en-US" sz="1160" dirty="0"/>
          </a:p>
          <a:p>
            <a:pPr marL="0" indent="0" algn="ctr">
              <a:buNone/>
            </a:pPr>
            <a:r>
              <a:rPr lang="en-US" sz="1160" dirty="0">
                <a:solidFill>
                  <a:srgbClr val="FFFFFF"/>
                </a:solidFill>
                <a:latin typeface="Calibri" pitchFamily="34" charset="0"/>
                <a:ea typeface="Calibri" pitchFamily="34" charset="-122"/>
                <a:cs typeface="Calibri" pitchFamily="34" charset="-120"/>
              </a:rPr>
              <a:t>shipment, on each app's data and on swapped data</a:t>
            </a:r>
            <a:endParaRPr lang="en-US" sz="1160" dirty="0"/>
          </a:p>
        </p:txBody>
      </p:sp>
      <p:sp>
        <p:nvSpPr>
          <p:cNvPr id="15" name="07-semantic-layer-rebuild:l_res"/>
          <p:cNvSpPr txBox="1"/>
          <p:nvPr/>
        </p:nvSpPr>
        <p:spPr>
          <a:xfrm>
            <a:off x="320254" y="4880610"/>
            <a:ext cx="11548443" cy="1760220"/>
          </a:xfrm>
          <a:prstGeom prst="roundRect">
            <a:avLst>
              <a:gd name="adj" fmla="val 1558"/>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Step 3: what came back</a:t>
            </a:r>
            <a:endParaRPr lang="en-US" sz="1160" dirty="0"/>
          </a:p>
        </p:txBody>
      </p:sp>
      <p:sp>
        <p:nvSpPr>
          <p:cNvPr id="16" name="07-semantic-layer-rebuild:r0"/>
          <p:cNvSpPr txBox="1"/>
          <p:nvPr/>
        </p:nvSpPr>
        <p:spPr>
          <a:xfrm>
            <a:off x="503563"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160" b="1" dirty="0">
                <a:solidFill>
                  <a:srgbClr val="1E5631"/>
                </a:solidFill>
                <a:latin typeface="Calibri" pitchFamily="34" charset="0"/>
                <a:ea typeface="Calibri" pitchFamily="34" charset="-122"/>
                <a:cs typeface="Calibri" pitchFamily="34" charset="-120"/>
              </a:rPr>
              <a:t>Status codes</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29 of 30 match</a:t>
            </a:r>
            <a:endParaRPr lang="en-US" sz="1160" dirty="0"/>
          </a:p>
        </p:txBody>
      </p:sp>
      <p:sp>
        <p:nvSpPr>
          <p:cNvPr id="17" name="07-semantic-layer-rebuild:r1"/>
          <p:cNvSpPr txBox="1"/>
          <p:nvPr/>
        </p:nvSpPr>
        <p:spPr>
          <a:xfrm>
            <a:off x="2776590"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160" b="1" dirty="0">
                <a:solidFill>
                  <a:srgbClr val="1E5631"/>
                </a:solidFill>
                <a:latin typeface="Calibri" pitchFamily="34" charset="0"/>
                <a:ea typeface="Calibri" pitchFamily="34" charset="-122"/>
                <a:cs typeface="Calibri" pitchFamily="34" charset="-120"/>
              </a:rPr>
              <a:t>AI decisions</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41 of 41 agree on the</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same data</a:t>
            </a:r>
            <a:endParaRPr lang="en-US" sz="1160" dirty="0"/>
          </a:p>
        </p:txBody>
      </p:sp>
      <p:sp>
        <p:nvSpPr>
          <p:cNvPr id="18" name="07-semantic-layer-rebuild:r2"/>
          <p:cNvSpPr txBox="1"/>
          <p:nvPr/>
        </p:nvSpPr>
        <p:spPr>
          <a:xfrm>
            <a:off x="5049617"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160" b="1" dirty="0">
                <a:solidFill>
                  <a:srgbClr val="1E5631"/>
                </a:solidFill>
                <a:latin typeface="Calibri" pitchFamily="34" charset="0"/>
                <a:ea typeface="Calibri" pitchFamily="34" charset="-122"/>
                <a:cs typeface="Calibri" pitchFamily="34" charset="-120"/>
              </a:rPr>
              <a:t>AI response fields</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the same 19</a:t>
            </a:r>
            <a:endParaRPr lang="en-US" sz="1160" dirty="0"/>
          </a:p>
        </p:txBody>
      </p:sp>
      <p:sp>
        <p:nvSpPr>
          <p:cNvPr id="19" name="07-semantic-layer-rebuild:r3"/>
          <p:cNvSpPr txBox="1"/>
          <p:nvPr/>
        </p:nvSpPr>
        <p:spPr>
          <a:xfrm>
            <a:off x="7322644" y="5280660"/>
            <a:ext cx="2034726" cy="1120140"/>
          </a:xfrm>
          <a:prstGeom prst="roundRect">
            <a:avLst>
              <a:gd name="adj" fmla="val 4898"/>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160" b="1" dirty="0">
                <a:solidFill>
                  <a:srgbClr val="7B241C"/>
                </a:solidFill>
                <a:latin typeface="Calibri" pitchFamily="34" charset="0"/>
                <a:ea typeface="Calibri" pitchFamily="34" charset="-122"/>
                <a:cs typeface="Calibri" pitchFamily="34" charset="-120"/>
              </a:rPr>
              <a:t>Original data</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0 of 354 rows accepted</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(original: 349)</a:t>
            </a:r>
            <a:endParaRPr lang="en-US" sz="1160" dirty="0"/>
          </a:p>
        </p:txBody>
      </p:sp>
      <p:sp>
        <p:nvSpPr>
          <p:cNvPr id="20" name="07-semantic-layer-rebuild:r4"/>
          <p:cNvSpPr txBox="1"/>
          <p:nvPr/>
        </p:nvSpPr>
        <p:spPr>
          <a:xfrm>
            <a:off x="9595671" y="5280660"/>
            <a:ext cx="2034726" cy="1120140"/>
          </a:xfrm>
          <a:prstGeom prst="roundRect">
            <a:avLst>
              <a:gd name="adj" fmla="val 4898"/>
            </a:avLst>
          </a:prstGeom>
          <a:solidFill>
            <a:srgbClr val="FFFFFF"/>
          </a:solidFill>
          <a:ln w="15875">
            <a:solidFill>
              <a:srgbClr val="9AA5A8"/>
            </a:solidFill>
            <a:prstDash val="dash"/>
          </a:ln>
        </p:spPr>
        <p:txBody>
          <a:bodyPr wrap="square" lIns="25400" tIns="50800" rIns="50800" bIns="25400" rtlCol="0" anchor="ctr"/>
          <a:lstStyle/>
          <a:p>
            <a:pPr marL="0" indent="0" algn="ctr">
              <a:buNone/>
            </a:pPr>
            <a:r>
              <a:rPr lang="en-US" sz="1160" b="1" dirty="0">
                <a:solidFill>
                  <a:srgbClr val="5F6E71"/>
                </a:solidFill>
                <a:latin typeface="Calibri" pitchFamily="34" charset="0"/>
                <a:ea typeface="Calibri" pitchFamily="34" charset="-122"/>
                <a:cs typeface="Calibri" pitchFamily="34" charset="-120"/>
              </a:rPr>
              <a:t>Not rebuilt</a:t>
            </a:r>
            <a:endParaRPr lang="en-US" sz="1160" dirty="0"/>
          </a:p>
          <a:p>
            <a:pPr marL="0" indent="0" algn="ctr">
              <a:buNone/>
            </a:pPr>
            <a:r>
              <a:rPr lang="en-US" sz="1160" dirty="0">
                <a:solidFill>
                  <a:srgbClr val="5F6E71"/>
                </a:solidFill>
                <a:latin typeface="Calibri" pitchFamily="34" charset="0"/>
                <a:ea typeface="Calibri" pitchFamily="34" charset="-122"/>
                <a:cs typeface="Calibri" pitchFamily="34" charset="-120"/>
              </a:rPr>
              <a:t>CI, Docker, policy</a:t>
            </a:r>
            <a:endParaRPr lang="en-US" sz="1160" dirty="0"/>
          </a:p>
          <a:p>
            <a:pPr marL="0" indent="0" algn="ctr">
              <a:buNone/>
            </a:pPr>
            <a:r>
              <a:rPr lang="en-US" sz="1160" dirty="0">
                <a:solidFill>
                  <a:srgbClr val="5F6E71"/>
                </a:solidFill>
                <a:latin typeface="Calibri" pitchFamily="34" charset="0"/>
                <a:ea typeface="Calibri" pitchFamily="34" charset="-122"/>
                <a:cs typeface="Calibri" pitchFamily="34" charset="-120"/>
              </a:rPr>
              <a:t>file, web view</a:t>
            </a:r>
            <a:endParaRPr lang="en-US" sz="1160" dirty="0"/>
          </a:p>
        </p:txBody>
      </p:sp>
      <p:sp>
        <p:nvSpPr>
          <p:cNvPr id="21" name="07-semantic-layer-rebuild:edge:in-&gt;ag"/>
          <p:cNvSpPr/>
          <p:nvPr/>
        </p:nvSpPr>
        <p:spPr>
          <a:xfrm>
            <a:off x="2538289" y="2120265"/>
            <a:ext cx="238301" cy="914"/>
          </a:xfrm>
          <a:prstGeom prst="line">
            <a:avLst/>
          </a:prstGeom>
          <a:noFill/>
          <a:ln w="19050">
            <a:solidFill>
              <a:srgbClr val="41545A"/>
            </a:solidFill>
            <a:prstDash val="solid"/>
            <a:tailEnd type="triangle"/>
          </a:ln>
        </p:spPr>
        <p:txBody>
          <a:bodyPr/>
          <a:p/>
        </p:txBody>
      </p:sp>
      <p:sp>
        <p:nvSpPr>
          <p:cNvPr id="22" name="07-semantic-layer-rebuild:edge:ag-&gt;prd"/>
          <p:cNvSpPr/>
          <p:nvPr/>
        </p:nvSpPr>
        <p:spPr>
          <a:xfrm>
            <a:off x="4811316" y="2120265"/>
            <a:ext cx="238301" cy="914"/>
          </a:xfrm>
          <a:prstGeom prst="line">
            <a:avLst/>
          </a:prstGeom>
          <a:noFill/>
          <a:ln w="19050">
            <a:solidFill>
              <a:srgbClr val="41545A"/>
            </a:solidFill>
            <a:prstDash val="solid"/>
            <a:tailEnd type="triangle"/>
          </a:ln>
        </p:spPr>
        <p:txBody>
          <a:bodyPr/>
          <a:p/>
        </p:txBody>
      </p:sp>
      <p:sp>
        <p:nvSpPr>
          <p:cNvPr id="23" name="07-semantic-layer-rebuild:edge:prd-&gt;app"/>
          <p:cNvSpPr/>
          <p:nvPr/>
        </p:nvSpPr>
        <p:spPr>
          <a:xfrm>
            <a:off x="7084343" y="2120265"/>
            <a:ext cx="238301" cy="914"/>
          </a:xfrm>
          <a:prstGeom prst="line">
            <a:avLst/>
          </a:prstGeom>
          <a:noFill/>
          <a:ln w="19050">
            <a:solidFill>
              <a:srgbClr val="41545A"/>
            </a:solidFill>
            <a:prstDash val="solid"/>
            <a:tailEnd type="triangle"/>
          </a:ln>
        </p:spPr>
        <p:txBody>
          <a:bodyPr/>
          <a:p/>
        </p:txBody>
      </p:sp>
      <p:sp>
        <p:nvSpPr>
          <p:cNvPr id="24" name="07-semantic-layer-rebuild:edge:app-&gt;gap"/>
          <p:cNvSpPr/>
          <p:nvPr/>
        </p:nvSpPr>
        <p:spPr>
          <a:xfrm>
            <a:off x="9357370" y="2120265"/>
            <a:ext cx="238301" cy="914"/>
          </a:xfrm>
          <a:prstGeom prst="line">
            <a:avLst/>
          </a:prstGeom>
          <a:noFill/>
          <a:ln w="19050">
            <a:solidFill>
              <a:srgbClr val="41545A"/>
            </a:solidFill>
            <a:prstDash val="solid"/>
            <a:tailEnd type="triangle"/>
          </a:ln>
        </p:spPr>
        <p:txBody>
          <a:bodyPr/>
          <a:p/>
        </p:txBody>
      </p:sp>
      <p:sp>
        <p:nvSpPr>
          <p:cNvPr id="25" name="07-semantic-layer-rebuild:edge:orig-&gt;probe"/>
          <p:cNvSpPr/>
          <p:nvPr/>
        </p:nvSpPr>
        <p:spPr>
          <a:xfrm>
            <a:off x="3253192" y="4040505"/>
            <a:ext cx="641580" cy="914"/>
          </a:xfrm>
          <a:prstGeom prst="line">
            <a:avLst/>
          </a:prstGeom>
          <a:noFill/>
          <a:ln w="19050">
            <a:solidFill>
              <a:srgbClr val="41545A"/>
            </a:solidFill>
            <a:prstDash val="solid"/>
            <a:tailEnd type="triangle"/>
          </a:ln>
        </p:spPr>
        <p:txBody>
          <a:bodyPr/>
          <a:p/>
        </p:txBody>
      </p:sp>
      <p:sp>
        <p:nvSpPr>
          <p:cNvPr id="26" name="07-semantic-layer-rebuild:edge:reb-&gt;probe"/>
          <p:cNvSpPr/>
          <p:nvPr/>
        </p:nvSpPr>
        <p:spPr>
          <a:xfrm flipH="1">
            <a:off x="8294180" y="4040505"/>
            <a:ext cx="641580" cy="914"/>
          </a:xfrm>
          <a:prstGeom prst="line">
            <a:avLst/>
          </a:prstGeom>
          <a:noFill/>
          <a:ln w="19050">
            <a:solidFill>
              <a:srgbClr val="41545A"/>
            </a:solidFill>
            <a:prstDash val="solid"/>
            <a:tailEnd type="triangle"/>
          </a:ln>
        </p:spPr>
        <p:txBody>
          <a:bodyPr/>
          <a:p/>
        </p:txBody>
      </p:sp>
      <p:sp>
        <p:nvSpPr>
          <p:cNvPr id="4"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03  CAN THE KNOWLEDGE TRAVEL?</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Same behaviour, not the same repository</a:t>
            </a:r>
            <a:endParaRPr lang="en-US" sz="2800" dirty="0"/>
          </a:p>
        </p:txBody>
      </p:sp>
      <p:sp>
        <p:nvSpPr>
          <p:cNvPr id="5" name="Shape 2"/>
          <p:cNvSpPr/>
          <p:nvPr/>
        </p:nvSpPr>
        <p:spPr>
          <a:xfrm>
            <a:off x="457200" y="1234440"/>
            <a:ext cx="2697480" cy="2103120"/>
          </a:xfrm>
          <a:prstGeom prst="roundRect">
            <a:avLst>
              <a:gd name="adj" fmla="val 4348"/>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6" name="Text 3"/>
          <p:cNvSpPr txBox="1"/>
          <p:nvPr/>
        </p:nvSpPr>
        <p:spPr>
          <a:xfrm>
            <a:off x="685800" y="1417320"/>
            <a:ext cx="2240280" cy="868680"/>
          </a:xfrm>
          <a:prstGeom prst="rect">
            <a:avLst/>
          </a:prstGeom>
          <a:noFill/>
          <a:ln/>
        </p:spPr>
        <p:txBody>
          <a:bodyPr wrap="square" lIns="0" tIns="0" rIns="0" bIns="0" rtlCol="0" anchor="ctr"/>
          <a:lstStyle/>
          <a:p>
            <a:pPr marL="0" indent="0">
              <a:buNone/>
            </a:pPr>
            <a:r>
              <a:rPr lang="en-US" sz="4000" b="1" dirty="0">
                <a:solidFill>
                  <a:srgbClr val="2E8B57"/>
                </a:solidFill>
              </a:rPr>
              <a:t>29 / 30</a:t>
            </a:r>
            <a:endParaRPr lang="en-US" sz="4000" dirty="0"/>
          </a:p>
        </p:txBody>
      </p:sp>
      <p:sp>
        <p:nvSpPr>
          <p:cNvPr id="7" name="Text 4"/>
          <p:cNvSpPr txBox="1"/>
          <p:nvPr/>
        </p:nvSpPr>
        <p:spPr>
          <a:xfrm>
            <a:off x="685800" y="2286000"/>
            <a:ext cx="2240280" cy="914400"/>
          </a:xfrm>
          <a:prstGeom prst="rect">
            <a:avLst/>
          </a:prstGeom>
          <a:noFill/>
          <a:ln/>
        </p:spPr>
        <p:txBody>
          <a:bodyPr wrap="square" lIns="0" tIns="0" rIns="0" bIns="0" rtlCol="0" anchor="t"/>
          <a:lstStyle/>
          <a:p>
            <a:pPr marL="0" indent="0">
              <a:buNone/>
            </a:pPr>
            <a:r>
              <a:rPr lang="en-US" sz="1400" dirty="0">
                <a:solidFill>
                  <a:srgbClr val="1B2A2F"/>
                </a:solidFill>
              </a:rPr>
              <a:t>black-box checks return the same status code</a:t>
            </a:r>
            <a:endParaRPr lang="en-US" sz="1400" dirty="0"/>
          </a:p>
        </p:txBody>
      </p:sp>
      <p:sp>
        <p:nvSpPr>
          <p:cNvPr id="8" name="Shape 5"/>
          <p:cNvSpPr/>
          <p:nvPr/>
        </p:nvSpPr>
        <p:spPr>
          <a:xfrm>
            <a:off x="3319272" y="1234440"/>
            <a:ext cx="2697480" cy="2103120"/>
          </a:xfrm>
          <a:prstGeom prst="roundRect">
            <a:avLst>
              <a:gd name="adj" fmla="val 4348"/>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9" name="Text 6"/>
          <p:cNvSpPr txBox="1"/>
          <p:nvPr/>
        </p:nvSpPr>
        <p:spPr>
          <a:xfrm>
            <a:off x="3547872" y="1417320"/>
            <a:ext cx="2240280" cy="868680"/>
          </a:xfrm>
          <a:prstGeom prst="rect">
            <a:avLst/>
          </a:prstGeom>
          <a:noFill/>
          <a:ln/>
        </p:spPr>
        <p:txBody>
          <a:bodyPr wrap="square" lIns="0" tIns="0" rIns="0" bIns="0" rtlCol="0" anchor="ctr"/>
          <a:lstStyle/>
          <a:p>
            <a:pPr marL="0" indent="0">
              <a:buNone/>
            </a:pPr>
            <a:r>
              <a:rPr lang="en-US" sz="4000" b="1" dirty="0">
                <a:solidFill>
                  <a:srgbClr val="2E8B57"/>
                </a:solidFill>
              </a:rPr>
              <a:t>41 / 41</a:t>
            </a:r>
            <a:endParaRPr lang="en-US" sz="4000" dirty="0"/>
          </a:p>
        </p:txBody>
      </p:sp>
      <p:sp>
        <p:nvSpPr>
          <p:cNvPr id="10" name="Text 7"/>
          <p:cNvSpPr txBox="1"/>
          <p:nvPr/>
        </p:nvSpPr>
        <p:spPr>
          <a:xfrm>
            <a:off x="3547872" y="2286000"/>
            <a:ext cx="2240280" cy="914400"/>
          </a:xfrm>
          <a:prstGeom prst="rect">
            <a:avLst/>
          </a:prstGeom>
          <a:noFill/>
          <a:ln/>
        </p:spPr>
        <p:txBody>
          <a:bodyPr wrap="square" lIns="0" tIns="0" rIns="0" bIns="0" rtlCol="0" anchor="t"/>
          <a:lstStyle/>
          <a:p>
            <a:pPr marL="0" indent="0">
              <a:buNone/>
            </a:pPr>
            <a:r>
              <a:rPr lang="en-US" sz="1400" dirty="0">
                <a:solidFill>
                  <a:srgbClr val="1B2A2F"/>
                </a:solidFill>
              </a:rPr>
              <a:t>AI recommendations agree when both run on the same data</a:t>
            </a:r>
            <a:endParaRPr lang="en-US" sz="1400" dirty="0"/>
          </a:p>
        </p:txBody>
      </p:sp>
      <p:sp>
        <p:nvSpPr>
          <p:cNvPr id="11" name="Shape 8"/>
          <p:cNvSpPr/>
          <p:nvPr/>
        </p:nvSpPr>
        <p:spPr>
          <a:xfrm>
            <a:off x="6181344" y="1234440"/>
            <a:ext cx="2697480" cy="2103120"/>
          </a:xfrm>
          <a:prstGeom prst="roundRect">
            <a:avLst>
              <a:gd name="adj" fmla="val 4348"/>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12" name="Text 9"/>
          <p:cNvSpPr txBox="1"/>
          <p:nvPr/>
        </p:nvSpPr>
        <p:spPr>
          <a:xfrm>
            <a:off x="6409944" y="1417320"/>
            <a:ext cx="2240280" cy="868680"/>
          </a:xfrm>
          <a:prstGeom prst="rect">
            <a:avLst/>
          </a:prstGeom>
          <a:noFill/>
          <a:ln/>
        </p:spPr>
        <p:txBody>
          <a:bodyPr wrap="square" lIns="0" tIns="0" rIns="0" bIns="0" rtlCol="0" anchor="ctr"/>
          <a:lstStyle/>
          <a:p>
            <a:pPr marL="0" indent="0">
              <a:buNone/>
            </a:pPr>
            <a:r>
              <a:rPr lang="en-US" sz="4000" b="1" dirty="0">
                <a:solidFill>
                  <a:srgbClr val="C0392B"/>
                </a:solidFill>
              </a:rPr>
              <a:t>0 / 354</a:t>
            </a:r>
            <a:endParaRPr lang="en-US" sz="4000" dirty="0"/>
          </a:p>
        </p:txBody>
      </p:sp>
      <p:sp>
        <p:nvSpPr>
          <p:cNvPr id="13" name="Text 10"/>
          <p:cNvSpPr txBox="1"/>
          <p:nvPr/>
        </p:nvSpPr>
        <p:spPr>
          <a:xfrm>
            <a:off x="6409944" y="2286000"/>
            <a:ext cx="2240280" cy="914400"/>
          </a:xfrm>
          <a:prstGeom prst="rect">
            <a:avLst/>
          </a:prstGeom>
          <a:noFill/>
          <a:ln/>
        </p:spPr>
        <p:txBody>
          <a:bodyPr wrap="square" lIns="0" tIns="0" rIns="0" bIns="0" rtlCol="0" anchor="t"/>
          <a:lstStyle/>
          <a:p>
            <a:pPr marL="0" indent="0">
              <a:buNone/>
            </a:pPr>
            <a:r>
              <a:rPr lang="en-US" sz="1400" dirty="0">
                <a:solidFill>
                  <a:srgbClr val="1B2A2F"/>
                </a:solidFill>
              </a:rPr>
              <a:t>original shipment rows the rebuild accepts (original: 349)</a:t>
            </a:r>
            <a:endParaRPr lang="en-US" sz="1400" dirty="0"/>
          </a:p>
        </p:txBody>
      </p:sp>
      <p:sp>
        <p:nvSpPr>
          <p:cNvPr id="14" name="Shape 11"/>
          <p:cNvSpPr/>
          <p:nvPr/>
        </p:nvSpPr>
        <p:spPr>
          <a:xfrm>
            <a:off x="9043416" y="1234440"/>
            <a:ext cx="2697480" cy="2103120"/>
          </a:xfrm>
          <a:prstGeom prst="roundRect">
            <a:avLst>
              <a:gd name="adj" fmla="val 4348"/>
            </a:avLst>
          </a:prstGeom>
          <a:solidFill>
            <a:srgbClr val="FFFFFF"/>
          </a:solidFill>
          <a:ln w="12700">
            <a:solidFill>
              <a:srgbClr val="D5E3E6"/>
            </a:solidFill>
            <a:prstDash val="solid"/>
          </a:ln>
          <a:effectLst>
            <a:outerShdw blurRad="76200" dist="25400" dir="5400000" algn="bl" rotWithShape="0">
              <a:srgbClr val="9AA5A8">
                <a:alpha val="25000"/>
              </a:srgbClr>
            </a:outerShdw>
          </a:effectLst>
        </p:spPr>
        <p:txBody>
          <a:bodyPr/>
          <a:p/>
        </p:txBody>
      </p:sp>
      <p:sp>
        <p:nvSpPr>
          <p:cNvPr id="15" name="Text 12"/>
          <p:cNvSpPr txBox="1"/>
          <p:nvPr/>
        </p:nvSpPr>
        <p:spPr>
          <a:xfrm>
            <a:off x="9272016" y="1417320"/>
            <a:ext cx="2240280" cy="868680"/>
          </a:xfrm>
          <a:prstGeom prst="rect">
            <a:avLst/>
          </a:prstGeom>
          <a:noFill/>
          <a:ln/>
        </p:spPr>
        <p:txBody>
          <a:bodyPr wrap="square" lIns="0" tIns="0" rIns="0" bIns="0" rtlCol="0" anchor="ctr"/>
          <a:lstStyle/>
          <a:p>
            <a:pPr marL="0" indent="0">
              <a:buNone/>
            </a:pPr>
            <a:r>
              <a:rPr lang="en-US" sz="4000" b="1" dirty="0">
                <a:solidFill>
                  <a:srgbClr val="B9770E"/>
                </a:solidFill>
              </a:rPr>
              <a:t>67</a:t>
            </a:r>
            <a:endParaRPr lang="en-US" sz="4000" dirty="0"/>
          </a:p>
        </p:txBody>
      </p:sp>
      <p:sp>
        <p:nvSpPr>
          <p:cNvPr id="16" name="Text 13"/>
          <p:cNvSpPr txBox="1"/>
          <p:nvPr/>
        </p:nvSpPr>
        <p:spPr>
          <a:xfrm>
            <a:off x="9272016" y="2286000"/>
            <a:ext cx="2240280" cy="914400"/>
          </a:xfrm>
          <a:prstGeom prst="rect">
            <a:avLst/>
          </a:prstGeom>
          <a:noFill/>
          <a:ln/>
        </p:spPr>
        <p:txBody>
          <a:bodyPr wrap="square" lIns="0" tIns="0" rIns="0" bIns="0" rtlCol="0" anchor="t"/>
          <a:lstStyle/>
          <a:p>
            <a:pPr marL="0" indent="0">
              <a:buNone/>
            </a:pPr>
            <a:r>
              <a:rPr lang="en-US" sz="1400" dirty="0">
                <a:solidFill>
                  <a:srgbClr val="1B2A2F"/>
                </a:solidFill>
              </a:rPr>
              <a:t>assumptions the builder had to make; 17 items not buildable</a:t>
            </a:r>
            <a:endParaRPr lang="en-US" sz="1400" dirty="0"/>
          </a:p>
        </p:txBody>
      </p:sp>
      <p:sp>
        <p:nvSpPr>
          <p:cNvPr id="17" name="Shape 14"/>
          <p:cNvSpPr/>
          <p:nvPr/>
        </p:nvSpPr>
        <p:spPr>
          <a:xfrm>
            <a:off x="457200" y="3611880"/>
            <a:ext cx="5532120" cy="2514600"/>
          </a:xfrm>
          <a:prstGeom prst="roundRect">
            <a:avLst>
              <a:gd name="adj" fmla="val 2909"/>
            </a:avLst>
          </a:prstGeom>
          <a:solidFill>
            <a:srgbClr val="E5F3EB"/>
          </a:solidFill>
          <a:ln/>
        </p:spPr>
        <p:txBody>
          <a:bodyPr/>
          <a:p/>
        </p:txBody>
      </p:sp>
      <p:sp>
        <p:nvSpPr>
          <p:cNvPr id="18" name="Shape 15"/>
          <p:cNvSpPr/>
          <p:nvPr/>
        </p:nvSpPr>
        <p:spPr>
          <a:xfrm>
            <a:off x="640080" y="3813048"/>
            <a:ext cx="566928" cy="566928"/>
          </a:xfrm>
          <a:prstGeom prst="ellipse">
            <a:avLst/>
          </a:prstGeom>
          <a:solidFill>
            <a:srgbClr val="2E8B57"/>
          </a:solidFill>
          <a:ln/>
        </p:spPr>
        <p:txBody>
          <a:bodyPr/>
          <a:p/>
        </p:txBody>
      </p:sp>
      <p:pic>
        <p:nvPicPr>
          <p:cNvPr id="19" name="Image 0" descr="preencoded.png"/>
          <p:cNvPicPr>
            <a:picLocks noChangeAspect="1"/>
          </p:cNvPicPr>
          <p:nvPr/>
        </p:nvPicPr>
        <p:blipFill>
          <a:blip r:embed="rId3"/>
          <a:stretch>
            <a:fillRect/>
          </a:stretch>
        </p:blipFill>
        <p:spPr>
          <a:xfrm>
            <a:off x="768096" y="3941064"/>
            <a:ext cx="310896" cy="310896"/>
          </a:xfrm>
          <a:prstGeom prst="rect">
            <a:avLst/>
          </a:prstGeom>
        </p:spPr>
      </p:pic>
      <p:sp>
        <p:nvSpPr>
          <p:cNvPr id="20" name="Text 16"/>
          <p:cNvSpPr txBox="1"/>
          <p:nvPr/>
        </p:nvSpPr>
        <p:spPr>
          <a:xfrm>
            <a:off x="1371600" y="3749040"/>
            <a:ext cx="4434840" cy="2240280"/>
          </a:xfrm>
          <a:prstGeom prst="rect">
            <a:avLst/>
          </a:prstGeom>
          <a:noFill/>
          <a:ln/>
        </p:spPr>
        <p:txBody>
          <a:bodyPr wrap="square" lIns="0" tIns="0" rIns="0" bIns="0" rtlCol="0" anchor="t"/>
          <a:lstStyle/>
          <a:p>
            <a:pPr marL="0" indent="0">
              <a:spcAft>
                <a:spcPts val="400"/>
              </a:spcAft>
              <a:buNone/>
            </a:pPr>
            <a:r>
              <a:rPr lang="en-US" sz="1700" b="1" dirty="0">
                <a:solidFill>
                  <a:srgbClr val="2E8B57"/>
                </a:solidFill>
              </a:rPr>
              <a:t>Carried over exactly</a:t>
            </a:r>
            <a:endParaRPr lang="en-US" sz="1700" dirty="0"/>
          </a:p>
          <a:p>
            <a:pPr marL="0" indent="0">
              <a:spcAft>
                <a:spcPts val="400"/>
              </a:spcAft>
              <a:buNone/>
            </a:pPr>
            <a:r>
              <a:rPr lang="en-US" sz="1400" dirty="0">
                <a:solidFill>
                  <a:srgbClr val="1B2A2F"/>
                </a:solidFill>
              </a:rPr>
              <a:t>Access rules (persona, entity, purpose, masking), token checks, record lookup rules, the AI decision rules (classes, precedence, abstain), approval once only, the hash-chained audit, rate limiting. The rebuild read these from the layer at run time.</a:t>
            </a:r>
            <a:endParaRPr lang="en-US" sz="1700" dirty="0"/>
          </a:p>
        </p:txBody>
      </p:sp>
      <p:sp>
        <p:nvSpPr>
          <p:cNvPr id="21" name="Shape 17"/>
          <p:cNvSpPr/>
          <p:nvPr/>
        </p:nvSpPr>
        <p:spPr>
          <a:xfrm>
            <a:off x="6199632" y="3611880"/>
            <a:ext cx="5532120" cy="2514600"/>
          </a:xfrm>
          <a:prstGeom prst="roundRect">
            <a:avLst>
              <a:gd name="adj" fmla="val 2909"/>
            </a:avLst>
          </a:prstGeom>
          <a:solidFill>
            <a:srgbClr val="FCEBEA"/>
          </a:solidFill>
          <a:ln/>
        </p:spPr>
        <p:txBody>
          <a:bodyPr/>
          <a:p/>
        </p:txBody>
      </p:sp>
      <p:sp>
        <p:nvSpPr>
          <p:cNvPr id="22" name="Shape 18"/>
          <p:cNvSpPr/>
          <p:nvPr/>
        </p:nvSpPr>
        <p:spPr>
          <a:xfrm>
            <a:off x="6382512" y="3813048"/>
            <a:ext cx="566928" cy="566928"/>
          </a:xfrm>
          <a:prstGeom prst="ellipse">
            <a:avLst/>
          </a:prstGeom>
          <a:solidFill>
            <a:srgbClr val="C0392B"/>
          </a:solidFill>
          <a:ln/>
        </p:spPr>
        <p:txBody>
          <a:bodyPr/>
          <a:p/>
        </p:txBody>
      </p:sp>
      <p:pic>
        <p:nvPicPr>
          <p:cNvPr id="23" name="Image 1" descr="preencoded.png"/>
          <p:cNvPicPr>
            <a:picLocks noChangeAspect="1"/>
          </p:cNvPicPr>
          <p:nvPr/>
        </p:nvPicPr>
        <p:blipFill>
          <a:blip r:embed="rId4"/>
          <a:stretch>
            <a:fillRect/>
          </a:stretch>
        </p:blipFill>
        <p:spPr>
          <a:xfrm>
            <a:off x="6510528" y="3941064"/>
            <a:ext cx="310896" cy="310896"/>
          </a:xfrm>
          <a:prstGeom prst="rect">
            <a:avLst/>
          </a:prstGeom>
        </p:spPr>
      </p:pic>
      <p:sp>
        <p:nvSpPr>
          <p:cNvPr id="24" name="Text 19"/>
          <p:cNvSpPr txBox="1"/>
          <p:nvPr/>
        </p:nvSpPr>
        <p:spPr>
          <a:xfrm>
            <a:off x="7114032" y="3749040"/>
            <a:ext cx="4434840" cy="2240280"/>
          </a:xfrm>
          <a:prstGeom prst="rect">
            <a:avLst/>
          </a:prstGeom>
          <a:noFill/>
          <a:ln/>
        </p:spPr>
        <p:txBody>
          <a:bodyPr wrap="square" lIns="0" tIns="0" rIns="0" bIns="0" rtlCol="0" anchor="t"/>
          <a:lstStyle/>
          <a:p>
            <a:pPr marL="0" indent="0">
              <a:spcAft>
                <a:spcPts val="400"/>
              </a:spcAft>
              <a:buNone/>
            </a:pPr>
            <a:r>
              <a:rPr lang="en-US" sz="1700" b="1" dirty="0">
                <a:solidFill>
                  <a:srgbClr val="C0392B"/>
                </a:solidFill>
              </a:rPr>
              <a:t>Did not carry over</a:t>
            </a:r>
            <a:endParaRPr lang="en-US" sz="1700" dirty="0"/>
          </a:p>
          <a:p>
            <a:pPr marL="0" indent="0">
              <a:spcAft>
                <a:spcPts val="400"/>
              </a:spcAft>
              <a:buNone/>
            </a:pPr>
            <a:r>
              <a:rPr lang="en-US" sz="1400" dirty="0">
                <a:solidFill>
                  <a:srgbClr val="1B2A2F"/>
                </a:solidFill>
              </a:rPr>
              <a:t>Data intake severity: the layer says reject; the original flags. Also missing: nested response shapes, token and audit formats, a dataset, links from shipments to routes and vehicles, and delivery assets (CI, Docker, policy file, web view).</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03  CAN THE KNOWLEDGE TRAVEL?</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The six capstone comparison areas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651760">
                  <a:extLst>
                    <a:ext uri="{9D8B030D-6E8A-4147-A177-3AD203B41FA5}">
                      <a16:colId xmlns:a16="http://schemas.microsoft.com/office/drawing/2014/main" val="20000"/>
                    </a:ext>
                  </a:extLst>
                </a:gridCol>
                <a:gridCol w="7159752">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65836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we found</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658368">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PRD generation</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A PRD came from the layer alone: 13 API and 5 workflow requirements, each cited to a layer file and key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b="1" dirty="0">
                          <a:solidFill>
                            <a:srgbClr val="1B2A2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1"/>
                  </a:ext>
                </a:extLst>
              </a:tr>
              <a:tr h="658368">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Application generation</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The 10 operations behave the same (29 of 30 checks; 41 of 41 AI decisions); intake rejects the original data</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extLst>
                  <a:ext uri="{0D108BD9-81ED-4DB2-BD59-A6C34878D82A}">
                    <a16:rowId xmlns:a16="http://schemas.microsoft.com/office/drawing/2014/main" val="10002"/>
                  </a:ext>
                </a:extLst>
              </a:tr>
              <a:tr h="658368">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Context completeness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67 assumptions, 17 items not buildable, 24 inconsistencies inside the layer</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extLst>
                  <a:ext uri="{0D108BD9-81ED-4DB2-BD59-A6C34878D82A}">
                    <a16:rowId xmlns:a16="http://schemas.microsoft.com/office/drawing/2014/main" val="10003"/>
                  </a:ext>
                </a:extLst>
              </a:tr>
              <a:tr h="658368">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Model independence</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Shown for one builder, one run, same vendor family; not across vendors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extLst>
                  <a:ext uri="{0D108BD9-81ED-4DB2-BD59-A6C34878D82A}">
                    <a16:rowId xmlns:a16="http://schemas.microsoft.com/office/drawing/2014/main" val="10004"/>
                  </a:ext>
                </a:extLst>
              </a:tr>
              <a:tr h="658368">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Repository dependency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Original code not needed to build; the layer's own tests still need the original data and KPI dictionary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extLst>
                  <a:ext uri="{0D108BD9-81ED-4DB2-BD59-A6C34878D82A}">
                    <a16:rowId xmlns:a16="http://schemas.microsoft.com/office/drawing/2014/main" val="10005"/>
                  </a:ext>
                </a:extLst>
              </a:tr>
              <a:tr h="658368">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Knowledge-transfer quality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dirty="0">
                          <a:solidFill>
                            <a:srgbClr val="1B2A2F"/>
                          </a:solidFill>
                          <a:latin typeface="Calibri" pitchFamily="34" charset="0"/>
                          <a:ea typeface="Calibri" pitchFamily="34" charset="-122"/>
                          <a:cs typeface="Calibri" pitchFamily="34" charset="-120"/>
                        </a:rPr>
                        <a:t>High for access, AI decisions and the domain model; low for wire formats, intake severity and relationships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03  CAN THE KNOWLEDGE TRAVEL?</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What the layer needs for an identical rebuild</a:t>
            </a:r>
            <a:endParaRPr lang="en-US" sz="2800" dirty="0"/>
          </a:p>
        </p:txBody>
      </p:sp>
      <p:sp>
        <p:nvSpPr>
          <p:cNvPr id="5" name="Shape 2"/>
          <p:cNvSpPr/>
          <p:nvPr/>
        </p:nvSpPr>
        <p:spPr>
          <a:xfrm>
            <a:off x="457200" y="1188720"/>
            <a:ext cx="5440680" cy="1508760"/>
          </a:xfrm>
          <a:prstGeom prst="roundRect">
            <a:avLst>
              <a:gd name="adj" fmla="val 4848"/>
            </a:avLst>
          </a:prstGeom>
          <a:solidFill>
            <a:srgbClr val="E8F1F2"/>
          </a:solidFill>
          <a:ln/>
        </p:spPr>
        <p:txBody>
          <a:bodyPr/>
          <a:p/>
        </p:txBody>
      </p:sp>
      <p:sp>
        <p:nvSpPr>
          <p:cNvPr id="6" name="Shape 3"/>
          <p:cNvSpPr/>
          <p:nvPr/>
        </p:nvSpPr>
        <p:spPr>
          <a:xfrm>
            <a:off x="640080" y="1389888"/>
            <a:ext cx="566928" cy="566928"/>
          </a:xfrm>
          <a:prstGeom prst="ellipse">
            <a:avLst/>
          </a:prstGeom>
          <a:solidFill>
            <a:srgbClr val="1F7A8C"/>
          </a:solidFill>
          <a:ln/>
        </p:spPr>
        <p:txBody>
          <a:bodyPr/>
          <a:p/>
        </p:txBody>
      </p:sp>
      <p:pic>
        <p:nvPicPr>
          <p:cNvPr id="7" name="Image 0" descr="preencoded.png"/>
          <p:cNvPicPr>
            <a:picLocks noChangeAspect="1"/>
          </p:cNvPicPr>
          <p:nvPr/>
        </p:nvPicPr>
        <p:blipFill>
          <a:blip r:embed="rId3"/>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Intake severity per rule</a:t>
            </a:r>
            <a:endParaRPr lang="en-US" sz="1700" dirty="0"/>
          </a:p>
          <a:p>
            <a:pPr marL="0" indent="0">
              <a:spcAft>
                <a:spcPts val="400"/>
              </a:spcAft>
              <a:buNone/>
            </a:pPr>
            <a:r>
              <a:rPr lang="en-US" sz="1400" dirty="0">
                <a:solidFill>
                  <a:srgbClr val="1B2A2F"/>
                </a:solidFill>
              </a:rPr>
              <a:t>Which violations quarantine a row and which only flag it, including the BR-04 override and placeholder references</a:t>
            </a:r>
            <a:endParaRPr lang="en-US" sz="1700" dirty="0"/>
          </a:p>
        </p:txBody>
      </p:sp>
      <p:sp>
        <p:nvSpPr>
          <p:cNvPr id="9" name="Shape 5"/>
          <p:cNvSpPr/>
          <p:nvPr/>
        </p:nvSpPr>
        <p:spPr>
          <a:xfrm>
            <a:off x="6126480" y="1188720"/>
            <a:ext cx="5440680" cy="1508760"/>
          </a:xfrm>
          <a:prstGeom prst="roundRect">
            <a:avLst>
              <a:gd name="adj" fmla="val 4848"/>
            </a:avLst>
          </a:prstGeom>
          <a:solidFill>
            <a:srgbClr val="E8F1F2"/>
          </a:solidFill>
          <a:ln/>
        </p:spPr>
        <p:txBody>
          <a:bodyPr/>
          <a:p/>
        </p:txBody>
      </p:sp>
      <p:sp>
        <p:nvSpPr>
          <p:cNvPr id="10" name="Shape 6"/>
          <p:cNvSpPr/>
          <p:nvPr/>
        </p:nvSpPr>
        <p:spPr>
          <a:xfrm>
            <a:off x="6309360" y="1389888"/>
            <a:ext cx="566928" cy="566928"/>
          </a:xfrm>
          <a:prstGeom prst="ellipse">
            <a:avLst/>
          </a:prstGeom>
          <a:solidFill>
            <a:srgbClr val="1F7A8C"/>
          </a:solidFill>
          <a:ln/>
        </p:spPr>
        <p:txBody>
          <a:bodyPr/>
          <a:p/>
        </p:txBody>
      </p:sp>
      <p:pic>
        <p:nvPicPr>
          <p:cNvPr id="11" name="Image 1" descr="preencoded.png"/>
          <p:cNvPicPr>
            <a:picLocks noChangeAspect="1"/>
          </p:cNvPicPr>
          <p:nvPr/>
        </p:nvPicPr>
        <p:blipFill>
          <a:blip r:embed="rId4"/>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Wire-level API schema</a:t>
            </a:r>
            <a:endParaRPr lang="en-US" sz="1700" dirty="0"/>
          </a:p>
          <a:p>
            <a:pPr marL="0" indent="0">
              <a:spcAft>
                <a:spcPts val="400"/>
              </a:spcAft>
              <a:buNone/>
            </a:pPr>
            <a:r>
              <a:rPr lang="en-US" sz="1400" dirty="0">
                <a:solidFill>
                  <a:srgbClr val="1B2A2F"/>
                </a:solidFill>
              </a:rPr>
              <a:t>Nested response shapes, every status code per operation, error types, headers, rate-limit numbers</a:t>
            </a:r>
            <a:endParaRPr lang="en-US" sz="1700" dirty="0"/>
          </a:p>
        </p:txBody>
      </p:sp>
      <p:sp>
        <p:nvSpPr>
          <p:cNvPr id="13" name="Shape 8"/>
          <p:cNvSpPr/>
          <p:nvPr/>
        </p:nvSpPr>
        <p:spPr>
          <a:xfrm>
            <a:off x="457200" y="2880360"/>
            <a:ext cx="5440680" cy="1508760"/>
          </a:xfrm>
          <a:prstGeom prst="roundRect">
            <a:avLst>
              <a:gd name="adj" fmla="val 4848"/>
            </a:avLst>
          </a:prstGeom>
          <a:solidFill>
            <a:srgbClr val="E8F1F2"/>
          </a:solidFill>
          <a:ln/>
        </p:spPr>
        <p:txBody>
          <a:bodyPr/>
          <a:p/>
        </p:txBody>
      </p:sp>
      <p:sp>
        <p:nvSpPr>
          <p:cNvPr id="14" name="Shape 9"/>
          <p:cNvSpPr/>
          <p:nvPr/>
        </p:nvSpPr>
        <p:spPr>
          <a:xfrm>
            <a:off x="640080" y="3081528"/>
            <a:ext cx="566928" cy="566928"/>
          </a:xfrm>
          <a:prstGeom prst="ellipse">
            <a:avLst/>
          </a:prstGeom>
          <a:solidFill>
            <a:srgbClr val="1F7A8C"/>
          </a:solidFill>
          <a:ln/>
        </p:spPr>
        <p:txBody>
          <a:bodyPr/>
          <a:p/>
        </p:txBody>
      </p:sp>
      <p:pic>
        <p:nvPicPr>
          <p:cNvPr id="15" name="Image 2" descr="preencoded.png"/>
          <p:cNvPicPr>
            <a:picLocks noChangeAspect="1"/>
          </p:cNvPicPr>
          <p:nvPr/>
        </p:nvPicPr>
        <p:blipFill>
          <a:blip r:embed="rId5"/>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Token and audit formats</a:t>
            </a:r>
            <a:endParaRPr lang="en-US" sz="1700" dirty="0"/>
          </a:p>
          <a:p>
            <a:pPr marL="0" indent="0">
              <a:spcAft>
                <a:spcPts val="400"/>
              </a:spcAft>
              <a:buNone/>
            </a:pPr>
            <a:r>
              <a:rPr lang="en-US" sz="1400" dirty="0">
                <a:solidFill>
                  <a:srgbClr val="1B2A2F"/>
                </a:solidFill>
              </a:rPr>
              <a:t>Algorithm, required claims, expiry; audit record schema and how the hash chain is computed</a:t>
            </a:r>
            <a:endParaRPr lang="en-US" sz="1700" dirty="0"/>
          </a:p>
        </p:txBody>
      </p:sp>
      <p:sp>
        <p:nvSpPr>
          <p:cNvPr id="17" name="Shape 11"/>
          <p:cNvSpPr/>
          <p:nvPr/>
        </p:nvSpPr>
        <p:spPr>
          <a:xfrm>
            <a:off x="6126480" y="2880360"/>
            <a:ext cx="5440680" cy="1508760"/>
          </a:xfrm>
          <a:prstGeom prst="roundRect">
            <a:avLst>
              <a:gd name="adj" fmla="val 4848"/>
            </a:avLst>
          </a:prstGeom>
          <a:solidFill>
            <a:srgbClr val="E8F1F2"/>
          </a:solidFill>
          <a:ln/>
        </p:spPr>
        <p:txBody>
          <a:bodyPr/>
          <a:p/>
        </p:txBody>
      </p:sp>
      <p:sp>
        <p:nvSpPr>
          <p:cNvPr id="18" name="Shape 12"/>
          <p:cNvSpPr/>
          <p:nvPr/>
        </p:nvSpPr>
        <p:spPr>
          <a:xfrm>
            <a:off x="6309360" y="3081528"/>
            <a:ext cx="566928" cy="566928"/>
          </a:xfrm>
          <a:prstGeom prst="ellipse">
            <a:avLst/>
          </a:prstGeom>
          <a:solidFill>
            <a:srgbClr val="1F7A8C"/>
          </a:solidFill>
          <a:ln/>
        </p:spPr>
        <p:txBody>
          <a:bodyPr/>
          <a:p/>
        </p:txBody>
      </p:sp>
      <p:pic>
        <p:nvPicPr>
          <p:cNvPr id="19" name="Image 3" descr="preencoded.png"/>
          <p:cNvPicPr>
            <a:picLocks noChangeAspect="1"/>
          </p:cNvPicPr>
          <p:nvPr/>
        </p:nvPicPr>
        <p:blipFill>
          <a:blip r:embed="rId6"/>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Data the layer stands on</a:t>
            </a:r>
            <a:endParaRPr lang="en-US" sz="1700" dirty="0"/>
          </a:p>
          <a:p>
            <a:pPr marL="0" indent="0">
              <a:spcAft>
                <a:spcPts val="400"/>
              </a:spcAft>
              <a:buNone/>
            </a:pPr>
            <a:r>
              <a:rPr lang="en-US" sz="1400" dirty="0">
                <a:solidFill>
                  <a:srgbClr val="1B2A2F"/>
                </a:solidFill>
              </a:rPr>
              <a:t>A small canonical dataset or generator spec, the event stream, the KPI dictionary inside the layer</a:t>
            </a:r>
            <a:endParaRPr lang="en-US" sz="1700" dirty="0"/>
          </a:p>
        </p:txBody>
      </p:sp>
      <p:sp>
        <p:nvSpPr>
          <p:cNvPr id="21" name="Shape 14"/>
          <p:cNvSpPr/>
          <p:nvPr/>
        </p:nvSpPr>
        <p:spPr>
          <a:xfrm>
            <a:off x="457200" y="4572000"/>
            <a:ext cx="5440680" cy="1508760"/>
          </a:xfrm>
          <a:prstGeom prst="roundRect">
            <a:avLst>
              <a:gd name="adj" fmla="val 4848"/>
            </a:avLst>
          </a:prstGeom>
          <a:solidFill>
            <a:srgbClr val="E8F1F2"/>
          </a:solidFill>
          <a:ln/>
        </p:spPr>
        <p:txBody>
          <a:bodyPr/>
          <a:p/>
        </p:txBody>
      </p:sp>
      <p:sp>
        <p:nvSpPr>
          <p:cNvPr id="22" name="Shape 15"/>
          <p:cNvSpPr/>
          <p:nvPr/>
        </p:nvSpPr>
        <p:spPr>
          <a:xfrm>
            <a:off x="640080" y="4773168"/>
            <a:ext cx="566928" cy="566928"/>
          </a:xfrm>
          <a:prstGeom prst="ellipse">
            <a:avLst/>
          </a:prstGeom>
          <a:solidFill>
            <a:srgbClr val="1F7A8C"/>
          </a:solidFill>
          <a:ln/>
        </p:spPr>
        <p:txBody>
          <a:bodyPr/>
          <a:p/>
        </p:txBody>
      </p:sp>
      <p:pic>
        <p:nvPicPr>
          <p:cNvPr id="23" name="Image 4" descr="preencoded.png"/>
          <p:cNvPicPr>
            <a:picLocks noChangeAspect="1"/>
          </p:cNvPicPr>
          <p:nvPr/>
        </p:nvPicPr>
        <p:blipFill>
          <a:blip r:embed="rId7"/>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Relationships</a:t>
            </a:r>
            <a:endParaRPr lang="en-US" sz="1700" dirty="0"/>
          </a:p>
          <a:p>
            <a:pPr marL="0" indent="0">
              <a:spcAft>
                <a:spcPts val="400"/>
              </a:spcAft>
              <a:buNone/>
            </a:pPr>
            <a:r>
              <a:rPr lang="en-US" sz="1400" dirty="0">
                <a:solidFill>
                  <a:srgbClr val="1B2A2F"/>
                </a:solidFill>
              </a:rPr>
              <a:t>Link shipments to routes and vehicles, or state that no link exists</a:t>
            </a:r>
            <a:endParaRPr lang="en-US" sz="1700" dirty="0"/>
          </a:p>
        </p:txBody>
      </p:sp>
      <p:sp>
        <p:nvSpPr>
          <p:cNvPr id="25" name="Shape 17"/>
          <p:cNvSpPr/>
          <p:nvPr/>
        </p:nvSpPr>
        <p:spPr>
          <a:xfrm>
            <a:off x="6126480" y="4572000"/>
            <a:ext cx="5440680" cy="1508760"/>
          </a:xfrm>
          <a:prstGeom prst="roundRect">
            <a:avLst>
              <a:gd name="adj" fmla="val 4848"/>
            </a:avLst>
          </a:prstGeom>
          <a:solidFill>
            <a:srgbClr val="E8F1F2"/>
          </a:solidFill>
          <a:ln/>
        </p:spPr>
        <p:txBody>
          <a:bodyPr/>
          <a:p/>
        </p:txBody>
      </p:sp>
      <p:sp>
        <p:nvSpPr>
          <p:cNvPr id="26" name="Shape 18"/>
          <p:cNvSpPr/>
          <p:nvPr/>
        </p:nvSpPr>
        <p:spPr>
          <a:xfrm>
            <a:off x="6309360" y="4773168"/>
            <a:ext cx="566928" cy="566928"/>
          </a:xfrm>
          <a:prstGeom prst="ellipse">
            <a:avLst/>
          </a:prstGeom>
          <a:solidFill>
            <a:srgbClr val="1F7A8C"/>
          </a:solidFill>
          <a:ln/>
        </p:spPr>
        <p:txBody>
          <a:bodyPr/>
          <a:p/>
        </p:txBody>
      </p:sp>
      <p:pic>
        <p:nvPicPr>
          <p:cNvPr id="27" name="Image 5" descr="preencoded.png"/>
          <p:cNvPicPr>
            <a:picLocks noChangeAspect="1"/>
          </p:cNvPicPr>
          <p:nvPr/>
        </p:nvPicPr>
        <p:blipFill>
          <a:blip r:embed="rId8"/>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Numbers in keys, not prose</a:t>
            </a:r>
            <a:endParaRPr lang="en-US" sz="1700" dirty="0"/>
          </a:p>
          <a:p>
            <a:pPr marL="0" indent="0">
              <a:spcAft>
                <a:spcPts val="400"/>
              </a:spcAft>
              <a:buNone/>
            </a:pPr>
            <a:r>
              <a:rPr lang="en-US" sz="1400" dirty="0">
                <a:solidFill>
                  <a:srgbClr val="1B2A2F"/>
                </a:solidFill>
              </a:rPr>
              <a:t>Thresholds and status lists as keys, one version number, contradictions resolved</a:t>
            </a:r>
            <a:endParaRPr lang="en-US" sz="17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txBody>
          <a:bodyPr/>
          <a:p/>
        </p:txBody>
      </p:sp>
      <p:sp>
        <p:nvSpPr>
          <p:cNvPr id="3" name="Text 1"/>
          <p:cNvSpPr txBox="1"/>
          <p:nvPr/>
        </p:nvSpPr>
        <p:spPr>
          <a:xfrm>
            <a:off x="731520" y="1920240"/>
            <a:ext cx="2011680" cy="2011680"/>
          </a:xfrm>
          <a:prstGeom prst="rect">
            <a:avLst/>
          </a:prstGeom>
          <a:noFill/>
          <a:ln/>
        </p:spPr>
        <p:txBody>
          <a:bodyPr wrap="square" lIns="0" tIns="0" rIns="0" bIns="0" rtlCol="0" anchor="ctr"/>
          <a:lstStyle/>
          <a:p>
            <a:pPr marL="0" indent="0" algn="ctr">
              <a:buNone/>
            </a:pPr>
            <a:r>
              <a:rPr lang="en-US" sz="6000" b="1" dirty="0">
                <a:solidFill>
                  <a:srgbClr val="0B3C49"/>
                </a:solidFill>
              </a:rPr>
              <a:t>04</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marL="0" indent="0">
              <a:buNone/>
            </a:pPr>
            <a:r>
              <a:rPr lang="en-US" sz="4000" b="1" dirty="0">
                <a:solidFill>
                  <a:srgbClr val="FFFFFF"/>
                </a:solidFill>
              </a:rPr>
              <a:t>Decision and asks</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marL="0" indent="0">
              <a:buNone/>
            </a:pPr>
            <a:r>
              <a:rPr lang="en-US" sz="2000" dirty="0">
                <a:solidFill>
                  <a:srgbClr val="CFE3E7"/>
                </a:solidFill>
              </a:rPr>
              <a:t>What is ready, what is not, and what only the CTO can give</a:t>
            </a:r>
            <a:endParaRPr lang="en-US" sz="2000" dirty="0"/>
          </a:p>
        </p:txBody>
      </p:sp>
      <p:sp>
        <p:nvSpPr>
          <p:cNvPr id="6" name="Shape 4"/>
          <p:cNvSpPr/>
          <p:nvPr/>
        </p:nvSpPr>
        <p:spPr>
          <a:xfrm>
            <a:off x="9692640" y="4754880"/>
            <a:ext cx="3291840" cy="3291840"/>
          </a:xfrm>
          <a:prstGeom prst="ellipse">
            <a:avLst/>
          </a:prstGeom>
          <a:solidFill>
            <a:srgbClr val="134D5C"/>
          </a:solidFill>
          <a:ln/>
        </p:spPr>
        <p:txBody>
          <a:bodyPr/>
          <a:p/>
        </p:txBody>
      </p:sp>
      <p:sp>
        <p:nvSpPr>
          <p:cNvPr id="7" name="Shape 5"/>
          <p:cNvSpPr/>
          <p:nvPr/>
        </p:nvSpPr>
        <p:spPr>
          <a:xfrm>
            <a:off x="8869680" y="5760720"/>
            <a:ext cx="1463040" cy="1463040"/>
          </a:xfrm>
          <a:prstGeom prst="ellipse">
            <a:avLst/>
          </a:prstGeom>
          <a:solidFill>
            <a:srgbClr val="1F7A8C">
              <a:alpha val="60000"/>
            </a:srgbClr>
          </a:solidFill>
          <a:ln/>
        </p:spPr>
        <p:txBody>
          <a:body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04  DECISION AND ASKS</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Readiness: six gates pass; production gates need people and a platform</a:t>
            </a:r>
            <a:endParaRPr lang="en-US" sz="2800" dirty="0"/>
          </a:p>
        </p:txBody>
      </p:sp>
      <p:sp>
        <p:nvSpPr>
          <p:cNvPr id="5" name="Shape 2"/>
          <p:cNvSpPr/>
          <p:nvPr/>
        </p:nvSpPr>
        <p:spPr>
          <a:xfrm>
            <a:off x="457200" y="1188720"/>
            <a:ext cx="3611880" cy="1033272"/>
          </a:xfrm>
          <a:prstGeom prst="roundRect">
            <a:avLst>
              <a:gd name="adj" fmla="val 7080"/>
            </a:avLst>
          </a:prstGeom>
          <a:solidFill>
            <a:srgbClr val="E5F3EB"/>
          </a:solidFill>
          <a:ln/>
        </p:spPr>
        <p:txBody>
          <a:bodyPr/>
          <a:p/>
        </p:txBody>
      </p:sp>
      <p:sp>
        <p:nvSpPr>
          <p:cNvPr id="6" name="Text 3"/>
          <p:cNvSpPr txBox="1"/>
          <p:nvPr/>
        </p:nvSpPr>
        <p:spPr>
          <a:xfrm>
            <a:off x="594360" y="1261872"/>
            <a:ext cx="3337560" cy="886968"/>
          </a:xfrm>
          <a:prstGeom prst="rect">
            <a:avLst/>
          </a:prstGeom>
          <a:noFill/>
          <a:ln/>
        </p:spPr>
        <p:txBody>
          <a:bodyPr wrap="square" lIns="0" tIns="0" rIns="0" bIns="0" rtlCol="0" anchor="t"/>
          <a:lstStyle/>
          <a:p>
            <a:pPr marL="0" indent="0">
              <a:buNone/>
            </a:pPr>
            <a:r>
              <a:rPr lang="en-US" sz="1600" b="1" dirty="0">
                <a:solidFill>
                  <a:srgbClr val="2E8B57"/>
                </a:solidFill>
              </a:rPr>
              <a:t>G1  PASS</a:t>
            </a:r>
            <a:endParaRPr lang="en-US" sz="1600" dirty="0"/>
          </a:p>
          <a:p>
            <a:pPr marL="0" indent="0">
              <a:buNone/>
            </a:pPr>
            <a:r>
              <a:rPr lang="en-US" sz="1500" dirty="0">
                <a:solidFill>
                  <a:srgbClr val="1B2A2F"/>
                </a:solidFill>
              </a:rPr>
              <a:t>Tests and coverage</a:t>
            </a:r>
            <a:endParaRPr lang="en-US" sz="1600" dirty="0"/>
          </a:p>
        </p:txBody>
      </p:sp>
      <p:sp>
        <p:nvSpPr>
          <p:cNvPr id="7" name="Shape 4"/>
          <p:cNvSpPr/>
          <p:nvPr/>
        </p:nvSpPr>
        <p:spPr>
          <a:xfrm>
            <a:off x="4251960" y="1188720"/>
            <a:ext cx="3611880" cy="1033272"/>
          </a:xfrm>
          <a:prstGeom prst="roundRect">
            <a:avLst>
              <a:gd name="adj" fmla="val 7080"/>
            </a:avLst>
          </a:prstGeom>
          <a:solidFill>
            <a:srgbClr val="E5F3EB"/>
          </a:solidFill>
          <a:ln/>
        </p:spPr>
        <p:txBody>
          <a:bodyPr/>
          <a:p/>
        </p:txBody>
      </p:sp>
      <p:sp>
        <p:nvSpPr>
          <p:cNvPr id="8" name="Text 5"/>
          <p:cNvSpPr txBox="1"/>
          <p:nvPr/>
        </p:nvSpPr>
        <p:spPr>
          <a:xfrm>
            <a:off x="4389120" y="1261872"/>
            <a:ext cx="3337560" cy="886968"/>
          </a:xfrm>
          <a:prstGeom prst="rect">
            <a:avLst/>
          </a:prstGeom>
          <a:noFill/>
          <a:ln/>
        </p:spPr>
        <p:txBody>
          <a:bodyPr wrap="square" lIns="0" tIns="0" rIns="0" bIns="0" rtlCol="0" anchor="t"/>
          <a:lstStyle/>
          <a:p>
            <a:pPr marL="0" indent="0">
              <a:buNone/>
            </a:pPr>
            <a:r>
              <a:rPr lang="en-US" sz="1600" b="1" dirty="0">
                <a:solidFill>
                  <a:srgbClr val="2E8B57"/>
                </a:solidFill>
              </a:rPr>
              <a:t>G2  PASS</a:t>
            </a:r>
            <a:endParaRPr lang="en-US" sz="1600" dirty="0"/>
          </a:p>
          <a:p>
            <a:pPr marL="0" indent="0">
              <a:buNone/>
            </a:pPr>
            <a:r>
              <a:rPr lang="en-US" sz="1500" dirty="0">
                <a:solidFill>
                  <a:srgbClr val="1B2A2F"/>
                </a:solidFill>
              </a:rPr>
              <a:t>Evaluation (deterministic provider only)</a:t>
            </a:r>
            <a:endParaRPr lang="en-US" sz="1600" dirty="0"/>
          </a:p>
        </p:txBody>
      </p:sp>
      <p:sp>
        <p:nvSpPr>
          <p:cNvPr id="9" name="Shape 6"/>
          <p:cNvSpPr/>
          <p:nvPr/>
        </p:nvSpPr>
        <p:spPr>
          <a:xfrm>
            <a:off x="8046720" y="1188720"/>
            <a:ext cx="3611880" cy="1033272"/>
          </a:xfrm>
          <a:prstGeom prst="roundRect">
            <a:avLst>
              <a:gd name="adj" fmla="val 7080"/>
            </a:avLst>
          </a:prstGeom>
          <a:solidFill>
            <a:srgbClr val="E5F3EB"/>
          </a:solidFill>
          <a:ln/>
        </p:spPr>
        <p:txBody>
          <a:bodyPr/>
          <a:p/>
        </p:txBody>
      </p:sp>
      <p:sp>
        <p:nvSpPr>
          <p:cNvPr id="10" name="Text 7"/>
          <p:cNvSpPr txBox="1"/>
          <p:nvPr/>
        </p:nvSpPr>
        <p:spPr>
          <a:xfrm>
            <a:off x="8183880" y="1261872"/>
            <a:ext cx="3337560" cy="886968"/>
          </a:xfrm>
          <a:prstGeom prst="rect">
            <a:avLst/>
          </a:prstGeom>
          <a:noFill/>
          <a:ln/>
        </p:spPr>
        <p:txBody>
          <a:bodyPr wrap="square" lIns="0" tIns="0" rIns="0" bIns="0" rtlCol="0" anchor="t"/>
          <a:lstStyle/>
          <a:p>
            <a:pPr marL="0" indent="0">
              <a:buNone/>
            </a:pPr>
            <a:r>
              <a:rPr lang="en-US" sz="1600" b="1" dirty="0">
                <a:solidFill>
                  <a:srgbClr val="2E8B57"/>
                </a:solidFill>
              </a:rPr>
              <a:t>G3  PASS</a:t>
            </a:r>
            <a:endParaRPr lang="en-US" sz="1600" dirty="0"/>
          </a:p>
          <a:p>
            <a:pPr marL="0" indent="0">
              <a:buNone/>
            </a:pPr>
            <a:r>
              <a:rPr lang="en-US" sz="1500" dirty="0">
                <a:solidFill>
                  <a:srgbClr val="1B2A2F"/>
                </a:solidFill>
              </a:rPr>
              <a:t>No original defect re-exploitable</a:t>
            </a:r>
            <a:endParaRPr lang="en-US" sz="1600" dirty="0"/>
          </a:p>
        </p:txBody>
      </p:sp>
      <p:sp>
        <p:nvSpPr>
          <p:cNvPr id="11" name="Shape 8"/>
          <p:cNvSpPr/>
          <p:nvPr/>
        </p:nvSpPr>
        <p:spPr>
          <a:xfrm>
            <a:off x="457200" y="2377440"/>
            <a:ext cx="3611880" cy="1033272"/>
          </a:xfrm>
          <a:prstGeom prst="roundRect">
            <a:avLst>
              <a:gd name="adj" fmla="val 7080"/>
            </a:avLst>
          </a:prstGeom>
          <a:solidFill>
            <a:srgbClr val="E5F3EB"/>
          </a:solidFill>
          <a:ln/>
        </p:spPr>
        <p:txBody>
          <a:bodyPr/>
          <a:p/>
        </p:txBody>
      </p:sp>
      <p:sp>
        <p:nvSpPr>
          <p:cNvPr id="12" name="Text 9"/>
          <p:cNvSpPr txBox="1"/>
          <p:nvPr/>
        </p:nvSpPr>
        <p:spPr>
          <a:xfrm>
            <a:off x="594360" y="2450592"/>
            <a:ext cx="3337560" cy="886968"/>
          </a:xfrm>
          <a:prstGeom prst="rect">
            <a:avLst/>
          </a:prstGeom>
          <a:noFill/>
          <a:ln/>
        </p:spPr>
        <p:txBody>
          <a:bodyPr wrap="square" lIns="0" tIns="0" rIns="0" bIns="0" rtlCol="0" anchor="t"/>
          <a:lstStyle/>
          <a:p>
            <a:pPr marL="0" indent="0">
              <a:buNone/>
            </a:pPr>
            <a:r>
              <a:rPr lang="en-US" sz="1600" b="1" dirty="0">
                <a:solidFill>
                  <a:srgbClr val="2E8B57"/>
                </a:solidFill>
              </a:rPr>
              <a:t>G4  PASS</a:t>
            </a:r>
            <a:endParaRPr lang="en-US" sz="1600" dirty="0"/>
          </a:p>
          <a:p>
            <a:pPr marL="0" indent="0">
              <a:buNone/>
            </a:pPr>
            <a:r>
              <a:rPr lang="en-US" sz="1500" dirty="0">
                <a:solidFill>
                  <a:srgbClr val="1B2A2F"/>
                </a:solidFill>
              </a:rPr>
              <a:t>No critical or high dependency vulnerability</a:t>
            </a:r>
            <a:endParaRPr lang="en-US" sz="1600" dirty="0"/>
          </a:p>
        </p:txBody>
      </p:sp>
      <p:sp>
        <p:nvSpPr>
          <p:cNvPr id="13" name="Shape 10"/>
          <p:cNvSpPr/>
          <p:nvPr/>
        </p:nvSpPr>
        <p:spPr>
          <a:xfrm>
            <a:off x="4251960" y="2377440"/>
            <a:ext cx="3611880" cy="1033272"/>
          </a:xfrm>
          <a:prstGeom prst="roundRect">
            <a:avLst>
              <a:gd name="adj" fmla="val 7080"/>
            </a:avLst>
          </a:prstGeom>
          <a:solidFill>
            <a:srgbClr val="E5F3EB"/>
          </a:solidFill>
          <a:ln/>
        </p:spPr>
        <p:txBody>
          <a:bodyPr/>
          <a:p/>
        </p:txBody>
      </p:sp>
      <p:sp>
        <p:nvSpPr>
          <p:cNvPr id="14" name="Text 11"/>
          <p:cNvSpPr txBox="1"/>
          <p:nvPr/>
        </p:nvSpPr>
        <p:spPr>
          <a:xfrm>
            <a:off x="4389120" y="2450592"/>
            <a:ext cx="3337560" cy="886968"/>
          </a:xfrm>
          <a:prstGeom prst="rect">
            <a:avLst/>
          </a:prstGeom>
          <a:noFill/>
          <a:ln/>
        </p:spPr>
        <p:txBody>
          <a:bodyPr wrap="square" lIns="0" tIns="0" rIns="0" bIns="0" rtlCol="0" anchor="t"/>
          <a:lstStyle/>
          <a:p>
            <a:pPr marL="0" indent="0">
              <a:buNone/>
            </a:pPr>
            <a:r>
              <a:rPr lang="en-US" sz="1600" b="1" dirty="0">
                <a:solidFill>
                  <a:srgbClr val="2E8B57"/>
                </a:solidFill>
              </a:rPr>
              <a:t>G5  PASS</a:t>
            </a:r>
            <a:endParaRPr lang="en-US" sz="1600" dirty="0"/>
          </a:p>
          <a:p>
            <a:pPr marL="0" indent="0">
              <a:buNone/>
            </a:pPr>
            <a:r>
              <a:rPr lang="en-US" sz="1500" dirty="0">
                <a:solidFill>
                  <a:srgbClr val="1B2A2F"/>
                </a:solidFill>
              </a:rPr>
              <a:t>Audit tamper-evident, reconstruction shown</a:t>
            </a:r>
            <a:endParaRPr lang="en-US" sz="1600" dirty="0"/>
          </a:p>
        </p:txBody>
      </p:sp>
      <p:sp>
        <p:nvSpPr>
          <p:cNvPr id="15" name="Shape 12"/>
          <p:cNvSpPr/>
          <p:nvPr/>
        </p:nvSpPr>
        <p:spPr>
          <a:xfrm>
            <a:off x="8046720" y="2377440"/>
            <a:ext cx="3611880" cy="1033272"/>
          </a:xfrm>
          <a:prstGeom prst="roundRect">
            <a:avLst>
              <a:gd name="adj" fmla="val 7080"/>
            </a:avLst>
          </a:prstGeom>
          <a:solidFill>
            <a:srgbClr val="E5F3EB"/>
          </a:solidFill>
          <a:ln/>
        </p:spPr>
        <p:txBody>
          <a:bodyPr/>
          <a:p/>
        </p:txBody>
      </p:sp>
      <p:sp>
        <p:nvSpPr>
          <p:cNvPr id="16" name="Text 13"/>
          <p:cNvSpPr txBox="1"/>
          <p:nvPr/>
        </p:nvSpPr>
        <p:spPr>
          <a:xfrm>
            <a:off x="8183880" y="2450592"/>
            <a:ext cx="3337560" cy="886968"/>
          </a:xfrm>
          <a:prstGeom prst="rect">
            <a:avLst/>
          </a:prstGeom>
          <a:noFill/>
          <a:ln/>
        </p:spPr>
        <p:txBody>
          <a:bodyPr wrap="square" lIns="0" tIns="0" rIns="0" bIns="0" rtlCol="0" anchor="t"/>
          <a:lstStyle/>
          <a:p>
            <a:pPr marL="0" indent="0">
              <a:buNone/>
            </a:pPr>
            <a:r>
              <a:rPr lang="en-US" sz="1600" b="1" dirty="0">
                <a:solidFill>
                  <a:srgbClr val="2E8B57"/>
                </a:solidFill>
              </a:rPr>
              <a:t>G6  PASS</a:t>
            </a:r>
            <a:endParaRPr lang="en-US" sz="1600" dirty="0"/>
          </a:p>
          <a:p>
            <a:pPr marL="0" indent="0">
              <a:buNone/>
            </a:pPr>
            <a:r>
              <a:rPr lang="en-US" sz="1500" dirty="0">
                <a:solidFill>
                  <a:srgbClr val="1B2A2F"/>
                </a:solidFill>
              </a:rPr>
              <a:t>Backup restore shown</a:t>
            </a:r>
            <a:endParaRPr lang="en-US" sz="1600" dirty="0"/>
          </a:p>
        </p:txBody>
      </p:sp>
      <p:sp>
        <p:nvSpPr>
          <p:cNvPr id="17" name="Shape 14"/>
          <p:cNvSpPr/>
          <p:nvPr/>
        </p:nvSpPr>
        <p:spPr>
          <a:xfrm>
            <a:off x="457200" y="3566160"/>
            <a:ext cx="3611880" cy="1033272"/>
          </a:xfrm>
          <a:prstGeom prst="roundRect">
            <a:avLst>
              <a:gd name="adj" fmla="val 7080"/>
            </a:avLst>
          </a:prstGeom>
          <a:solidFill>
            <a:srgbClr val="FFF4E0"/>
          </a:solidFill>
          <a:ln/>
        </p:spPr>
        <p:txBody>
          <a:bodyPr/>
          <a:p/>
        </p:txBody>
      </p:sp>
      <p:sp>
        <p:nvSpPr>
          <p:cNvPr id="18" name="Text 15"/>
          <p:cNvSpPr txBox="1"/>
          <p:nvPr/>
        </p:nvSpPr>
        <p:spPr>
          <a:xfrm>
            <a:off x="594360" y="3639312"/>
            <a:ext cx="3337560" cy="886968"/>
          </a:xfrm>
          <a:prstGeom prst="rect">
            <a:avLst/>
          </a:prstGeom>
          <a:noFill/>
          <a:ln/>
        </p:spPr>
        <p:txBody>
          <a:bodyPr wrap="square" lIns="0" tIns="0" rIns="0" bIns="0" rtlCol="0" anchor="t"/>
          <a:lstStyle/>
          <a:p>
            <a:pPr marL="0" indent="0">
              <a:buNone/>
            </a:pPr>
            <a:r>
              <a:rPr lang="en-US" sz="1600" b="1" dirty="0">
                <a:solidFill>
                  <a:srgbClr val="B9770E"/>
                </a:solidFill>
              </a:rPr>
              <a:t>G7  PARTIAL</a:t>
            </a:r>
            <a:endParaRPr lang="en-US" sz="1600" dirty="0"/>
          </a:p>
          <a:p>
            <a:pPr marL="0" indent="0">
              <a:buNone/>
            </a:pPr>
            <a:r>
              <a:rPr lang="en-US" sz="1500" dirty="0">
                <a:solidFill>
                  <a:srgbClr val="1B2A2F"/>
                </a:solidFill>
              </a:rPr>
              <a:t>Rollback defined and rehearsed</a:t>
            </a:r>
            <a:endParaRPr lang="en-US" sz="1600" dirty="0"/>
          </a:p>
        </p:txBody>
      </p:sp>
      <p:sp>
        <p:nvSpPr>
          <p:cNvPr id="19" name="Shape 16"/>
          <p:cNvSpPr/>
          <p:nvPr/>
        </p:nvSpPr>
        <p:spPr>
          <a:xfrm>
            <a:off x="4251960" y="3566160"/>
            <a:ext cx="3611880" cy="1033272"/>
          </a:xfrm>
          <a:prstGeom prst="roundRect">
            <a:avLst>
              <a:gd name="adj" fmla="val 7080"/>
            </a:avLst>
          </a:prstGeom>
          <a:solidFill>
            <a:srgbClr val="FCEBEA"/>
          </a:solidFill>
          <a:ln/>
        </p:spPr>
        <p:txBody>
          <a:bodyPr/>
          <a:p/>
        </p:txBody>
      </p:sp>
      <p:sp>
        <p:nvSpPr>
          <p:cNvPr id="20" name="Text 17"/>
          <p:cNvSpPr txBox="1"/>
          <p:nvPr/>
        </p:nvSpPr>
        <p:spPr>
          <a:xfrm>
            <a:off x="4389120" y="3639312"/>
            <a:ext cx="3337560" cy="886968"/>
          </a:xfrm>
          <a:prstGeom prst="rect">
            <a:avLst/>
          </a:prstGeom>
          <a:noFill/>
          <a:ln/>
        </p:spPr>
        <p:txBody>
          <a:bodyPr wrap="square" lIns="0" tIns="0" rIns="0" bIns="0" rtlCol="0" anchor="t"/>
          <a:lstStyle/>
          <a:p>
            <a:pPr marL="0" indent="0">
              <a:buNone/>
            </a:pPr>
            <a:r>
              <a:rPr lang="en-US" sz="1600" b="1" dirty="0">
                <a:solidFill>
                  <a:srgbClr val="C0392B"/>
                </a:solidFill>
              </a:rPr>
              <a:t>G8  FAIL</a:t>
            </a:r>
            <a:endParaRPr lang="en-US" sz="1600" dirty="0"/>
          </a:p>
          <a:p>
            <a:pPr marL="0" indent="0">
              <a:buNone/>
            </a:pPr>
            <a:r>
              <a:rPr lang="en-US" sz="1500" dirty="0">
                <a:solidFill>
                  <a:srgbClr val="1B2A2F"/>
                </a:solidFill>
              </a:rPr>
              <a:t>Alerts routed to named people</a:t>
            </a:r>
            <a:endParaRPr lang="en-US" sz="1600" dirty="0"/>
          </a:p>
        </p:txBody>
      </p:sp>
      <p:sp>
        <p:nvSpPr>
          <p:cNvPr id="21" name="Shape 18"/>
          <p:cNvSpPr/>
          <p:nvPr/>
        </p:nvSpPr>
        <p:spPr>
          <a:xfrm>
            <a:off x="8046720" y="3566160"/>
            <a:ext cx="3611880" cy="1033272"/>
          </a:xfrm>
          <a:prstGeom prst="roundRect">
            <a:avLst>
              <a:gd name="adj" fmla="val 7080"/>
            </a:avLst>
          </a:prstGeom>
          <a:solidFill>
            <a:srgbClr val="FCEBEA"/>
          </a:solidFill>
          <a:ln/>
        </p:spPr>
        <p:txBody>
          <a:bodyPr/>
          <a:p/>
        </p:txBody>
      </p:sp>
      <p:sp>
        <p:nvSpPr>
          <p:cNvPr id="22" name="Text 19"/>
          <p:cNvSpPr txBox="1"/>
          <p:nvPr/>
        </p:nvSpPr>
        <p:spPr>
          <a:xfrm>
            <a:off x="8183880" y="3639312"/>
            <a:ext cx="3337560" cy="886968"/>
          </a:xfrm>
          <a:prstGeom prst="rect">
            <a:avLst/>
          </a:prstGeom>
          <a:noFill/>
          <a:ln/>
        </p:spPr>
        <p:txBody>
          <a:bodyPr wrap="square" lIns="0" tIns="0" rIns="0" bIns="0" rtlCol="0" anchor="t"/>
          <a:lstStyle/>
          <a:p>
            <a:pPr marL="0" indent="0">
              <a:buNone/>
            </a:pPr>
            <a:r>
              <a:rPr lang="en-US" sz="1600" b="1" dirty="0">
                <a:solidFill>
                  <a:srgbClr val="C0392B"/>
                </a:solidFill>
              </a:rPr>
              <a:t>G9  FAIL</a:t>
            </a:r>
            <a:endParaRPr lang="en-US" sz="1600" dirty="0"/>
          </a:p>
          <a:p>
            <a:pPr marL="0" indent="0">
              <a:buNone/>
            </a:pPr>
            <a:r>
              <a:rPr lang="en-US" sz="1500" dirty="0">
                <a:solidFill>
                  <a:srgbClr val="1B2A2F"/>
                </a:solidFill>
              </a:rPr>
              <a:t>Named approver and risk owners</a:t>
            </a:r>
            <a:endParaRPr lang="en-US" sz="1600" dirty="0"/>
          </a:p>
        </p:txBody>
      </p:sp>
      <p:sp>
        <p:nvSpPr>
          <p:cNvPr id="23" name="Shape 20"/>
          <p:cNvSpPr/>
          <p:nvPr/>
        </p:nvSpPr>
        <p:spPr>
          <a:xfrm>
            <a:off x="457200" y="4754880"/>
            <a:ext cx="3611880" cy="1033272"/>
          </a:xfrm>
          <a:prstGeom prst="roundRect">
            <a:avLst>
              <a:gd name="adj" fmla="val 7080"/>
            </a:avLst>
          </a:prstGeom>
          <a:solidFill>
            <a:srgbClr val="FCEBEA"/>
          </a:solidFill>
          <a:ln/>
        </p:spPr>
        <p:txBody>
          <a:bodyPr/>
          <a:p/>
        </p:txBody>
      </p:sp>
      <p:sp>
        <p:nvSpPr>
          <p:cNvPr id="24" name="Text 21"/>
          <p:cNvSpPr txBox="1"/>
          <p:nvPr/>
        </p:nvSpPr>
        <p:spPr>
          <a:xfrm>
            <a:off x="594360" y="4828032"/>
            <a:ext cx="3337560" cy="886968"/>
          </a:xfrm>
          <a:prstGeom prst="rect">
            <a:avLst/>
          </a:prstGeom>
          <a:noFill/>
          <a:ln/>
        </p:spPr>
        <p:txBody>
          <a:bodyPr wrap="square" lIns="0" tIns="0" rIns="0" bIns="0" rtlCol="0" anchor="t"/>
          <a:lstStyle/>
          <a:p>
            <a:pPr marL="0" indent="0">
              <a:buNone/>
            </a:pPr>
            <a:r>
              <a:rPr lang="en-US" sz="1600" b="1" dirty="0">
                <a:solidFill>
                  <a:srgbClr val="C0392B"/>
                </a:solidFill>
              </a:rPr>
              <a:t>G10  FAIL</a:t>
            </a:r>
            <a:endParaRPr lang="en-US" sz="1600" dirty="0"/>
          </a:p>
          <a:p>
            <a:pPr marL="0" indent="0">
              <a:buNone/>
            </a:pPr>
            <a:r>
              <a:rPr lang="en-US" sz="1500" dirty="0">
                <a:solidFill>
                  <a:srgbClr val="1B2A2F"/>
                </a:solidFill>
              </a:rPr>
              <a:t>Platform and identity provider exist</a:t>
            </a:r>
            <a:endParaRPr lang="en-US" sz="1600" dirty="0"/>
          </a:p>
        </p:txBody>
      </p:sp>
      <p:sp>
        <p:nvSpPr>
          <p:cNvPr id="25" name="Shape 22"/>
          <p:cNvSpPr/>
          <p:nvPr/>
        </p:nvSpPr>
        <p:spPr>
          <a:xfrm>
            <a:off x="4251960" y="4754880"/>
            <a:ext cx="3611880" cy="1033272"/>
          </a:xfrm>
          <a:prstGeom prst="roundRect">
            <a:avLst>
              <a:gd name="adj" fmla="val 7080"/>
            </a:avLst>
          </a:prstGeom>
          <a:solidFill>
            <a:srgbClr val="FCEBEA"/>
          </a:solidFill>
          <a:ln/>
        </p:spPr>
        <p:txBody>
          <a:bodyPr/>
          <a:p/>
        </p:txBody>
      </p:sp>
      <p:sp>
        <p:nvSpPr>
          <p:cNvPr id="26" name="Text 23"/>
          <p:cNvSpPr txBox="1"/>
          <p:nvPr/>
        </p:nvSpPr>
        <p:spPr>
          <a:xfrm>
            <a:off x="4389120" y="4828032"/>
            <a:ext cx="3337560" cy="886968"/>
          </a:xfrm>
          <a:prstGeom prst="rect">
            <a:avLst/>
          </a:prstGeom>
          <a:noFill/>
          <a:ln/>
        </p:spPr>
        <p:txBody>
          <a:bodyPr wrap="square" lIns="0" tIns="0" rIns="0" bIns="0" rtlCol="0" anchor="t"/>
          <a:lstStyle/>
          <a:p>
            <a:pPr marL="0" indent="0">
              <a:buNone/>
            </a:pPr>
            <a:r>
              <a:rPr lang="en-US" sz="1600" b="1" dirty="0">
                <a:solidFill>
                  <a:srgbClr val="C0392B"/>
                </a:solidFill>
              </a:rPr>
              <a:t>G11  FAIL</a:t>
            </a:r>
            <a:endParaRPr lang="en-US" sz="1600" dirty="0"/>
          </a:p>
          <a:p>
            <a:pPr marL="0" indent="0">
              <a:buNone/>
            </a:pPr>
            <a:r>
              <a:rPr lang="en-US" sz="1500" dirty="0">
                <a:solidFill>
                  <a:srgbClr val="1B2A2F"/>
                </a:solidFill>
              </a:rPr>
              <a:t>Independent evidence review</a:t>
            </a:r>
            <a:endParaRPr lang="en-US" sz="1600" dirty="0"/>
          </a:p>
        </p:txBody>
      </p:sp>
      <p:sp>
        <p:nvSpPr>
          <p:cNvPr id="27" name="Shape 24"/>
          <p:cNvSpPr/>
          <p:nvPr/>
        </p:nvSpPr>
        <p:spPr>
          <a:xfrm>
            <a:off x="8046720" y="4754880"/>
            <a:ext cx="3611880" cy="1033272"/>
          </a:xfrm>
          <a:prstGeom prst="roundRect">
            <a:avLst>
              <a:gd name="adj" fmla="val 7080"/>
            </a:avLst>
          </a:prstGeom>
          <a:solidFill>
            <a:srgbClr val="FCEBEA"/>
          </a:solidFill>
          <a:ln/>
        </p:spPr>
        <p:txBody>
          <a:bodyPr/>
          <a:p/>
        </p:txBody>
      </p:sp>
      <p:sp>
        <p:nvSpPr>
          <p:cNvPr id="28" name="Text 25"/>
          <p:cNvSpPr txBox="1"/>
          <p:nvPr/>
        </p:nvSpPr>
        <p:spPr>
          <a:xfrm>
            <a:off x="8183880" y="4828032"/>
            <a:ext cx="3337560" cy="886968"/>
          </a:xfrm>
          <a:prstGeom prst="rect">
            <a:avLst/>
          </a:prstGeom>
          <a:noFill/>
          <a:ln/>
        </p:spPr>
        <p:txBody>
          <a:bodyPr wrap="square" lIns="0" tIns="0" rIns="0" bIns="0" rtlCol="0" anchor="t"/>
          <a:lstStyle/>
          <a:p>
            <a:pPr marL="0" indent="0">
              <a:buNone/>
            </a:pPr>
            <a:r>
              <a:rPr lang="en-US" sz="1600" b="1" dirty="0">
                <a:solidFill>
                  <a:srgbClr val="C0392B"/>
                </a:solidFill>
              </a:rPr>
              <a:t>G12  FAIL</a:t>
            </a:r>
            <a:endParaRPr lang="en-US" sz="1600" dirty="0"/>
          </a:p>
          <a:p>
            <a:pPr marL="0" indent="0">
              <a:buNone/>
            </a:pPr>
            <a:r>
              <a:rPr lang="en-US" sz="1500" dirty="0">
                <a:solidFill>
                  <a:srgbClr val="1B2A2F"/>
                </a:solidFill>
              </a:rPr>
              <a:t>Compliance resolved for real data</a:t>
            </a:r>
            <a:endParaRPr lang="en-US" sz="1600" dirty="0"/>
          </a:p>
        </p:txBody>
      </p:sp>
      <p:sp>
        <p:nvSpPr>
          <p:cNvPr id="29" name="Text 26"/>
          <p:cNvSpPr txBox="1"/>
          <p:nvPr/>
        </p:nvSpPr>
        <p:spPr>
          <a:xfrm>
            <a:off x="457200" y="6053328"/>
            <a:ext cx="11247120" cy="320040"/>
          </a:xfrm>
          <a:prstGeom prst="rect">
            <a:avLst/>
          </a:prstGeom>
          <a:noFill/>
          <a:ln/>
        </p:spPr>
        <p:txBody>
          <a:bodyPr wrap="square" lIns="0" tIns="0" rIns="0" bIns="0" rtlCol="0" anchor="ctr"/>
          <a:lstStyle/>
          <a:p>
            <a:pPr marL="0" indent="0">
              <a:buNone/>
            </a:pPr>
            <a:r>
              <a:rPr lang="en-US" sz="1300" i="1" dirty="0">
                <a:solidFill>
                  <a:srgbClr val="5F6E71"/>
                </a:solidFill>
              </a:rPr>
              <a:t>Pilot needs G1 to G7 plus five conditions (sponsor, credentials, branch protection, no real data, one reviewer). Production needs all twelve.</a:t>
            </a:r>
            <a:endParaRPr lang="en-US" sz="13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04  DECISION AND ASKS</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What is not proven, stated before anyone asks</a:t>
            </a:r>
            <a:endParaRPr lang="en-US" sz="2800" dirty="0"/>
          </a:p>
        </p:txBody>
      </p:sp>
      <p:sp>
        <p:nvSpPr>
          <p:cNvPr id="5" name="Shape 2"/>
          <p:cNvSpPr/>
          <p:nvPr/>
        </p:nvSpPr>
        <p:spPr>
          <a:xfrm>
            <a:off x="457200" y="1188720"/>
            <a:ext cx="5440680" cy="1508760"/>
          </a:xfrm>
          <a:prstGeom prst="roundRect">
            <a:avLst>
              <a:gd name="adj" fmla="val 4848"/>
            </a:avLst>
          </a:prstGeom>
          <a:solidFill>
            <a:srgbClr val="FCEBEA"/>
          </a:solidFill>
          <a:ln/>
        </p:spPr>
        <p:txBody>
          <a:bodyPr/>
          <a:p/>
        </p:txBody>
      </p:sp>
      <p:sp>
        <p:nvSpPr>
          <p:cNvPr id="6" name="Shape 3"/>
          <p:cNvSpPr/>
          <p:nvPr/>
        </p:nvSpPr>
        <p:spPr>
          <a:xfrm>
            <a:off x="640080" y="1389888"/>
            <a:ext cx="566928" cy="566928"/>
          </a:xfrm>
          <a:prstGeom prst="ellipse">
            <a:avLst/>
          </a:prstGeom>
          <a:solidFill>
            <a:srgbClr val="C0392B"/>
          </a:solidFill>
          <a:ln/>
        </p:spPr>
        <p:txBody>
          <a:bodyPr/>
          <a:p/>
        </p:txBody>
      </p:sp>
      <p:pic>
        <p:nvPicPr>
          <p:cNvPr id="7" name="Image 0" descr="preencoded.png"/>
          <p:cNvPicPr>
            <a:picLocks noChangeAspect="1"/>
          </p:cNvPicPr>
          <p:nvPr/>
        </p:nvPicPr>
        <p:blipFill>
          <a:blip r:embed="rId3"/>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C0392B"/>
                </a:solidFill>
              </a:rPr>
              <a:t>No real AI model</a:t>
            </a:r>
            <a:endParaRPr lang="en-US" sz="1700" dirty="0"/>
          </a:p>
          <a:p>
            <a:pPr marL="0" indent="0">
              <a:spcAft>
                <a:spcPts val="400"/>
              </a:spcAft>
              <a:buNone/>
            </a:pPr>
            <a:r>
              <a:rPr lang="en-US" sz="1400" dirty="0">
                <a:solidFill>
                  <a:srgbClr val="1B2A2F"/>
                </a:solidFill>
              </a:rPr>
              <a:t>All AI evidence uses the deterministic provider. No model by decision (OQ-02).</a:t>
            </a:r>
            <a:endParaRPr lang="en-US" sz="1700" dirty="0"/>
          </a:p>
        </p:txBody>
      </p:sp>
      <p:sp>
        <p:nvSpPr>
          <p:cNvPr id="9" name="Shape 5"/>
          <p:cNvSpPr/>
          <p:nvPr/>
        </p:nvSpPr>
        <p:spPr>
          <a:xfrm>
            <a:off x="6126480" y="1188720"/>
            <a:ext cx="5440680" cy="1508760"/>
          </a:xfrm>
          <a:prstGeom prst="roundRect">
            <a:avLst>
              <a:gd name="adj" fmla="val 4848"/>
            </a:avLst>
          </a:prstGeom>
          <a:solidFill>
            <a:srgbClr val="FCEBEA"/>
          </a:solidFill>
          <a:ln/>
        </p:spPr>
        <p:txBody>
          <a:bodyPr/>
          <a:p/>
        </p:txBody>
      </p:sp>
      <p:sp>
        <p:nvSpPr>
          <p:cNvPr id="10" name="Shape 6"/>
          <p:cNvSpPr/>
          <p:nvPr/>
        </p:nvSpPr>
        <p:spPr>
          <a:xfrm>
            <a:off x="6309360" y="1389888"/>
            <a:ext cx="566928" cy="566928"/>
          </a:xfrm>
          <a:prstGeom prst="ellipse">
            <a:avLst/>
          </a:prstGeom>
          <a:solidFill>
            <a:srgbClr val="C0392B"/>
          </a:solidFill>
          <a:ln/>
        </p:spPr>
        <p:txBody>
          <a:bodyPr/>
          <a:p/>
        </p:txBody>
      </p:sp>
      <p:pic>
        <p:nvPicPr>
          <p:cNvPr id="11" name="Image 1" descr="preencoded.png"/>
          <p:cNvPicPr>
            <a:picLocks noChangeAspect="1"/>
          </p:cNvPicPr>
          <p:nvPr/>
        </p:nvPicPr>
        <p:blipFill>
          <a:blip r:embed="rId4"/>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C0392B"/>
                </a:solidFill>
              </a:rPr>
              <a:t>Nothing deployed</a:t>
            </a:r>
            <a:endParaRPr lang="en-US" sz="1700" dirty="0"/>
          </a:p>
          <a:p>
            <a:pPr marL="0" indent="0">
              <a:spcAft>
                <a:spcPts val="400"/>
              </a:spcAft>
              <a:buNone/>
            </a:pPr>
            <a:r>
              <a:rPr lang="en-US" sz="1400" dirty="0">
                <a:solidFill>
                  <a:srgbClr val="1B2A2F"/>
                </a:solidFill>
              </a:rPr>
              <a:t>Platform-neutral by decision (OQ-01). Terraform provisions nothing; the image was never built.</a:t>
            </a:r>
            <a:endParaRPr lang="en-US" sz="1700" dirty="0"/>
          </a:p>
        </p:txBody>
      </p:sp>
      <p:sp>
        <p:nvSpPr>
          <p:cNvPr id="13" name="Shape 8"/>
          <p:cNvSpPr/>
          <p:nvPr/>
        </p:nvSpPr>
        <p:spPr>
          <a:xfrm>
            <a:off x="457200" y="2880360"/>
            <a:ext cx="5440680" cy="1508760"/>
          </a:xfrm>
          <a:prstGeom prst="roundRect">
            <a:avLst>
              <a:gd name="adj" fmla="val 4848"/>
            </a:avLst>
          </a:prstGeom>
          <a:solidFill>
            <a:srgbClr val="FCEBEA"/>
          </a:solidFill>
          <a:ln/>
        </p:spPr>
        <p:txBody>
          <a:bodyPr/>
          <a:p/>
        </p:txBody>
      </p:sp>
      <p:sp>
        <p:nvSpPr>
          <p:cNvPr id="14" name="Shape 9"/>
          <p:cNvSpPr/>
          <p:nvPr/>
        </p:nvSpPr>
        <p:spPr>
          <a:xfrm>
            <a:off x="640080" y="3081528"/>
            <a:ext cx="566928" cy="566928"/>
          </a:xfrm>
          <a:prstGeom prst="ellipse">
            <a:avLst/>
          </a:prstGeom>
          <a:solidFill>
            <a:srgbClr val="C0392B"/>
          </a:solidFill>
          <a:ln/>
        </p:spPr>
        <p:txBody>
          <a:bodyPr/>
          <a:p/>
        </p:txBody>
      </p:sp>
      <p:pic>
        <p:nvPicPr>
          <p:cNvPr id="15" name="Image 2" descr="preencoded.png"/>
          <p:cNvPicPr>
            <a:picLocks noChangeAspect="1"/>
          </p:cNvPicPr>
          <p:nvPr/>
        </p:nvPicPr>
        <p:blipFill>
          <a:blip r:embed="rId5"/>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C0392B"/>
                </a:solidFill>
              </a:rPr>
              <a:t>No business value measured</a:t>
            </a:r>
            <a:endParaRPr lang="en-US" sz="1700" dirty="0"/>
          </a:p>
          <a:p>
            <a:pPr marL="0" indent="0">
              <a:spcAft>
                <a:spcPts val="400"/>
              </a:spcAft>
              <a:buNone/>
            </a:pPr>
            <a:r>
              <a:rPr lang="en-US" sz="1400" dirty="0">
                <a:solidFill>
                  <a:srgbClr val="1B2A2F"/>
                </a:solidFill>
              </a:rPr>
              <a:t>K1 to K8 come from a static synthetic fixture, so they cannot move.</a:t>
            </a:r>
            <a:endParaRPr lang="en-US" sz="1700" dirty="0"/>
          </a:p>
        </p:txBody>
      </p:sp>
      <p:sp>
        <p:nvSpPr>
          <p:cNvPr id="17" name="Shape 11"/>
          <p:cNvSpPr/>
          <p:nvPr/>
        </p:nvSpPr>
        <p:spPr>
          <a:xfrm>
            <a:off x="6126480" y="2880360"/>
            <a:ext cx="5440680" cy="1508760"/>
          </a:xfrm>
          <a:prstGeom prst="roundRect">
            <a:avLst>
              <a:gd name="adj" fmla="val 4848"/>
            </a:avLst>
          </a:prstGeom>
          <a:solidFill>
            <a:srgbClr val="FCEBEA"/>
          </a:solidFill>
          <a:ln/>
        </p:spPr>
        <p:txBody>
          <a:bodyPr/>
          <a:p/>
        </p:txBody>
      </p:sp>
      <p:sp>
        <p:nvSpPr>
          <p:cNvPr id="18" name="Shape 12"/>
          <p:cNvSpPr/>
          <p:nvPr/>
        </p:nvSpPr>
        <p:spPr>
          <a:xfrm>
            <a:off x="6309360" y="3081528"/>
            <a:ext cx="566928" cy="566928"/>
          </a:xfrm>
          <a:prstGeom prst="ellipse">
            <a:avLst/>
          </a:prstGeom>
          <a:solidFill>
            <a:srgbClr val="C0392B"/>
          </a:solidFill>
          <a:ln/>
        </p:spPr>
        <p:txBody>
          <a:bodyPr/>
          <a:p/>
        </p:txBody>
      </p:sp>
      <p:pic>
        <p:nvPicPr>
          <p:cNvPr id="19" name="Image 3" descr="preencoded.png"/>
          <p:cNvPicPr>
            <a:picLocks noChangeAspect="1"/>
          </p:cNvPicPr>
          <p:nvPr/>
        </p:nvPicPr>
        <p:blipFill>
          <a:blip r:embed="rId6"/>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C0392B"/>
                </a:solidFill>
              </a:rPr>
              <a:t>No independent review</a:t>
            </a:r>
            <a:endParaRPr lang="en-US" sz="1700" dirty="0"/>
          </a:p>
          <a:p>
            <a:pPr marL="0" indent="0">
              <a:spcAft>
                <a:spcPts val="400"/>
              </a:spcAft>
              <a:buNone/>
            </a:pPr>
            <a:r>
              <a:rPr lang="en-US" sz="1400" dirty="0">
                <a:solidFill>
                  <a:srgbClr val="1B2A2F"/>
                </a:solidFill>
              </a:rPr>
              <a:t>One operator and one agent built, tested and graded everything.</a:t>
            </a:r>
            <a:endParaRPr lang="en-US" sz="1700" dirty="0"/>
          </a:p>
        </p:txBody>
      </p:sp>
      <p:sp>
        <p:nvSpPr>
          <p:cNvPr id="21" name="Shape 14"/>
          <p:cNvSpPr/>
          <p:nvPr/>
        </p:nvSpPr>
        <p:spPr>
          <a:xfrm>
            <a:off x="457200" y="4572000"/>
            <a:ext cx="5440680" cy="1508760"/>
          </a:xfrm>
          <a:prstGeom prst="roundRect">
            <a:avLst>
              <a:gd name="adj" fmla="val 4848"/>
            </a:avLst>
          </a:prstGeom>
          <a:solidFill>
            <a:srgbClr val="FFF4E0"/>
          </a:solidFill>
          <a:ln/>
        </p:spPr>
        <p:txBody>
          <a:bodyPr/>
          <a:p/>
        </p:txBody>
      </p:sp>
      <p:sp>
        <p:nvSpPr>
          <p:cNvPr id="22" name="Shape 15"/>
          <p:cNvSpPr/>
          <p:nvPr/>
        </p:nvSpPr>
        <p:spPr>
          <a:xfrm>
            <a:off x="640080" y="4773168"/>
            <a:ext cx="566928" cy="566928"/>
          </a:xfrm>
          <a:prstGeom prst="ellipse">
            <a:avLst/>
          </a:prstGeom>
          <a:solidFill>
            <a:srgbClr val="B9770E"/>
          </a:solidFill>
          <a:ln/>
        </p:spPr>
        <p:txBody>
          <a:bodyPr/>
          <a:p/>
        </p:txBody>
      </p:sp>
      <p:pic>
        <p:nvPicPr>
          <p:cNvPr id="23" name="Image 4" descr="preencoded.png"/>
          <p:cNvPicPr>
            <a:picLocks noChangeAspect="1"/>
          </p:cNvPicPr>
          <p:nvPr/>
        </p:nvPicPr>
        <p:blipFill>
          <a:blip r:embed="rId7"/>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C0392B"/>
                </a:solidFill>
              </a:rPr>
              <a:t>Portability partly shown</a:t>
            </a:r>
            <a:endParaRPr lang="en-US" sz="1700" dirty="0"/>
          </a:p>
          <a:p>
            <a:pPr marL="0" indent="0">
              <a:spcAft>
                <a:spcPts val="400"/>
              </a:spcAft>
              <a:buNone/>
            </a:pPr>
            <a:r>
              <a:rPr lang="en-US" sz="1400" dirty="0">
                <a:solidFill>
                  <a:srgbClr val="1B2A2F"/>
                </a:solidFill>
              </a:rPr>
              <a:t>Two rebuilds: behaviour and safety carried over; data intake and AI-output detail did not.</a:t>
            </a:r>
            <a:endParaRPr lang="en-US" sz="1700" dirty="0"/>
          </a:p>
        </p:txBody>
      </p:sp>
      <p:sp>
        <p:nvSpPr>
          <p:cNvPr id="25" name="Shape 17"/>
          <p:cNvSpPr/>
          <p:nvPr/>
        </p:nvSpPr>
        <p:spPr>
          <a:xfrm>
            <a:off x="6126480" y="4572000"/>
            <a:ext cx="5440680" cy="1508760"/>
          </a:xfrm>
          <a:prstGeom prst="roundRect">
            <a:avLst>
              <a:gd name="adj" fmla="val 4848"/>
            </a:avLst>
          </a:prstGeom>
          <a:solidFill>
            <a:srgbClr val="FFF4E0"/>
          </a:solidFill>
          <a:ln/>
        </p:spPr>
        <p:txBody>
          <a:bodyPr/>
          <a:p/>
        </p:txBody>
      </p:sp>
      <p:sp>
        <p:nvSpPr>
          <p:cNvPr id="26" name="Shape 18"/>
          <p:cNvSpPr/>
          <p:nvPr/>
        </p:nvSpPr>
        <p:spPr>
          <a:xfrm>
            <a:off x="6309360" y="4773168"/>
            <a:ext cx="566928" cy="566928"/>
          </a:xfrm>
          <a:prstGeom prst="ellipse">
            <a:avLst/>
          </a:prstGeom>
          <a:solidFill>
            <a:srgbClr val="B9770E"/>
          </a:solidFill>
          <a:ln/>
        </p:spPr>
        <p:txBody>
          <a:bodyPr/>
          <a:p/>
        </p:txBody>
      </p:sp>
      <p:pic>
        <p:nvPicPr>
          <p:cNvPr id="27" name="Image 5" descr="preencoded.png"/>
          <p:cNvPicPr>
            <a:picLocks noChangeAspect="1"/>
          </p:cNvPicPr>
          <p:nvPr/>
        </p:nvPicPr>
        <p:blipFill>
          <a:blip r:embed="rId8"/>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C0392B"/>
                </a:solidFill>
              </a:rPr>
              <a:t>Secrets in history</a:t>
            </a:r>
            <a:endParaRPr lang="en-US" sz="1700" dirty="0"/>
          </a:p>
          <a:p>
            <a:pPr marL="0" indent="0">
              <a:spcAft>
                <a:spcPts val="400"/>
              </a:spcAft>
              <a:buNone/>
            </a:pPr>
            <a:r>
              <a:rPr lang="en-US" sz="1400" dirty="0">
                <a:solidFill>
                  <a:srgbClr val="1B2A2F"/>
                </a:solidFill>
              </a:rPr>
              <a:t>Removed from the tree; history kept; repository private; values treated as compromised.</a:t>
            </a:r>
            <a:endParaRPr lang="en-US" sz="17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04  DECISION AND ASKS</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Six asks of the CTO</a:t>
            </a:r>
            <a:endParaRPr lang="en-US" sz="2800" dirty="0"/>
          </a:p>
        </p:txBody>
      </p:sp>
      <p:sp>
        <p:nvSpPr>
          <p:cNvPr id="5" name="Shape 2"/>
          <p:cNvSpPr/>
          <p:nvPr/>
        </p:nvSpPr>
        <p:spPr>
          <a:xfrm>
            <a:off x="457200" y="1188720"/>
            <a:ext cx="5440680" cy="1508760"/>
          </a:xfrm>
          <a:prstGeom prst="roundRect">
            <a:avLst>
              <a:gd name="adj" fmla="val 4848"/>
            </a:avLst>
          </a:prstGeom>
          <a:solidFill>
            <a:srgbClr val="E8F1F2"/>
          </a:solidFill>
          <a:ln/>
        </p:spPr>
        <p:txBody>
          <a:bodyPr/>
          <a:p/>
        </p:txBody>
      </p:sp>
      <p:sp>
        <p:nvSpPr>
          <p:cNvPr id="6" name="Shape 3"/>
          <p:cNvSpPr/>
          <p:nvPr/>
        </p:nvSpPr>
        <p:spPr>
          <a:xfrm>
            <a:off x="640080" y="1389888"/>
            <a:ext cx="566928" cy="566928"/>
          </a:xfrm>
          <a:prstGeom prst="ellipse">
            <a:avLst/>
          </a:prstGeom>
          <a:solidFill>
            <a:srgbClr val="0B3C49"/>
          </a:solidFill>
          <a:ln/>
        </p:spPr>
        <p:txBody>
          <a:bodyPr/>
          <a:p/>
        </p:txBody>
      </p:sp>
      <p:pic>
        <p:nvPicPr>
          <p:cNvPr id="7" name="Image 0" descr="preencoded.png"/>
          <p:cNvPicPr>
            <a:picLocks noChangeAspect="1"/>
          </p:cNvPicPr>
          <p:nvPr/>
        </p:nvPicPr>
        <p:blipFill>
          <a:blip r:embed="rId3"/>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1  Ratify the write authorisation</a:t>
            </a:r>
            <a:endParaRPr lang="en-US" sz="1700" dirty="0"/>
          </a:p>
          <a:p>
            <a:pPr marL="0" indent="0">
              <a:spcAft>
                <a:spcPts val="400"/>
              </a:spcAft>
              <a:buNone/>
            </a:pPr>
            <a:r>
              <a:rPr lang="en-US" sz="1400" dirty="0">
                <a:solidFill>
                  <a:srgbClr val="1B2A2F"/>
                </a:solidFill>
              </a:rPr>
              <a:t>Given by the operator to themselves (OQ-11). Minutes.</a:t>
            </a:r>
            <a:endParaRPr lang="en-US" sz="1700" dirty="0"/>
          </a:p>
        </p:txBody>
      </p:sp>
      <p:sp>
        <p:nvSpPr>
          <p:cNvPr id="9" name="Shape 5"/>
          <p:cNvSpPr/>
          <p:nvPr/>
        </p:nvSpPr>
        <p:spPr>
          <a:xfrm>
            <a:off x="6126480" y="1188720"/>
            <a:ext cx="5440680" cy="1508760"/>
          </a:xfrm>
          <a:prstGeom prst="roundRect">
            <a:avLst>
              <a:gd name="adj" fmla="val 4848"/>
            </a:avLst>
          </a:prstGeom>
          <a:solidFill>
            <a:srgbClr val="E8F1F2"/>
          </a:solidFill>
          <a:ln/>
        </p:spPr>
        <p:txBody>
          <a:bodyPr/>
          <a:p/>
        </p:txBody>
      </p:sp>
      <p:sp>
        <p:nvSpPr>
          <p:cNvPr id="10" name="Shape 6"/>
          <p:cNvSpPr/>
          <p:nvPr/>
        </p:nvSpPr>
        <p:spPr>
          <a:xfrm>
            <a:off x="6309360" y="1389888"/>
            <a:ext cx="566928" cy="566928"/>
          </a:xfrm>
          <a:prstGeom prst="ellipse">
            <a:avLst/>
          </a:prstGeom>
          <a:solidFill>
            <a:srgbClr val="0B3C49"/>
          </a:solidFill>
          <a:ln/>
        </p:spPr>
        <p:txBody>
          <a:bodyPr/>
          <a:p/>
        </p:txBody>
      </p:sp>
      <p:pic>
        <p:nvPicPr>
          <p:cNvPr id="11" name="Image 1" descr="preencoded.png"/>
          <p:cNvPicPr>
            <a:picLocks noChangeAspect="1"/>
          </p:cNvPicPr>
          <p:nvPr/>
        </p:nvPicPr>
        <p:blipFill>
          <a:blip r:embed="rId4"/>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2  Name approvers; sign or reject 12 risk acceptances</a:t>
            </a:r>
            <a:endParaRPr lang="en-US" sz="1700" dirty="0"/>
          </a:p>
          <a:p>
            <a:pPr marL="0" indent="0">
              <a:spcAft>
                <a:spcPts val="400"/>
              </a:spcAft>
              <a:buNone/>
            </a:pPr>
            <a:r>
              <a:rPr lang="en-US" sz="1400" dirty="0">
                <a:solidFill>
                  <a:srgbClr val="1B2A2F"/>
                </a:solidFill>
              </a:rPr>
              <a:t>0 of 12 signed; the only NOT MET rubric row (OQ-05). About an hour.</a:t>
            </a:r>
            <a:endParaRPr lang="en-US" sz="1700" dirty="0"/>
          </a:p>
        </p:txBody>
      </p:sp>
      <p:sp>
        <p:nvSpPr>
          <p:cNvPr id="13" name="Shape 8"/>
          <p:cNvSpPr/>
          <p:nvPr/>
        </p:nvSpPr>
        <p:spPr>
          <a:xfrm>
            <a:off x="457200" y="2880360"/>
            <a:ext cx="5440680" cy="1508760"/>
          </a:xfrm>
          <a:prstGeom prst="roundRect">
            <a:avLst>
              <a:gd name="adj" fmla="val 4848"/>
            </a:avLst>
          </a:prstGeom>
          <a:solidFill>
            <a:srgbClr val="E8F1F2"/>
          </a:solidFill>
          <a:ln/>
        </p:spPr>
        <p:txBody>
          <a:bodyPr/>
          <a:p/>
        </p:txBody>
      </p:sp>
      <p:sp>
        <p:nvSpPr>
          <p:cNvPr id="14" name="Shape 9"/>
          <p:cNvSpPr/>
          <p:nvPr/>
        </p:nvSpPr>
        <p:spPr>
          <a:xfrm>
            <a:off x="640080" y="3081528"/>
            <a:ext cx="566928" cy="566928"/>
          </a:xfrm>
          <a:prstGeom prst="ellipse">
            <a:avLst/>
          </a:prstGeom>
          <a:solidFill>
            <a:srgbClr val="0B3C49"/>
          </a:solidFill>
          <a:ln/>
        </p:spPr>
        <p:txBody>
          <a:bodyPr/>
          <a:p/>
        </p:txBody>
      </p:sp>
      <p:pic>
        <p:nvPicPr>
          <p:cNvPr id="15" name="Image 2" descr="preencoded.png"/>
          <p:cNvPicPr>
            <a:picLocks noChangeAspect="1"/>
          </p:cNvPicPr>
          <p:nvPr/>
        </p:nvPicPr>
        <p:blipFill>
          <a:blip r:embed="rId5"/>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3  Confirm platform, model and egress</a:t>
            </a:r>
            <a:endParaRPr lang="en-US" sz="1700" dirty="0"/>
          </a:p>
          <a:p>
            <a:pPr marL="0" indent="0">
              <a:spcAft>
                <a:spcPts val="400"/>
              </a:spcAft>
              <a:buNone/>
            </a:pPr>
            <a:r>
              <a:rPr lang="en-US" sz="1400" dirty="0">
                <a:solidFill>
                  <a:srgbClr val="1B2A2F"/>
                </a:solidFill>
              </a:rPr>
              <a:t>Decides whether IaC and a working AI model can ever be met (OQ-01 to 03). A conversation.</a:t>
            </a:r>
            <a:endParaRPr lang="en-US" sz="1700" dirty="0"/>
          </a:p>
        </p:txBody>
      </p:sp>
      <p:sp>
        <p:nvSpPr>
          <p:cNvPr id="17" name="Shape 11"/>
          <p:cNvSpPr/>
          <p:nvPr/>
        </p:nvSpPr>
        <p:spPr>
          <a:xfrm>
            <a:off x="6126480" y="2880360"/>
            <a:ext cx="5440680" cy="1508760"/>
          </a:xfrm>
          <a:prstGeom prst="roundRect">
            <a:avLst>
              <a:gd name="adj" fmla="val 4848"/>
            </a:avLst>
          </a:prstGeom>
          <a:solidFill>
            <a:srgbClr val="E8F1F2"/>
          </a:solidFill>
          <a:ln/>
        </p:spPr>
        <p:txBody>
          <a:bodyPr/>
          <a:p/>
        </p:txBody>
      </p:sp>
      <p:sp>
        <p:nvSpPr>
          <p:cNvPr id="18" name="Shape 12"/>
          <p:cNvSpPr/>
          <p:nvPr/>
        </p:nvSpPr>
        <p:spPr>
          <a:xfrm>
            <a:off x="6309360" y="3081528"/>
            <a:ext cx="566928" cy="566928"/>
          </a:xfrm>
          <a:prstGeom prst="ellipse">
            <a:avLst/>
          </a:prstGeom>
          <a:solidFill>
            <a:srgbClr val="0B3C49"/>
          </a:solidFill>
          <a:ln/>
        </p:spPr>
        <p:txBody>
          <a:bodyPr/>
          <a:p/>
        </p:txBody>
      </p:sp>
      <p:pic>
        <p:nvPicPr>
          <p:cNvPr id="19" name="Image 3" descr="preencoded.png"/>
          <p:cNvPicPr>
            <a:picLocks noChangeAspect="1"/>
          </p:cNvPicPr>
          <p:nvPr/>
        </p:nvPicPr>
        <p:blipFill>
          <a:blip r:embed="rId6"/>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4  Name a regulatory regime, or confirm none</a:t>
            </a:r>
            <a:endParaRPr lang="en-US" sz="1700" dirty="0"/>
          </a:p>
          <a:p>
            <a:pPr marL="0" indent="0">
              <a:spcAft>
                <a:spcPts val="400"/>
              </a:spcAft>
              <a:buNone/>
            </a:pPr>
            <a:r>
              <a:rPr lang="en-US" sz="1400" dirty="0">
                <a:solidFill>
                  <a:srgbClr val="1B2A2F"/>
                </a:solidFill>
              </a:rPr>
              <a:t>Validates the candidate obligations (OQ-04, OQ-21). A day of review.</a:t>
            </a:r>
            <a:endParaRPr lang="en-US" sz="1700" dirty="0"/>
          </a:p>
        </p:txBody>
      </p:sp>
      <p:sp>
        <p:nvSpPr>
          <p:cNvPr id="21" name="Shape 14"/>
          <p:cNvSpPr/>
          <p:nvPr/>
        </p:nvSpPr>
        <p:spPr>
          <a:xfrm>
            <a:off x="457200" y="4572000"/>
            <a:ext cx="5440680" cy="1508760"/>
          </a:xfrm>
          <a:prstGeom prst="roundRect">
            <a:avLst>
              <a:gd name="adj" fmla="val 4848"/>
            </a:avLst>
          </a:prstGeom>
          <a:solidFill>
            <a:srgbClr val="E8F1F2"/>
          </a:solidFill>
          <a:ln/>
        </p:spPr>
        <p:txBody>
          <a:bodyPr/>
          <a:p/>
        </p:txBody>
      </p:sp>
      <p:sp>
        <p:nvSpPr>
          <p:cNvPr id="22" name="Shape 15"/>
          <p:cNvSpPr/>
          <p:nvPr/>
        </p:nvSpPr>
        <p:spPr>
          <a:xfrm>
            <a:off x="640080" y="4773168"/>
            <a:ext cx="566928" cy="566928"/>
          </a:xfrm>
          <a:prstGeom prst="ellipse">
            <a:avLst/>
          </a:prstGeom>
          <a:solidFill>
            <a:srgbClr val="0B3C49"/>
          </a:solidFill>
          <a:ln/>
        </p:spPr>
        <p:txBody>
          <a:bodyPr/>
          <a:p/>
        </p:txBody>
      </p:sp>
      <p:pic>
        <p:nvPicPr>
          <p:cNvPr id="23" name="Image 4" descr="preencoded.png"/>
          <p:cNvPicPr>
            <a:picLocks noChangeAspect="1"/>
          </p:cNvPicPr>
          <p:nvPr/>
        </p:nvPicPr>
        <p:blipFill>
          <a:blip r:embed="rId7"/>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5  Confirm proxy KPIs; say if real figures exist</a:t>
            </a:r>
            <a:endParaRPr lang="en-US" sz="1700" dirty="0"/>
          </a:p>
          <a:p>
            <a:pPr marL="0" indent="0">
              <a:spcAft>
                <a:spcPts val="400"/>
              </a:spcAft>
              <a:buNone/>
            </a:pPr>
            <a:r>
              <a:rPr lang="en-US" sz="1400" dirty="0">
                <a:solidFill>
                  <a:srgbClr val="1B2A2F"/>
                </a:solidFill>
              </a:rPr>
              <a:t>The sponsor owns the value argument (OQ-08, OQ-09). Minutes.</a:t>
            </a:r>
            <a:endParaRPr lang="en-US" sz="1700" dirty="0"/>
          </a:p>
        </p:txBody>
      </p:sp>
      <p:sp>
        <p:nvSpPr>
          <p:cNvPr id="25" name="Shape 17"/>
          <p:cNvSpPr/>
          <p:nvPr/>
        </p:nvSpPr>
        <p:spPr>
          <a:xfrm>
            <a:off x="6126480" y="4572000"/>
            <a:ext cx="5440680" cy="1508760"/>
          </a:xfrm>
          <a:prstGeom prst="roundRect">
            <a:avLst>
              <a:gd name="adj" fmla="val 4848"/>
            </a:avLst>
          </a:prstGeom>
          <a:solidFill>
            <a:srgbClr val="E8F1F2"/>
          </a:solidFill>
          <a:ln/>
        </p:spPr>
        <p:txBody>
          <a:bodyPr/>
          <a:p/>
        </p:txBody>
      </p:sp>
      <p:sp>
        <p:nvSpPr>
          <p:cNvPr id="26" name="Shape 18"/>
          <p:cNvSpPr/>
          <p:nvPr/>
        </p:nvSpPr>
        <p:spPr>
          <a:xfrm>
            <a:off x="6309360" y="4773168"/>
            <a:ext cx="566928" cy="566928"/>
          </a:xfrm>
          <a:prstGeom prst="ellipse">
            <a:avLst/>
          </a:prstGeom>
          <a:solidFill>
            <a:srgbClr val="0B3C49"/>
          </a:solidFill>
          <a:ln/>
        </p:spPr>
        <p:txBody>
          <a:bodyPr/>
          <a:p/>
        </p:txBody>
      </p:sp>
      <p:pic>
        <p:nvPicPr>
          <p:cNvPr id="27" name="Image 5" descr="preencoded.png"/>
          <p:cNvPicPr>
            <a:picLocks noChangeAspect="1"/>
          </p:cNvPicPr>
          <p:nvPr/>
        </p:nvPicPr>
        <p:blipFill>
          <a:blip r:embed="rId8"/>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marL="0" indent="0">
              <a:spcAft>
                <a:spcPts val="400"/>
              </a:spcAft>
              <a:buNone/>
            </a:pPr>
            <a:r>
              <a:rPr lang="en-US" sz="1700" b="1" dirty="0">
                <a:solidFill>
                  <a:srgbClr val="0B3C49"/>
                </a:solidFill>
              </a:rPr>
              <a:t>6  Appoint one independent reviewer</a:t>
            </a:r>
            <a:endParaRPr lang="en-US" sz="1700" dirty="0"/>
          </a:p>
          <a:p>
            <a:pPr marL="0" indent="0">
              <a:spcAft>
                <a:spcPts val="400"/>
              </a:spcAft>
              <a:buNone/>
            </a:pPr>
            <a:r>
              <a:rPr lang="en-US" sz="1400" dirty="0">
                <a:solidFill>
                  <a:srgbClr val="1B2A2F"/>
                </a:solidFill>
              </a:rPr>
              <a:t>Every gate and grade was self-run (GOV-10). A few hours.</a:t>
            </a:r>
            <a:endParaRPr lang="en-US" sz="17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9326880" y="-1097280"/>
            <a:ext cx="3840480" cy="3840480"/>
          </a:xfrm>
          <a:prstGeom prst="ellipse">
            <a:avLst/>
          </a:prstGeom>
          <a:solidFill>
            <a:srgbClr val="134D5C"/>
          </a:solidFill>
          <a:ln/>
        </p:spPr>
        <p:txBody>
          <a:bodyPr/>
          <a:p/>
        </p:txBody>
      </p:sp>
      <p:sp>
        <p:nvSpPr>
          <p:cNvPr id="3" name="Text 1"/>
          <p:cNvSpPr txBox="1"/>
          <p:nvPr/>
        </p:nvSpPr>
        <p:spPr>
          <a:xfrm>
            <a:off x="731520" y="1828800"/>
            <a:ext cx="8229600" cy="1097280"/>
          </a:xfrm>
          <a:prstGeom prst="rect">
            <a:avLst/>
          </a:prstGeom>
          <a:noFill/>
          <a:ln/>
        </p:spPr>
        <p:txBody>
          <a:bodyPr wrap="square" lIns="0" tIns="0" rIns="0" bIns="0" rtlCol="0" anchor="ctr"/>
          <a:lstStyle/>
          <a:p>
            <a:pPr marL="0" indent="0">
              <a:buNone/>
            </a:pPr>
            <a:r>
              <a:rPr lang="en-US" sz="4800" b="1" dirty="0">
                <a:solidFill>
                  <a:srgbClr val="FFFFFF"/>
                </a:solidFill>
              </a:rPr>
              <a:t>Thank you</a:t>
            </a:r>
            <a:endParaRPr lang="en-US" sz="4800" dirty="0"/>
          </a:p>
        </p:txBody>
      </p:sp>
      <p:sp>
        <p:nvSpPr>
          <p:cNvPr id="4" name="Text 2"/>
          <p:cNvSpPr txBox="1"/>
          <p:nvPr/>
        </p:nvSpPr>
        <p:spPr>
          <a:xfrm>
            <a:off x="731520" y="2926080"/>
            <a:ext cx="8229600" cy="640080"/>
          </a:xfrm>
          <a:prstGeom prst="rect">
            <a:avLst/>
          </a:prstGeom>
          <a:noFill/>
          <a:ln/>
        </p:spPr>
        <p:txBody>
          <a:bodyPr wrap="square" lIns="0" tIns="0" rIns="0" bIns="0" rtlCol="0" anchor="ctr"/>
          <a:lstStyle/>
          <a:p>
            <a:pPr marL="0" indent="0">
              <a:buNone/>
            </a:pPr>
            <a:r>
              <a:rPr lang="en-US" sz="2200" dirty="0">
                <a:solidFill>
                  <a:srgbClr val="F2A541"/>
                </a:solidFill>
              </a:rPr>
              <a:t>Questions, and the six asks</a:t>
            </a:r>
            <a:endParaRPr lang="en-US" sz="2200" dirty="0"/>
          </a:p>
        </p:txBody>
      </p:sp>
      <p:sp>
        <p:nvSpPr>
          <p:cNvPr id="5" name="Text 3"/>
          <p:cNvSpPr txBox="1"/>
          <p:nvPr/>
        </p:nvSpPr>
        <p:spPr>
          <a:xfrm>
            <a:off x="731520" y="3931920"/>
            <a:ext cx="10058400" cy="731520"/>
          </a:xfrm>
          <a:prstGeom prst="rect">
            <a:avLst/>
          </a:prstGeom>
          <a:noFill/>
          <a:ln/>
        </p:spPr>
        <p:txBody>
          <a:bodyPr wrap="square" lIns="0" tIns="0" rIns="0" bIns="0" rtlCol="0" anchor="t"/>
          <a:lstStyle/>
          <a:p>
            <a:pPr marL="0" indent="0">
              <a:buNone/>
            </a:pPr>
            <a:r>
              <a:rPr lang="en-US" sz="1600" dirty="0">
                <a:solidFill>
                  <a:srgbClr val="CFE3E7"/>
                </a:solidFill>
              </a:rPr>
              <a:t>Team Delta: Dinesh Naik (presenter), Hardik Trivedi, Nachiket Bordekar, Rama Vedula, Sudhir Kulkarni</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txBody>
          <a:bodyPr/>
          <a:p/>
        </p:txBody>
      </p:sp>
      <p:sp>
        <p:nvSpPr>
          <p:cNvPr id="3" name="Text 1"/>
          <p:cNvSpPr txBox="1"/>
          <p:nvPr/>
        </p:nvSpPr>
        <p:spPr>
          <a:xfrm>
            <a:off x="731520" y="1920240"/>
            <a:ext cx="2011680" cy="2011680"/>
          </a:xfrm>
          <a:prstGeom prst="rect">
            <a:avLst/>
          </a:prstGeom>
          <a:noFill/>
          <a:ln/>
        </p:spPr>
        <p:txBody>
          <a:bodyPr wrap="square" lIns="0" tIns="0" rIns="0" bIns="0" rtlCol="0" anchor="ctr"/>
          <a:lstStyle/>
          <a:p>
            <a:pPr marL="0" indent="0" algn="ctr">
              <a:buNone/>
            </a:pPr>
            <a:r>
              <a:rPr lang="en-US" sz="6000" b="1" dirty="0">
                <a:solidFill>
                  <a:srgbClr val="0B3C49"/>
                </a:solidFill>
              </a:rPr>
              <a:t>A</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marL="0" indent="0">
              <a:buNone/>
            </a:pPr>
            <a:r>
              <a:rPr lang="en-US" sz="4000" b="1" dirty="0">
                <a:solidFill>
                  <a:srgbClr val="FFFFFF"/>
                </a:solidFill>
              </a:rPr>
              <a:t>Appendix</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marL="0" indent="0">
              <a:buNone/>
            </a:pPr>
            <a:r>
              <a:rPr lang="en-US" sz="2000" dirty="0">
                <a:solidFill>
                  <a:srgbClr val="CFE3E7"/>
                </a:solidFill>
              </a:rPr>
              <a:t>Detail for questions</a:t>
            </a:r>
            <a:endParaRPr lang="en-US" sz="2000" dirty="0"/>
          </a:p>
        </p:txBody>
      </p:sp>
      <p:sp>
        <p:nvSpPr>
          <p:cNvPr id="6" name="Shape 4"/>
          <p:cNvSpPr/>
          <p:nvPr/>
        </p:nvSpPr>
        <p:spPr>
          <a:xfrm>
            <a:off x="9692640" y="4754880"/>
            <a:ext cx="3291840" cy="3291840"/>
          </a:xfrm>
          <a:prstGeom prst="ellipse">
            <a:avLst/>
          </a:prstGeom>
          <a:solidFill>
            <a:srgbClr val="134D5C"/>
          </a:solidFill>
          <a:ln/>
        </p:spPr>
        <p:txBody>
          <a:bodyPr/>
          <a:p/>
        </p:txBody>
      </p:sp>
      <p:sp>
        <p:nvSpPr>
          <p:cNvPr id="7" name="Shape 5"/>
          <p:cNvSpPr/>
          <p:nvPr/>
        </p:nvSpPr>
        <p:spPr>
          <a:xfrm>
            <a:off x="8869680" y="5760720"/>
            <a:ext cx="1463040" cy="1463040"/>
          </a:xfrm>
          <a:prstGeom prst="ellipse">
            <a:avLst/>
          </a:prstGeom>
          <a:solidFill>
            <a:srgbClr val="1F7A8C">
              <a:alpha val="60000"/>
            </a:srgbClr>
          </a:solidFill>
          <a:ln/>
        </p:spPr>
        <p:txBody>
          <a:body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APPENDIX</a:t>
            </a:r>
            <a:endParaRPr lang="en-US" sz="1100" dirty="0"/>
          </a:p>
        </p:txBody>
      </p:sp>
      <p:sp>
        <p:nvSpPr>
          <p:cNvPr id="3" name="Text 0"/>
          <p:cNvSpPr>
            <a:spLocks noGrp="1"/>
          </p:cNvSpPr>
          <p:nvPr>
            <p:ph type="title" idx="100" hasCustomPrompt="1"/>
          </p:nvPr>
        </p:nvSpPr>
        <p:spPr>
          <a:xfrm>
            <a:off x="457200" y="329184"/>
            <a:ext cx="10607040" cy="548640"/>
          </a:xfrm>
          <a:prstGeom prst="rect">
            <a:avLst/>
          </a:prstGeom>
          <a:noFill/>
          <a:ln/>
        </p:spPr>
        <p:txBody>
          <a:bodyPr wrap="square" lIns="0" tIns="0" rIns="0" bIns="0" rtlCol="0" anchor="ctr"/>
          <a:lstStyle/>
          <a:p>
            <a:pPr marL="0" indent="0" algn="l">
              <a:buNone/>
            </a:pPr>
            <a:r>
              <a:rPr lang="en-US" sz="2500" b="1" dirty="0">
                <a:solidFill>
                  <a:schemeClr val="tx2"/>
                </a:solidFill>
              </a:rPr>
              <a:t>One AI summary request, before and after</a:t>
            </a:r>
            <a:endParaRPr lang="en-US" sz="2500" dirty="0"/>
          </a:p>
        </p:txBody>
      </p:sp>
      <p:sp>
        <p:nvSpPr>
          <p:cNvPr id="5" name="04-ai-request-path-v1-vs-v2:l1"/>
          <p:cNvSpPr txBox="1"/>
          <p:nvPr/>
        </p:nvSpPr>
        <p:spPr>
          <a:xfrm>
            <a:off x="320254" y="1040130"/>
            <a:ext cx="11548443" cy="1320165"/>
          </a:xfrm>
          <a:prstGeom prst="roundRect">
            <a:avLst>
              <a:gd name="adj" fmla="val 2078"/>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Repo 1.0</a:t>
            </a:r>
            <a:endParaRPr lang="en-US" sz="1160" dirty="0"/>
          </a:p>
        </p:txBody>
      </p:sp>
      <p:sp>
        <p:nvSpPr>
          <p:cNvPr id="6" name="04-ai-request-path-v1-vs-v2:a0"/>
          <p:cNvSpPr txBox="1"/>
          <p:nvPr/>
        </p:nvSpPr>
        <p:spPr>
          <a:xfrm>
            <a:off x="503563"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160" b="1" dirty="0">
                <a:solidFill>
                  <a:srgbClr val="7B241C"/>
                </a:solidFill>
                <a:latin typeface="Calibri" pitchFamily="34" charset="0"/>
                <a:ea typeface="Calibri" pitchFamily="34" charset="-122"/>
                <a:cs typeface="Calibri" pitchFamily="34" charset="-120"/>
              </a:rPr>
              <a:t>Request</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no identity needed</a:t>
            </a:r>
            <a:endParaRPr lang="en-US" sz="1160" dirty="0"/>
          </a:p>
        </p:txBody>
      </p:sp>
      <p:sp>
        <p:nvSpPr>
          <p:cNvPr id="7" name="04-ai-request-path-v1-vs-v2:a1"/>
          <p:cNvSpPr txBox="1"/>
          <p:nvPr/>
        </p:nvSpPr>
        <p:spPr>
          <a:xfrm>
            <a:off x="2758259"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160" b="1" dirty="0">
                <a:solidFill>
                  <a:srgbClr val="7B241C"/>
                </a:solidFill>
                <a:latin typeface="Calibri" pitchFamily="34" charset="0"/>
                <a:ea typeface="Calibri" pitchFamily="34" charset="-122"/>
                <a:cs typeface="Calibri" pitchFamily="34" charset="-120"/>
              </a:rPr>
              <a:t>Summary</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echo of the first column</a:t>
            </a:r>
            <a:endParaRPr lang="en-US" sz="1160" dirty="0"/>
          </a:p>
        </p:txBody>
      </p:sp>
      <p:sp>
        <p:nvSpPr>
          <p:cNvPr id="8" name="04-ai-request-path-v1-vs-v2:a2"/>
          <p:cNvSpPr txBox="1"/>
          <p:nvPr/>
        </p:nvSpPr>
        <p:spPr>
          <a:xfrm>
            <a:off x="5012955"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160" b="1" dirty="0">
                <a:solidFill>
                  <a:srgbClr val="7B241C"/>
                </a:solidFill>
                <a:latin typeface="Calibri" pitchFamily="34" charset="0"/>
                <a:ea typeface="Calibri" pitchFamily="34" charset="-122"/>
                <a:cs typeface="Calibri" pitchFamily="34" charset="-120"/>
              </a:rPr>
              <a:t>Guardrail</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not_enforced</a:t>
            </a:r>
            <a:endParaRPr lang="en-US" sz="1160" dirty="0"/>
          </a:p>
        </p:txBody>
      </p:sp>
      <p:sp>
        <p:nvSpPr>
          <p:cNvPr id="9" name="04-ai-request-path-v1-vs-v2:a3"/>
          <p:cNvSpPr txBox="1"/>
          <p:nvPr/>
        </p:nvSpPr>
        <p:spPr>
          <a:xfrm>
            <a:off x="7267651"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160" b="1" dirty="0">
                <a:solidFill>
                  <a:srgbClr val="7B241C"/>
                </a:solidFill>
                <a:latin typeface="Calibri" pitchFamily="34" charset="0"/>
                <a:ea typeface="Calibri" pitchFamily="34" charset="-122"/>
                <a:cs typeface="Calibri" pitchFamily="34" charset="-120"/>
              </a:rPr>
              <a:t>Audit line</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no actor, no correlation</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id</a:t>
            </a:r>
            <a:endParaRPr lang="en-US" sz="1160" dirty="0"/>
          </a:p>
        </p:txBody>
      </p:sp>
      <p:sp>
        <p:nvSpPr>
          <p:cNvPr id="10" name="04-ai-request-path-v1-vs-v2:a4"/>
          <p:cNvSpPr txBox="1"/>
          <p:nvPr/>
        </p:nvSpPr>
        <p:spPr>
          <a:xfrm>
            <a:off x="9522347"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160" b="1" dirty="0">
                <a:solidFill>
                  <a:srgbClr val="7B241C"/>
                </a:solidFill>
                <a:latin typeface="Calibri" pitchFamily="34" charset="0"/>
                <a:ea typeface="Calibri" pitchFamily="34" charset="-122"/>
                <a:cs typeface="Calibri" pitchFamily="34" charset="-120"/>
              </a:rPr>
              <a:t>Response used</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no approval step</a:t>
            </a:r>
            <a:endParaRPr lang="en-US" sz="1160" dirty="0"/>
          </a:p>
        </p:txBody>
      </p:sp>
      <p:sp>
        <p:nvSpPr>
          <p:cNvPr id="11" name="04-ai-request-path-v1-vs-v2:l2"/>
          <p:cNvSpPr txBox="1"/>
          <p:nvPr/>
        </p:nvSpPr>
        <p:spPr>
          <a:xfrm>
            <a:off x="320254" y="2480310"/>
            <a:ext cx="11548443" cy="4160520"/>
          </a:xfrm>
          <a:prstGeom prst="roundRect">
            <a:avLst>
              <a:gd name="adj" fmla="val 659"/>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Repo 2.0</a:t>
            </a:r>
            <a:endParaRPr lang="en-US" sz="1160" dirty="0"/>
          </a:p>
        </p:txBody>
      </p:sp>
      <p:sp>
        <p:nvSpPr>
          <p:cNvPr id="12" name="04-ai-request-path-v1-vs-v2:b0"/>
          <p:cNvSpPr txBox="1"/>
          <p:nvPr/>
        </p:nvSpPr>
        <p:spPr>
          <a:xfrm>
            <a:off x="503563"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Request</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with a bearer token</a:t>
            </a:r>
            <a:endParaRPr lang="en-US" sz="1160" dirty="0"/>
          </a:p>
        </p:txBody>
      </p:sp>
      <p:sp>
        <p:nvSpPr>
          <p:cNvPr id="13" name="04-ai-request-path-v1-vs-v2:b1"/>
          <p:cNvSpPr txBox="1"/>
          <p:nvPr/>
        </p:nvSpPr>
        <p:spPr>
          <a:xfrm>
            <a:off x="2758259"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Verify token</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else 401</a:t>
            </a:r>
            <a:endParaRPr lang="en-US" sz="1160" dirty="0"/>
          </a:p>
        </p:txBody>
      </p:sp>
      <p:sp>
        <p:nvSpPr>
          <p:cNvPr id="14" name="04-ai-request-path-v1-vs-v2:b2"/>
          <p:cNvSpPr txBox="1"/>
          <p:nvPr/>
        </p:nvSpPr>
        <p:spPr>
          <a:xfrm>
            <a:off x="5012955"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Policy check</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persona, entity,</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purpose; else 403</a:t>
            </a:r>
            <a:endParaRPr lang="en-US" sz="1160" dirty="0"/>
          </a:p>
        </p:txBody>
      </p:sp>
      <p:sp>
        <p:nvSpPr>
          <p:cNvPr id="15" name="04-ai-request-path-v1-vs-v2:b3"/>
          <p:cNvSpPr txBox="1"/>
          <p:nvPr/>
        </p:nvSpPr>
        <p:spPr>
          <a:xfrm>
            <a:off x="7267651"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Key pattern</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else 422</a:t>
            </a:r>
            <a:endParaRPr lang="en-US" sz="1160" dirty="0"/>
          </a:p>
        </p:txBody>
      </p:sp>
      <p:sp>
        <p:nvSpPr>
          <p:cNvPr id="16" name="04-ai-request-path-v1-vs-v2:b4"/>
          <p:cNvSpPr txBox="1"/>
          <p:nvPr/>
        </p:nvSpPr>
        <p:spPr>
          <a:xfrm>
            <a:off x="9522347"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Rate limit</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else 429</a:t>
            </a:r>
            <a:endParaRPr lang="en-US" sz="1160" dirty="0"/>
          </a:p>
        </p:txBody>
      </p:sp>
      <p:sp>
        <p:nvSpPr>
          <p:cNvPr id="17" name="04-ai-request-path-v1-vs-v2:c0"/>
          <p:cNvSpPr txBox="1"/>
          <p:nvPr/>
        </p:nvSpPr>
        <p:spPr>
          <a:xfrm>
            <a:off x="9522347"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Build context</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allowed fields only,</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text sanitised</a:t>
            </a:r>
            <a:endParaRPr lang="en-US" sz="1160" dirty="0"/>
          </a:p>
        </p:txBody>
      </p:sp>
      <p:sp>
        <p:nvSpPr>
          <p:cNvPr id="18" name="04-ai-request-path-v1-vs-v2:c1"/>
          <p:cNvSpPr txBox="1"/>
          <p:nvPr/>
        </p:nvSpPr>
        <p:spPr>
          <a:xfrm>
            <a:off x="7267651"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Producer</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deterministic by default</a:t>
            </a:r>
            <a:endParaRPr lang="en-US" sz="1160" dirty="0"/>
          </a:p>
        </p:txBody>
      </p:sp>
      <p:sp>
        <p:nvSpPr>
          <p:cNvPr id="19" name="04-ai-request-path-v1-vs-v2:c2"/>
          <p:cNvSpPr txBox="1"/>
          <p:nvPr/>
        </p:nvSpPr>
        <p:spPr>
          <a:xfrm>
            <a:off x="5012955"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Check output</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schema, leaks,</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confidence</a:t>
            </a:r>
            <a:endParaRPr lang="en-US" sz="1160" dirty="0"/>
          </a:p>
        </p:txBody>
      </p:sp>
      <p:sp>
        <p:nvSpPr>
          <p:cNvPr id="20" name="04-ai-request-path-v1-vs-v2:c3"/>
          <p:cNvSpPr txBox="1"/>
          <p:nvPr/>
        </p:nvSpPr>
        <p:spPr>
          <a:xfrm>
            <a:off x="2758259"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Fallback, then abstain</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never an invalid answer</a:t>
            </a:r>
            <a:endParaRPr lang="en-US" sz="1160" dirty="0"/>
          </a:p>
        </p:txBody>
      </p:sp>
      <p:sp>
        <p:nvSpPr>
          <p:cNvPr id="21" name="04-ai-request-path-v1-vs-v2:c4"/>
          <p:cNvSpPr txBox="1"/>
          <p:nvPr/>
        </p:nvSpPr>
        <p:spPr>
          <a:xfrm>
            <a:off x="503563"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Register suggestion</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human approval required</a:t>
            </a:r>
            <a:endParaRPr lang="en-US" sz="1160" dirty="0"/>
          </a:p>
        </p:txBody>
      </p:sp>
      <p:sp>
        <p:nvSpPr>
          <p:cNvPr id="22" name="04-ai-request-path-v1-vs-v2:d0"/>
          <p:cNvSpPr txBox="1"/>
          <p:nvPr/>
        </p:nvSpPr>
        <p:spPr>
          <a:xfrm>
            <a:off x="503563" y="5320665"/>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Audit event</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hash-chained</a:t>
            </a:r>
            <a:endParaRPr lang="en-US" sz="1160" dirty="0"/>
          </a:p>
        </p:txBody>
      </p:sp>
      <p:sp>
        <p:nvSpPr>
          <p:cNvPr id="23" name="04-ai-request-path-v1-vs-v2:d1"/>
          <p:cNvSpPr txBox="1"/>
          <p:nvPr/>
        </p:nvSpPr>
        <p:spPr>
          <a:xfrm>
            <a:off x="2758259" y="5320665"/>
            <a:ext cx="2071387" cy="880110"/>
          </a:xfrm>
          <a:prstGeom prst="roundRect">
            <a:avLst>
              <a:gd name="adj" fmla="val 6234"/>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160" b="1" dirty="0">
                <a:solidFill>
                  <a:srgbClr val="1E5631"/>
                </a:solidFill>
                <a:latin typeface="Calibri" pitchFamily="34" charset="0"/>
                <a:ea typeface="Calibri" pitchFamily="34" charset="-122"/>
                <a:cs typeface="Calibri" pitchFamily="34" charset="-120"/>
              </a:rPr>
              <a:t>Person decides</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approve or reject, once</a:t>
            </a:r>
            <a:endParaRPr lang="en-US" sz="1160" dirty="0"/>
          </a:p>
        </p:txBody>
      </p:sp>
      <p:sp>
        <p:nvSpPr>
          <p:cNvPr id="24" name="04-ai-request-path-v1-vs-v2:d2"/>
          <p:cNvSpPr txBox="1"/>
          <p:nvPr/>
        </p:nvSpPr>
        <p:spPr>
          <a:xfrm>
            <a:off x="5012955" y="5320665"/>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A second decision</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refused (409)</a:t>
            </a:r>
            <a:endParaRPr lang="en-US" sz="1160" dirty="0"/>
          </a:p>
        </p:txBody>
      </p:sp>
      <p:sp>
        <p:nvSpPr>
          <p:cNvPr id="25" name="04-ai-request-path-v1-vs-v2:d3"/>
          <p:cNvSpPr txBox="1"/>
          <p:nvPr/>
        </p:nvSpPr>
        <p:spPr>
          <a:xfrm>
            <a:off x="7267651" y="5320665"/>
            <a:ext cx="4326084" cy="880110"/>
          </a:xfrm>
          <a:prstGeom prst="roundRect">
            <a:avLst>
              <a:gd name="adj" fmla="val 6234"/>
            </a:avLst>
          </a:prstGeom>
          <a:solidFill>
            <a:srgbClr val="FFFFFF"/>
          </a:solidFill>
          <a:ln/>
        </p:spPr>
        <p:txBody>
          <a:bodyPr wrap="square" lIns="25400" tIns="50800" rIns="50800" bIns="25400" rtlCol="0" anchor="ctr"/>
          <a:lstStyle/>
          <a:p>
            <a:pPr marL="0" indent="0" algn="l">
              <a:buNone/>
            </a:pPr>
            <a:r>
              <a:rPr lang="en-US" sz="1090" dirty="0">
                <a:solidFill>
                  <a:srgbClr val="41545A"/>
                </a:solidFill>
                <a:latin typeface="Calibri" pitchFamily="34" charset="0"/>
                <a:ea typeface="Calibri" pitchFamily="34" charset="-122"/>
                <a:cs typeface="Calibri" pitchFamily="34" charset="-120"/>
              </a:rPr>
              <a:t>Every step leaves evidence</a:t>
            </a:r>
            <a:endParaRPr lang="en-US" sz="1090" dirty="0"/>
          </a:p>
          <a:p>
            <a:pPr marL="0" indent="0" algn="l">
              <a:buNone/>
            </a:pPr>
            <a:r>
              <a:rPr lang="en-US" sz="1090" dirty="0">
                <a:solidFill>
                  <a:srgbClr val="41545A"/>
                </a:solidFill>
                <a:latin typeface="Calibri" pitchFamily="34" charset="0"/>
                <a:ea typeface="Calibri" pitchFamily="34" charset="-122"/>
                <a:cs typeface="Calibri" pitchFamily="34" charset="-120"/>
              </a:rPr>
              <a:t>who asked, for which purpose, which data, which prompt</a:t>
            </a:r>
            <a:endParaRPr lang="en-US" sz="1090" dirty="0"/>
          </a:p>
          <a:p>
            <a:pPr marL="0" indent="0" algn="l">
              <a:buNone/>
            </a:pPr>
            <a:r>
              <a:rPr lang="en-US" sz="1090" dirty="0">
                <a:solidFill>
                  <a:srgbClr val="41545A"/>
                </a:solidFill>
                <a:latin typeface="Calibri" pitchFamily="34" charset="0"/>
                <a:ea typeface="Calibri" pitchFamily="34" charset="-122"/>
                <a:cs typeface="Calibri" pitchFamily="34" charset="-120"/>
              </a:rPr>
              <a:t>version, what came back</a:t>
            </a:r>
            <a:endParaRPr lang="en-US" sz="1090" dirty="0"/>
          </a:p>
        </p:txBody>
      </p:sp>
      <p:sp>
        <p:nvSpPr>
          <p:cNvPr id="26" name="04-ai-request-path-v1-vs-v2:edge:a0-&gt;a1"/>
          <p:cNvSpPr/>
          <p:nvPr/>
        </p:nvSpPr>
        <p:spPr>
          <a:xfrm>
            <a:off x="2574950" y="1760220"/>
            <a:ext cx="183309" cy="914"/>
          </a:xfrm>
          <a:prstGeom prst="line">
            <a:avLst/>
          </a:prstGeom>
          <a:noFill/>
          <a:ln w="19050">
            <a:solidFill>
              <a:srgbClr val="41545A"/>
            </a:solidFill>
            <a:prstDash val="solid"/>
            <a:tailEnd type="triangle"/>
          </a:ln>
        </p:spPr>
        <p:txBody>
          <a:bodyPr/>
          <a:p/>
        </p:txBody>
      </p:sp>
      <p:sp>
        <p:nvSpPr>
          <p:cNvPr id="27" name="04-ai-request-path-v1-vs-v2:edge:a1-&gt;a2"/>
          <p:cNvSpPr/>
          <p:nvPr/>
        </p:nvSpPr>
        <p:spPr>
          <a:xfrm>
            <a:off x="4829646" y="1760220"/>
            <a:ext cx="183309" cy="914"/>
          </a:xfrm>
          <a:prstGeom prst="line">
            <a:avLst/>
          </a:prstGeom>
          <a:noFill/>
          <a:ln w="19050">
            <a:solidFill>
              <a:srgbClr val="41545A"/>
            </a:solidFill>
            <a:prstDash val="solid"/>
            <a:tailEnd type="triangle"/>
          </a:ln>
        </p:spPr>
        <p:txBody>
          <a:bodyPr/>
          <a:p/>
        </p:txBody>
      </p:sp>
      <p:sp>
        <p:nvSpPr>
          <p:cNvPr id="28" name="04-ai-request-path-v1-vs-v2:edge:a2-&gt;a3"/>
          <p:cNvSpPr/>
          <p:nvPr/>
        </p:nvSpPr>
        <p:spPr>
          <a:xfrm>
            <a:off x="7084343" y="1760220"/>
            <a:ext cx="183309" cy="914"/>
          </a:xfrm>
          <a:prstGeom prst="line">
            <a:avLst/>
          </a:prstGeom>
          <a:noFill/>
          <a:ln w="19050">
            <a:solidFill>
              <a:srgbClr val="41545A"/>
            </a:solidFill>
            <a:prstDash val="solid"/>
            <a:tailEnd type="triangle"/>
          </a:ln>
        </p:spPr>
        <p:txBody>
          <a:bodyPr/>
          <a:p/>
        </p:txBody>
      </p:sp>
      <p:sp>
        <p:nvSpPr>
          <p:cNvPr id="29" name="04-ai-request-path-v1-vs-v2:edge:a3-&gt;a4"/>
          <p:cNvSpPr/>
          <p:nvPr/>
        </p:nvSpPr>
        <p:spPr>
          <a:xfrm>
            <a:off x="9339039" y="1760220"/>
            <a:ext cx="183309" cy="914"/>
          </a:xfrm>
          <a:prstGeom prst="line">
            <a:avLst/>
          </a:prstGeom>
          <a:noFill/>
          <a:ln w="19050">
            <a:solidFill>
              <a:srgbClr val="41545A"/>
            </a:solidFill>
            <a:prstDash val="solid"/>
            <a:tailEnd type="triangle"/>
          </a:ln>
        </p:spPr>
        <p:txBody>
          <a:bodyPr/>
          <a:p/>
        </p:txBody>
      </p:sp>
      <p:sp>
        <p:nvSpPr>
          <p:cNvPr id="30" name="04-ai-request-path-v1-vs-v2:edge:b0-&gt;b1"/>
          <p:cNvSpPr/>
          <p:nvPr/>
        </p:nvSpPr>
        <p:spPr>
          <a:xfrm>
            <a:off x="2574950" y="3200400"/>
            <a:ext cx="183309" cy="914"/>
          </a:xfrm>
          <a:prstGeom prst="line">
            <a:avLst/>
          </a:prstGeom>
          <a:noFill/>
          <a:ln w="19050">
            <a:solidFill>
              <a:srgbClr val="41545A"/>
            </a:solidFill>
            <a:prstDash val="solid"/>
            <a:tailEnd type="triangle"/>
          </a:ln>
        </p:spPr>
        <p:txBody>
          <a:bodyPr/>
          <a:p/>
        </p:txBody>
      </p:sp>
      <p:sp>
        <p:nvSpPr>
          <p:cNvPr id="31" name="04-ai-request-path-v1-vs-v2:edge:b1-&gt;b2"/>
          <p:cNvSpPr/>
          <p:nvPr/>
        </p:nvSpPr>
        <p:spPr>
          <a:xfrm>
            <a:off x="4829646" y="3200400"/>
            <a:ext cx="183309" cy="914"/>
          </a:xfrm>
          <a:prstGeom prst="line">
            <a:avLst/>
          </a:prstGeom>
          <a:noFill/>
          <a:ln w="19050">
            <a:solidFill>
              <a:srgbClr val="41545A"/>
            </a:solidFill>
            <a:prstDash val="solid"/>
            <a:tailEnd type="triangle"/>
          </a:ln>
        </p:spPr>
        <p:txBody>
          <a:bodyPr/>
          <a:p/>
        </p:txBody>
      </p:sp>
      <p:sp>
        <p:nvSpPr>
          <p:cNvPr id="32" name="04-ai-request-path-v1-vs-v2:edge:b2-&gt;b3"/>
          <p:cNvSpPr/>
          <p:nvPr/>
        </p:nvSpPr>
        <p:spPr>
          <a:xfrm>
            <a:off x="7084343" y="3200400"/>
            <a:ext cx="183309" cy="914"/>
          </a:xfrm>
          <a:prstGeom prst="line">
            <a:avLst/>
          </a:prstGeom>
          <a:noFill/>
          <a:ln w="19050">
            <a:solidFill>
              <a:srgbClr val="41545A"/>
            </a:solidFill>
            <a:prstDash val="solid"/>
            <a:tailEnd type="triangle"/>
          </a:ln>
        </p:spPr>
        <p:txBody>
          <a:bodyPr/>
          <a:p/>
        </p:txBody>
      </p:sp>
      <p:sp>
        <p:nvSpPr>
          <p:cNvPr id="33" name="04-ai-request-path-v1-vs-v2:edge:b3-&gt;b4"/>
          <p:cNvSpPr/>
          <p:nvPr/>
        </p:nvSpPr>
        <p:spPr>
          <a:xfrm>
            <a:off x="9339039" y="3200400"/>
            <a:ext cx="183309" cy="914"/>
          </a:xfrm>
          <a:prstGeom prst="line">
            <a:avLst/>
          </a:prstGeom>
          <a:noFill/>
          <a:ln w="19050">
            <a:solidFill>
              <a:srgbClr val="41545A"/>
            </a:solidFill>
            <a:prstDash val="solid"/>
            <a:tailEnd type="triangle"/>
          </a:ln>
        </p:spPr>
        <p:txBody>
          <a:bodyPr/>
          <a:p/>
        </p:txBody>
      </p:sp>
      <p:sp>
        <p:nvSpPr>
          <p:cNvPr id="34" name="04-ai-request-path-v1-vs-v2:edge:c0-&gt;c1"/>
          <p:cNvSpPr/>
          <p:nvPr/>
        </p:nvSpPr>
        <p:spPr>
          <a:xfrm flipH="1">
            <a:off x="9339039" y="4440555"/>
            <a:ext cx="183309" cy="914"/>
          </a:xfrm>
          <a:prstGeom prst="line">
            <a:avLst/>
          </a:prstGeom>
          <a:noFill/>
          <a:ln w="19050">
            <a:solidFill>
              <a:srgbClr val="41545A"/>
            </a:solidFill>
            <a:prstDash val="solid"/>
            <a:tailEnd type="triangle"/>
          </a:ln>
        </p:spPr>
        <p:txBody>
          <a:bodyPr/>
          <a:p/>
        </p:txBody>
      </p:sp>
      <p:sp>
        <p:nvSpPr>
          <p:cNvPr id="35" name="04-ai-request-path-v1-vs-v2:edge:c1-&gt;c2"/>
          <p:cNvSpPr/>
          <p:nvPr/>
        </p:nvSpPr>
        <p:spPr>
          <a:xfrm flipH="1">
            <a:off x="7084343" y="4440555"/>
            <a:ext cx="183309" cy="914"/>
          </a:xfrm>
          <a:prstGeom prst="line">
            <a:avLst/>
          </a:prstGeom>
          <a:noFill/>
          <a:ln w="19050">
            <a:solidFill>
              <a:srgbClr val="41545A"/>
            </a:solidFill>
            <a:prstDash val="solid"/>
            <a:tailEnd type="triangle"/>
          </a:ln>
        </p:spPr>
        <p:txBody>
          <a:bodyPr/>
          <a:p/>
        </p:txBody>
      </p:sp>
      <p:sp>
        <p:nvSpPr>
          <p:cNvPr id="36" name="04-ai-request-path-v1-vs-v2:edge:c2-&gt;c3"/>
          <p:cNvSpPr/>
          <p:nvPr/>
        </p:nvSpPr>
        <p:spPr>
          <a:xfrm flipH="1">
            <a:off x="4829646" y="4440555"/>
            <a:ext cx="183309" cy="914"/>
          </a:xfrm>
          <a:prstGeom prst="line">
            <a:avLst/>
          </a:prstGeom>
          <a:noFill/>
          <a:ln w="19050">
            <a:solidFill>
              <a:srgbClr val="41545A"/>
            </a:solidFill>
            <a:prstDash val="solid"/>
            <a:tailEnd type="triangle"/>
          </a:ln>
        </p:spPr>
        <p:txBody>
          <a:bodyPr/>
          <a:p/>
        </p:txBody>
      </p:sp>
      <p:sp>
        <p:nvSpPr>
          <p:cNvPr id="37" name="04-ai-request-path-v1-vs-v2:edge:c3-&gt;c4"/>
          <p:cNvSpPr/>
          <p:nvPr/>
        </p:nvSpPr>
        <p:spPr>
          <a:xfrm flipH="1">
            <a:off x="2574950" y="4440555"/>
            <a:ext cx="183309" cy="914"/>
          </a:xfrm>
          <a:prstGeom prst="line">
            <a:avLst/>
          </a:prstGeom>
          <a:noFill/>
          <a:ln w="19050">
            <a:solidFill>
              <a:srgbClr val="41545A"/>
            </a:solidFill>
            <a:prstDash val="solid"/>
            <a:tailEnd type="triangle"/>
          </a:ln>
        </p:spPr>
        <p:txBody>
          <a:bodyPr/>
          <a:p/>
        </p:txBody>
      </p:sp>
      <p:sp>
        <p:nvSpPr>
          <p:cNvPr id="38" name="04-ai-request-path-v1-vs-v2:edge:b4-&gt;c0"/>
          <p:cNvSpPr/>
          <p:nvPr/>
        </p:nvSpPr>
        <p:spPr>
          <a:xfrm>
            <a:off x="10558041" y="3600450"/>
            <a:ext cx="914" cy="400050"/>
          </a:xfrm>
          <a:prstGeom prst="line">
            <a:avLst/>
          </a:prstGeom>
          <a:noFill/>
          <a:ln w="19050">
            <a:solidFill>
              <a:srgbClr val="41545A"/>
            </a:solidFill>
            <a:prstDash val="solid"/>
            <a:tailEnd type="triangle"/>
          </a:ln>
        </p:spPr>
        <p:txBody>
          <a:bodyPr/>
          <a:p/>
        </p:txBody>
      </p:sp>
      <p:sp>
        <p:nvSpPr>
          <p:cNvPr id="39" name="04-ai-request-path-v1-vs-v2:edge:c4-&gt;d0"/>
          <p:cNvSpPr/>
          <p:nvPr/>
        </p:nvSpPr>
        <p:spPr>
          <a:xfrm>
            <a:off x="1539257" y="4880610"/>
            <a:ext cx="914" cy="440055"/>
          </a:xfrm>
          <a:prstGeom prst="line">
            <a:avLst/>
          </a:prstGeom>
          <a:noFill/>
          <a:ln w="19050">
            <a:solidFill>
              <a:srgbClr val="41545A"/>
            </a:solidFill>
            <a:prstDash val="solid"/>
            <a:tailEnd type="triangle"/>
          </a:ln>
        </p:spPr>
        <p:txBody>
          <a:bodyPr/>
          <a:p/>
        </p:txBody>
      </p:sp>
      <p:sp>
        <p:nvSpPr>
          <p:cNvPr id="40" name="04-ai-request-path-v1-vs-v2:edge:d0-&gt;d1"/>
          <p:cNvSpPr/>
          <p:nvPr/>
        </p:nvSpPr>
        <p:spPr>
          <a:xfrm>
            <a:off x="2574950" y="5760720"/>
            <a:ext cx="183309" cy="914"/>
          </a:xfrm>
          <a:prstGeom prst="line">
            <a:avLst/>
          </a:prstGeom>
          <a:noFill/>
          <a:ln w="19050">
            <a:solidFill>
              <a:srgbClr val="41545A"/>
            </a:solidFill>
            <a:prstDash val="solid"/>
            <a:tailEnd type="triangle"/>
          </a:ln>
        </p:spPr>
        <p:txBody>
          <a:bodyPr/>
          <a:p/>
        </p:txBody>
      </p:sp>
      <p:sp>
        <p:nvSpPr>
          <p:cNvPr id="41" name="04-ai-request-path-v1-vs-v2:edge:d1-&gt;d2"/>
          <p:cNvSpPr/>
          <p:nvPr/>
        </p:nvSpPr>
        <p:spPr>
          <a:xfrm>
            <a:off x="4829646" y="5760720"/>
            <a:ext cx="183309" cy="914"/>
          </a:xfrm>
          <a:prstGeom prst="line">
            <a:avLst/>
          </a:prstGeom>
          <a:noFill/>
          <a:ln w="19050">
            <a:solidFill>
              <a:srgbClr val="41545A"/>
            </a:solidFill>
            <a:prstDash val="solid"/>
            <a:tailEnd type="triangle"/>
          </a:ln>
        </p:spPr>
        <p:txBody>
          <a:bodyPr/>
          <a:p/>
        </p:txBody>
      </p:sp>
      <p:sp>
        <p:nvSpPr>
          <p:cNvPr id="4"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APPENDIX</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Engineering health moved; business KPIs did not, by design</a:t>
            </a:r>
            <a:endParaRPr lang="en-US" sz="2800" dirty="0"/>
          </a:p>
        </p:txBody>
      </p:sp>
      <p:graphicFrame>
        <p:nvGraphicFramePr>
          <p:cNvPr id="5" name="Chart 0"/>
          <p:cNvGraphicFramePr/>
          <p:nvPr/>
        </p:nvGraphicFramePr>
        <p:xfrm>
          <a:off x="457200" y="1188720"/>
          <a:ext cx="5486400" cy="4754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309360" y="1280160"/>
          <a:ext cx="5422392" cy="914400"/>
        </p:xfrm>
        <a:graphic>
          <a:graphicData uri="http://schemas.openxmlformats.org/drawingml/2006/table">
            <a:tbl>
              <a:tblPr/>
              <a:tblGrid>
                <a:gridCol w="2130552">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K1 latency p50 (ms)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fixture column</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K2 cost per event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2.2451</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2.2451</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K3 severe-event share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K4 correlation completeness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33.6%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33.6%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producer unchanged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K6 retries max</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4995</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4995</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K7 duplicate keys (raw)</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200" dirty="0">
                          <a:solidFill>
                            <a:srgbClr val="1B2A2F"/>
                          </a:solidFill>
                          <a:latin typeface="Calibri" pitchFamily="34" charset="0"/>
                          <a:ea typeface="Calibri" pitchFamily="34" charset="-122"/>
                          <a:cs typeface="Calibri" pitchFamily="34" charset="-120"/>
                        </a:rPr>
                        <a:t>quarantined downstream</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2"/>
          <p:cNvSpPr txBox="1"/>
          <p:nvPr/>
        </p:nvSpPr>
        <p:spPr>
          <a:xfrm>
            <a:off x="6309360" y="4434840"/>
            <a:ext cx="5422392" cy="548640"/>
          </a:xfrm>
          <a:prstGeom prst="rect">
            <a:avLst/>
          </a:prstGeom>
          <a:noFill/>
          <a:ln/>
        </p:spPr>
        <p:txBody>
          <a:bodyPr wrap="square" lIns="0" tIns="0" rIns="0" bIns="0" rtlCol="0" anchor="ctr"/>
          <a:lstStyle/>
          <a:p>
            <a:pPr marL="0" indent="0">
              <a:buNone/>
            </a:pPr>
            <a:r>
              <a:rPr lang="en-US" sz="1200" dirty="0">
                <a:solidFill>
                  <a:srgbClr val="5F6E71"/>
                </a:solidFill>
              </a:rPr>
              <a:t>K5 and K8 are also equal; the full table is the KPIs sheet of the evidence register.</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APPENDIX</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Earlier second-model test (Stage Q): safety held; AI-output fidelity did not</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4206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Model A (built the system)</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Model B (blind rebuild)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Scope</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Full system</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Four-behaviour subset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Evaluation cases passing every strict check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192 of 192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b="1" dirty="0">
                          <a:solidFill>
                            <a:srgbClr val="1B2A2F"/>
                          </a:solidFill>
                          <a:latin typeface="Calibri" pitchFamily="34" charset="0"/>
                          <a:ea typeface="Calibri" pitchFamily="34" charset="-122"/>
                          <a:cs typeface="Calibri" pitchFamily="34" charset="-120"/>
                        </a:rPr>
                        <a:t>8 of 192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Safety gates (schema, claims, leaks, injection, approval)</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b="1" dirty="0">
                          <a:solidFill>
                            <a:srgbClr val="1B2A2F"/>
                          </a:solidFill>
                          <a:latin typeface="Calibri" pitchFamily="34" charset="0"/>
                          <a:ea typeface="Calibri" pitchFamily="34" charset="-122"/>
                          <a:cs typeface="Calibri" pitchFamily="34" charset="-120"/>
                        </a:rPr>
                        <a:t>PASS 5 of 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300" b="1" dirty="0">
                          <a:solidFill>
                            <a:srgbClr val="1B2A2F"/>
                          </a:solidFill>
                          <a:latin typeface="Calibri" pitchFamily="34" charset="0"/>
                          <a:ea typeface="Calibri" pitchFamily="34" charset="-122"/>
                          <a:cs typeface="Calibri" pitchFamily="34" charset="-120"/>
                        </a:rPr>
                        <a:t>PASS 5 of 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Fidelity gates (abstention, recommendation class)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b="1" dirty="0">
                          <a:solidFill>
                            <a:srgbClr val="1B2A2F"/>
                          </a:solidFill>
                          <a:latin typeface="Calibri" pitchFamily="34" charset="0"/>
                          <a:ea typeface="Calibri" pitchFamily="34" charset="-122"/>
                          <a:cs typeface="Calibri" pitchFamily="34" charset="-120"/>
                        </a:rPr>
                        <a:t>PASS 2 of 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marL="0" indent="0">
                        <a:buNone/>
                      </a:pPr>
                      <a:r>
                        <a:rPr lang="en-US" sz="1300" b="1" dirty="0">
                          <a:solidFill>
                            <a:srgbClr val="1B2A2F"/>
                          </a:solidFill>
                          <a:latin typeface="Calibri" pitchFamily="34" charset="0"/>
                          <a:ea typeface="Calibri" pitchFamily="34" charset="-122"/>
                          <a:cs typeface="Calibri" pitchFamily="34" charset="-120"/>
                        </a:rPr>
                        <a:t>0 of 2 (0.875; 0.1667 vs 1.0)</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Black-box API checks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24 of 24</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21 of 24 (24 with an ai_agent token, post hoc)</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Original attacks that succeed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0 of 12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0 of 12 (3 AI-path attacks reached the AI only in a post-hoc re-run)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Audit chain valid; tampering detected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2"/>
          <p:cNvSpPr txBox="1"/>
          <p:nvPr/>
        </p:nvSpPr>
        <p:spPr>
          <a:xfrm>
            <a:off x="457200" y="5486400"/>
            <a:ext cx="11247120" cy="457200"/>
          </a:xfrm>
          <a:prstGeom prst="rect">
            <a:avLst/>
          </a:prstGeom>
          <a:noFill/>
          <a:ln/>
        </p:spPr>
        <p:txBody>
          <a:bodyPr wrap="square" lIns="0" tIns="0" rIns="0" bIns="0" rtlCol="0" anchor="ctr"/>
          <a:lstStyle/>
          <a:p>
            <a:pPr marL="0" indent="0">
              <a:buNone/>
            </a:pPr>
            <a:r>
              <a:rPr lang="en-US" sz="1200" dirty="0">
                <a:solidFill>
                  <a:srgbClr val="5F6E71"/>
                </a:solidFill>
              </a:rPr>
              <a:t>Source: docs/40-scale/model-comparison.md; evidence/40-scale/EVD-Q-06-comparison.csv. Models: claude-sonnet-5-5 (A) and claude-haiku-5-5 (B).</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APPENDIX</a:t>
            </a:r>
            <a:endParaRPr lang="en-US" sz="1100" dirty="0"/>
          </a:p>
        </p:txBody>
      </p:sp>
      <p:sp>
        <p:nvSpPr>
          <p:cNvPr id="3" name="Text 0"/>
          <p:cNvSpPr>
            <a:spLocks noGrp="1"/>
          </p:cNvSpPr>
          <p:nvPr>
            <p:ph type="title" idx="100" hasCustomPrompt="1"/>
          </p:nvPr>
        </p:nvSpPr>
        <p:spPr>
          <a:xfrm>
            <a:off x="457200" y="329184"/>
            <a:ext cx="10607040" cy="548640"/>
          </a:xfrm>
          <a:prstGeom prst="rect">
            <a:avLst/>
          </a:prstGeom>
          <a:noFill/>
          <a:ln/>
        </p:spPr>
        <p:txBody>
          <a:bodyPr wrap="square" lIns="0" tIns="0" rIns="0" bIns="0" rtlCol="0" anchor="ctr"/>
          <a:lstStyle/>
          <a:p>
            <a:pPr marL="0" indent="0" algn="l">
              <a:buNone/>
            </a:pPr>
            <a:r>
              <a:rPr lang="en-US" sz="2500" b="1" dirty="0">
                <a:solidFill>
                  <a:schemeClr val="tx2"/>
                </a:solidFill>
              </a:rPr>
              <a:t>How any claim traces to proof</a:t>
            </a:r>
            <a:endParaRPr lang="en-US" sz="2500" dirty="0"/>
          </a:p>
        </p:txBody>
      </p:sp>
      <p:sp>
        <p:nvSpPr>
          <p:cNvPr id="5" name="05-evidence-chain:r0"/>
          <p:cNvSpPr txBox="1"/>
          <p:nvPr/>
        </p:nvSpPr>
        <p:spPr>
          <a:xfrm>
            <a:off x="320254"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Claim</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in a document</a:t>
            </a:r>
            <a:endParaRPr lang="en-US" sz="1090" dirty="0"/>
          </a:p>
        </p:txBody>
      </p:sp>
      <p:sp>
        <p:nvSpPr>
          <p:cNvPr id="6" name="05-evidence-chain:r1"/>
          <p:cNvSpPr txBox="1"/>
          <p:nvPr/>
        </p:nvSpPr>
        <p:spPr>
          <a:xfrm>
            <a:off x="1997528"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Citation</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path + SHA-256</a:t>
            </a:r>
            <a:endParaRPr lang="en-US" sz="1090" dirty="0"/>
          </a:p>
        </p:txBody>
      </p:sp>
      <p:sp>
        <p:nvSpPr>
          <p:cNvPr id="7" name="05-evidence-chain:r2"/>
          <p:cNvSpPr txBox="1"/>
          <p:nvPr/>
        </p:nvSpPr>
        <p:spPr>
          <a:xfrm>
            <a:off x="3674802"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Evidence file</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evidence/&lt;stage&gt;/</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EVD-…</a:t>
            </a:r>
            <a:endParaRPr lang="en-US" sz="1090" dirty="0"/>
          </a:p>
        </p:txBody>
      </p:sp>
      <p:sp>
        <p:nvSpPr>
          <p:cNvPr id="8" name="05-evidence-chain:r3"/>
          <p:cNvSpPr txBox="1"/>
          <p:nvPr/>
        </p:nvSpPr>
        <p:spPr>
          <a:xfrm>
            <a:off x="5352076"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MANIFEST row</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step, command,</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time, operator</a:t>
            </a:r>
            <a:endParaRPr lang="en-US" sz="1090" dirty="0"/>
          </a:p>
        </p:txBody>
      </p:sp>
      <p:sp>
        <p:nvSpPr>
          <p:cNvPr id="9" name="05-evidence-chain:r4"/>
          <p:cNvSpPr txBox="1"/>
          <p:nvPr/>
        </p:nvSpPr>
        <p:spPr>
          <a:xfrm>
            <a:off x="7029350"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Evidence index</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146 rows</a:t>
            </a:r>
            <a:endParaRPr lang="en-US" sz="1090" dirty="0"/>
          </a:p>
        </p:txBody>
      </p:sp>
      <p:sp>
        <p:nvSpPr>
          <p:cNvPr id="10" name="05-evidence-chain:r5"/>
          <p:cNvSpPr txBox="1"/>
          <p:nvPr/>
        </p:nvSpPr>
        <p:spPr>
          <a:xfrm>
            <a:off x="8706624"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090" b="1" dirty="0">
                <a:solidFill>
                  <a:srgbClr val="0B3C49"/>
                </a:solidFill>
                <a:latin typeface="Calibri" pitchFamily="34" charset="0"/>
                <a:ea typeface="Calibri" pitchFamily="34" charset="-122"/>
                <a:cs typeface="Calibri" pitchFamily="34" charset="-120"/>
              </a:rPr>
              <a:t>Rubric matrix</a:t>
            </a:r>
            <a:endParaRPr lang="en-US" sz="1090" dirty="0"/>
          </a:p>
          <a:p>
            <a:pPr marL="0" indent="0" algn="ctr">
              <a:buNone/>
            </a:pPr>
            <a:r>
              <a:rPr lang="en-US" sz="1090" dirty="0">
                <a:solidFill>
                  <a:srgbClr val="0B3C49"/>
                </a:solidFill>
                <a:latin typeface="Calibri" pitchFamily="34" charset="0"/>
                <a:ea typeface="Calibri" pitchFamily="34" charset="-122"/>
                <a:cs typeface="Calibri" pitchFamily="34" charset="-120"/>
              </a:rPr>
              <a:t>36 sub-dimensions</a:t>
            </a:r>
            <a:endParaRPr lang="en-US" sz="1090" dirty="0"/>
          </a:p>
        </p:txBody>
      </p:sp>
      <p:sp>
        <p:nvSpPr>
          <p:cNvPr id="11" name="05-evidence-chain:r6"/>
          <p:cNvSpPr txBox="1"/>
          <p:nvPr/>
        </p:nvSpPr>
        <p:spPr>
          <a:xfrm>
            <a:off x="10383898" y="1280160"/>
            <a:ext cx="1466469" cy="960120"/>
          </a:xfrm>
          <a:prstGeom prst="roundRect">
            <a:avLst>
              <a:gd name="adj" fmla="val 5714"/>
            </a:avLst>
          </a:prstGeom>
          <a:solidFill>
            <a:srgbClr val="F2A541"/>
          </a:solidFill>
          <a:ln w="15875">
            <a:solidFill>
              <a:srgbClr val="C98118"/>
            </a:solidFill>
            <a:prstDash val="solid"/>
          </a:ln>
        </p:spPr>
        <p:txBody>
          <a:bodyPr wrap="square" lIns="25400" tIns="50800" rIns="50800" bIns="25400" rtlCol="0" anchor="ctr"/>
          <a:lstStyle/>
          <a:p>
            <a:pPr marL="0" indent="0" algn="ctr">
              <a:buNone/>
            </a:pPr>
            <a:r>
              <a:rPr lang="en-US" sz="1090" b="1" dirty="0">
                <a:solidFill>
                  <a:srgbClr val="1B1B1B"/>
                </a:solidFill>
                <a:latin typeface="Calibri" pitchFamily="34" charset="0"/>
                <a:ea typeface="Calibri" pitchFamily="34" charset="-122"/>
                <a:cs typeface="Calibri" pitchFamily="34" charset="-120"/>
              </a:rPr>
              <a:t>Readiness</a:t>
            </a:r>
            <a:endParaRPr lang="en-US" sz="1090" dirty="0"/>
          </a:p>
          <a:p>
            <a:pPr marL="0" indent="0" algn="ctr">
              <a:buNone/>
            </a:pPr>
            <a:r>
              <a:rPr lang="en-US" sz="1090" dirty="0">
                <a:solidFill>
                  <a:srgbClr val="1B1B1B"/>
                </a:solidFill>
                <a:latin typeface="Calibri" pitchFamily="34" charset="0"/>
                <a:ea typeface="Calibri" pitchFamily="34" charset="-122"/>
                <a:cs typeface="Calibri" pitchFamily="34" charset="-120"/>
              </a:rPr>
              <a:t>decision</a:t>
            </a:r>
            <a:endParaRPr lang="en-US" sz="1090" dirty="0"/>
          </a:p>
        </p:txBody>
      </p:sp>
      <p:sp>
        <p:nvSpPr>
          <p:cNvPr id="12" name="05-evidence-chain:ex"/>
          <p:cNvSpPr txBox="1"/>
          <p:nvPr/>
        </p:nvSpPr>
        <p:spPr>
          <a:xfrm>
            <a:off x="320254" y="2520315"/>
            <a:ext cx="11548443" cy="1800225"/>
          </a:xfrm>
          <a:prstGeom prst="roundRect">
            <a:avLst>
              <a:gd name="adj" fmla="val 1524"/>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Example: one finding, end to end</a:t>
            </a:r>
            <a:endParaRPr lang="en-US" sz="1160" dirty="0"/>
          </a:p>
        </p:txBody>
      </p:sp>
      <p:sp>
        <p:nvSpPr>
          <p:cNvPr id="13" name="05-evidence-chain:x0"/>
          <p:cNvSpPr txBox="1"/>
          <p:nvPr/>
        </p:nvSpPr>
        <p:spPr>
          <a:xfrm>
            <a:off x="503563" y="2920365"/>
            <a:ext cx="2566321" cy="1120140"/>
          </a:xfrm>
          <a:prstGeom prst="roundRect">
            <a:avLst>
              <a:gd name="adj" fmla="val 4898"/>
            </a:avLst>
          </a:prstGeom>
          <a:solidFill>
            <a:srgbClr val="FCEBEA"/>
          </a:solidFill>
          <a:ln w="15875">
            <a:solidFill>
              <a:srgbClr val="C0392B"/>
            </a:solidFill>
            <a:prstDash val="solid"/>
          </a:ln>
        </p:spPr>
        <p:txBody>
          <a:bodyPr wrap="square" lIns="25400" tIns="50800" rIns="50800" bIns="25400" rtlCol="0" anchor="ctr"/>
          <a:lstStyle/>
          <a:p>
            <a:pPr marL="0" indent="0" algn="ctr">
              <a:buNone/>
            </a:pPr>
            <a:r>
              <a:rPr lang="en-US" sz="1160" b="1" dirty="0">
                <a:solidFill>
                  <a:srgbClr val="7B241C"/>
                </a:solidFill>
                <a:latin typeface="Calibri" pitchFamily="34" charset="0"/>
                <a:ea typeface="Calibri" pitchFamily="34" charset="-122"/>
                <a:cs typeface="Calibri" pitchFamily="34" charset="-120"/>
              </a:rPr>
              <a:t>F-17 (severity S1)</a:t>
            </a:r>
            <a:endParaRPr lang="en-US" sz="1160" dirty="0"/>
          </a:p>
          <a:p>
            <a:pPr marL="0" indent="0" algn="ctr">
              <a:buNone/>
            </a:pPr>
            <a:r>
              <a:rPr lang="en-US" sz="1160" dirty="0">
                <a:solidFill>
                  <a:srgbClr val="7B241C"/>
                </a:solidFill>
                <a:latin typeface="Calibri" pitchFamily="34" charset="0"/>
                <a:ea typeface="Calibri" pitchFamily="34" charset="-122"/>
                <a:cs typeface="Calibri" pitchFamily="34" charset="-120"/>
              </a:rPr>
              <a:t>role header trusted</a:t>
            </a:r>
            <a:endParaRPr lang="en-US" sz="1160" dirty="0"/>
          </a:p>
        </p:txBody>
      </p:sp>
      <p:sp>
        <p:nvSpPr>
          <p:cNvPr id="14" name="05-evidence-chain:x1"/>
          <p:cNvSpPr txBox="1"/>
          <p:nvPr/>
        </p:nvSpPr>
        <p:spPr>
          <a:xfrm>
            <a:off x="3372343" y="2920365"/>
            <a:ext cx="2566321" cy="1120140"/>
          </a:xfrm>
          <a:prstGeom prst="roundRect">
            <a:avLst>
              <a:gd name="adj" fmla="val 4898"/>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Fix</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signed token + policy engine</a:t>
            </a:r>
            <a:endParaRPr lang="en-US" sz="1160" dirty="0"/>
          </a:p>
        </p:txBody>
      </p:sp>
      <p:sp>
        <p:nvSpPr>
          <p:cNvPr id="15" name="05-evidence-chain:x2"/>
          <p:cNvSpPr txBox="1"/>
          <p:nvPr/>
        </p:nvSpPr>
        <p:spPr>
          <a:xfrm>
            <a:off x="6241123" y="2920365"/>
            <a:ext cx="2566321" cy="1120140"/>
          </a:xfrm>
          <a:prstGeom prst="roundRect">
            <a:avLst>
              <a:gd name="adj" fmla="val 4898"/>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Tests</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unit tests; red team RT-02,</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RT-11</a:t>
            </a:r>
            <a:endParaRPr lang="en-US" sz="1160" dirty="0"/>
          </a:p>
        </p:txBody>
      </p:sp>
      <p:sp>
        <p:nvSpPr>
          <p:cNvPr id="16" name="05-evidence-chain:x3"/>
          <p:cNvSpPr txBox="1"/>
          <p:nvPr/>
        </p:nvSpPr>
        <p:spPr>
          <a:xfrm>
            <a:off x="9109903" y="2920365"/>
            <a:ext cx="2566321"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160" b="1" dirty="0">
                <a:solidFill>
                  <a:srgbClr val="1E5631"/>
                </a:solidFill>
                <a:latin typeface="Calibri" pitchFamily="34" charset="0"/>
                <a:ea typeface="Calibri" pitchFamily="34" charset="-122"/>
                <a:cs typeface="Calibri" pitchFamily="34" charset="-120"/>
              </a:rPr>
              <a:t>Proof</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baseline answered 200; now 401</a:t>
            </a:r>
            <a:endParaRPr lang="en-US" sz="1160" dirty="0"/>
          </a:p>
        </p:txBody>
      </p:sp>
      <p:sp>
        <p:nvSpPr>
          <p:cNvPr id="17" name="05-evidence-chain:ck"/>
          <p:cNvSpPr txBox="1"/>
          <p:nvPr/>
        </p:nvSpPr>
        <p:spPr>
          <a:xfrm>
            <a:off x="320254" y="4480560"/>
            <a:ext cx="11548443" cy="2160270"/>
          </a:xfrm>
          <a:prstGeom prst="roundRect">
            <a:avLst>
              <a:gd name="adj" fmla="val 1270"/>
            </a:avLst>
          </a:prstGeom>
          <a:solidFill>
            <a:srgbClr val="F3F7F8"/>
          </a:solidFill>
          <a:ln w="9525">
            <a:solidFill>
              <a:srgbClr val="C5D6DA"/>
            </a:solidFill>
            <a:prstDash val="solid"/>
          </a:ln>
        </p:spPr>
        <p:txBody>
          <a:bodyPr wrap="square" lIns="50800" tIns="76200" rIns="76200" bIns="25400" rtlCol="0" anchor="t"/>
          <a:lstStyle/>
          <a:p>
            <a:pPr marL="0" indent="0" algn="l">
              <a:buNone/>
            </a:pPr>
            <a:r>
              <a:rPr lang="en-US" sz="1160" b="1" dirty="0">
                <a:solidFill>
                  <a:srgbClr val="0B3C49"/>
                </a:solidFill>
                <a:latin typeface="Calibri" pitchFamily="34" charset="0"/>
                <a:ea typeface="Calibri" pitchFamily="34" charset="-122"/>
                <a:cs typeface="Calibri" pitchFamily="34" charset="-120"/>
              </a:rPr>
              <a:t>Automatic checks, re-runnable from the repository</a:t>
            </a:r>
            <a:endParaRPr lang="en-US" sz="1160" dirty="0"/>
          </a:p>
        </p:txBody>
      </p:sp>
      <p:sp>
        <p:nvSpPr>
          <p:cNvPr id="18" name="05-evidence-chain:k0"/>
          <p:cNvSpPr txBox="1"/>
          <p:nvPr/>
        </p:nvSpPr>
        <p:spPr>
          <a:xfrm>
            <a:off x="50356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160" b="1" dirty="0">
                <a:solidFill>
                  <a:srgbClr val="1E5631"/>
                </a:solidFill>
                <a:latin typeface="Calibri" pitchFamily="34" charset="0"/>
                <a:ea typeface="Calibri" pitchFamily="34" charset="-122"/>
                <a:cs typeface="Calibri" pitchFamily="34" charset="-120"/>
              </a:rPr>
              <a:t>Manifest check</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146 of 146 hashes match</a:t>
            </a:r>
            <a:endParaRPr lang="en-US" sz="1160" dirty="0"/>
          </a:p>
        </p:txBody>
      </p:sp>
      <p:sp>
        <p:nvSpPr>
          <p:cNvPr id="19" name="05-evidence-chain:k1"/>
          <p:cNvSpPr txBox="1"/>
          <p:nvPr/>
        </p:nvSpPr>
        <p:spPr>
          <a:xfrm>
            <a:off x="337234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160" b="1" dirty="0">
                <a:solidFill>
                  <a:srgbClr val="1E5631"/>
                </a:solidFill>
                <a:latin typeface="Calibri" pitchFamily="34" charset="0"/>
                <a:ea typeface="Calibri" pitchFamily="34" charset="-122"/>
                <a:cs typeface="Calibri" pitchFamily="34" charset="-120"/>
              </a:rPr>
              <a:t>Citation check</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203 of 203 match</a:t>
            </a:r>
            <a:endParaRPr lang="en-US" sz="1160" dirty="0"/>
          </a:p>
        </p:txBody>
      </p:sp>
      <p:sp>
        <p:nvSpPr>
          <p:cNvPr id="20" name="05-evidence-chain:k2"/>
          <p:cNvSpPr txBox="1"/>
          <p:nvPr/>
        </p:nvSpPr>
        <p:spPr>
          <a:xfrm>
            <a:off x="624112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marL="0" indent="0" algn="ctr">
              <a:buNone/>
            </a:pPr>
            <a:r>
              <a:rPr lang="en-US" sz="1160" b="1" dirty="0">
                <a:solidFill>
                  <a:srgbClr val="1E5631"/>
                </a:solidFill>
                <a:latin typeface="Calibri" pitchFamily="34" charset="0"/>
                <a:ea typeface="Calibri" pitchFamily="34" charset="-122"/>
                <a:cs typeface="Calibri" pitchFamily="34" charset="-120"/>
              </a:rPr>
              <a:t>Traceability check</a:t>
            </a:r>
            <a:endParaRPr lang="en-US" sz="1160" dirty="0"/>
          </a:p>
          <a:p>
            <a:pPr marL="0" indent="0" algn="ctr">
              <a:buNone/>
            </a:pPr>
            <a:r>
              <a:rPr lang="en-US" sz="1160" dirty="0">
                <a:solidFill>
                  <a:srgbClr val="1E5631"/>
                </a:solidFill>
                <a:latin typeface="Calibri" pitchFamily="34" charset="0"/>
                <a:ea typeface="Calibri" pitchFamily="34" charset="-122"/>
                <a:cs typeface="Calibri" pitchFamily="34" charset="-120"/>
              </a:rPr>
              <a:t>PASS on all four tests</a:t>
            </a:r>
            <a:endParaRPr lang="en-US" sz="1160" dirty="0"/>
          </a:p>
        </p:txBody>
      </p:sp>
      <p:sp>
        <p:nvSpPr>
          <p:cNvPr id="21" name="05-evidence-chain:k3"/>
          <p:cNvSpPr txBox="1"/>
          <p:nvPr/>
        </p:nvSpPr>
        <p:spPr>
          <a:xfrm>
            <a:off x="9109903" y="4880610"/>
            <a:ext cx="2566321" cy="1040130"/>
          </a:xfrm>
          <a:prstGeom prst="roundRect">
            <a:avLst>
              <a:gd name="adj" fmla="val 5275"/>
            </a:avLst>
          </a:prstGeom>
          <a:solidFill>
            <a:srgbClr val="FFFFFF"/>
          </a:solidFill>
          <a:ln w="15875">
            <a:solidFill>
              <a:srgbClr val="1F7A8C"/>
            </a:solidFill>
            <a:prstDash val="solid"/>
          </a:ln>
        </p:spPr>
        <p:txBody>
          <a:bodyPr wrap="square" lIns="25400" tIns="50800" rIns="50800" bIns="25400" rtlCol="0" anchor="ctr"/>
          <a:lstStyle/>
          <a:p>
            <a:pPr marL="0" indent="0" algn="ctr">
              <a:buNone/>
            </a:pPr>
            <a:r>
              <a:rPr lang="en-US" sz="1160" b="1" dirty="0">
                <a:solidFill>
                  <a:srgbClr val="0B3C49"/>
                </a:solidFill>
                <a:latin typeface="Calibri" pitchFamily="34" charset="0"/>
                <a:ea typeface="Calibri" pitchFamily="34" charset="-122"/>
                <a:cs typeface="Calibri" pitchFamily="34" charset="-120"/>
              </a:rPr>
              <a:t>Append-only</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older files are superseded,</a:t>
            </a:r>
            <a:endParaRPr lang="en-US" sz="1160" dirty="0"/>
          </a:p>
          <a:p>
            <a:pPr marL="0" indent="0" algn="ctr">
              <a:buNone/>
            </a:pPr>
            <a:r>
              <a:rPr lang="en-US" sz="1160" dirty="0">
                <a:solidFill>
                  <a:srgbClr val="0B3C49"/>
                </a:solidFill>
                <a:latin typeface="Calibri" pitchFamily="34" charset="0"/>
                <a:ea typeface="Calibri" pitchFamily="34" charset="-122"/>
                <a:cs typeface="Calibri" pitchFamily="34" charset="-120"/>
              </a:rPr>
              <a:t>never edited</a:t>
            </a:r>
            <a:endParaRPr lang="en-US" sz="1160" dirty="0"/>
          </a:p>
        </p:txBody>
      </p:sp>
      <p:sp>
        <p:nvSpPr>
          <p:cNvPr id="22" name="05-evidence-chain:knote"/>
          <p:cNvSpPr txBox="1"/>
          <p:nvPr/>
        </p:nvSpPr>
        <p:spPr>
          <a:xfrm>
            <a:off x="503563" y="6080760"/>
            <a:ext cx="11181826" cy="400050"/>
          </a:xfrm>
          <a:prstGeom prst="roundRect">
            <a:avLst>
              <a:gd name="adj" fmla="val 13714"/>
            </a:avLst>
          </a:prstGeom>
          <a:solidFill>
            <a:srgbClr val="FFFFFF"/>
          </a:solidFill>
          <a:ln/>
        </p:spPr>
        <p:txBody>
          <a:bodyPr wrap="square" lIns="25400" tIns="50800" rIns="50800" bIns="25400" rtlCol="0" anchor="ctr"/>
          <a:lstStyle/>
          <a:p>
            <a:pPr marL="0" indent="0" algn="l">
              <a:buNone/>
            </a:pPr>
            <a:r>
              <a:rPr lang="en-US" sz="1010" dirty="0">
                <a:solidFill>
                  <a:srgbClr val="41545A"/>
                </a:solidFill>
                <a:latin typeface="Calibri" pitchFamily="34" charset="0"/>
                <a:ea typeface="Calibri" pitchFamily="34" charset="-122"/>
                <a:cs typeface="Calibri" pitchFamily="34" charset="-120"/>
              </a:rPr>
              <a:t>Scripts: evidence/42-executive/EVD-R-03-verify-manifests.py; evidence/43-rubric-traceability/EVD-S-04-verify-r3.py</a:t>
            </a:r>
            <a:endParaRPr lang="en-US" sz="1010" dirty="0"/>
          </a:p>
        </p:txBody>
      </p:sp>
      <p:sp>
        <p:nvSpPr>
          <p:cNvPr id="23" name="05-evidence-chain:edge:r0-&gt;r1"/>
          <p:cNvSpPr/>
          <p:nvPr/>
        </p:nvSpPr>
        <p:spPr>
          <a:xfrm>
            <a:off x="1786723" y="1760220"/>
            <a:ext cx="210805" cy="914"/>
          </a:xfrm>
          <a:prstGeom prst="line">
            <a:avLst/>
          </a:prstGeom>
          <a:noFill/>
          <a:ln w="19050">
            <a:solidFill>
              <a:srgbClr val="41545A"/>
            </a:solidFill>
            <a:prstDash val="solid"/>
            <a:tailEnd type="triangle"/>
          </a:ln>
        </p:spPr>
        <p:txBody>
          <a:bodyPr/>
          <a:p/>
        </p:txBody>
      </p:sp>
      <p:sp>
        <p:nvSpPr>
          <p:cNvPr id="24" name="05-evidence-chain:edge:r1-&gt;r2"/>
          <p:cNvSpPr/>
          <p:nvPr/>
        </p:nvSpPr>
        <p:spPr>
          <a:xfrm>
            <a:off x="3463997" y="1760220"/>
            <a:ext cx="210805" cy="914"/>
          </a:xfrm>
          <a:prstGeom prst="line">
            <a:avLst/>
          </a:prstGeom>
          <a:noFill/>
          <a:ln w="19050">
            <a:solidFill>
              <a:srgbClr val="41545A"/>
            </a:solidFill>
            <a:prstDash val="solid"/>
            <a:tailEnd type="triangle"/>
          </a:ln>
        </p:spPr>
        <p:txBody>
          <a:bodyPr/>
          <a:p/>
        </p:txBody>
      </p:sp>
      <p:sp>
        <p:nvSpPr>
          <p:cNvPr id="25" name="05-evidence-chain:edge:r2-&gt;r3"/>
          <p:cNvSpPr/>
          <p:nvPr/>
        </p:nvSpPr>
        <p:spPr>
          <a:xfrm>
            <a:off x="5141271" y="1760220"/>
            <a:ext cx="210805" cy="914"/>
          </a:xfrm>
          <a:prstGeom prst="line">
            <a:avLst/>
          </a:prstGeom>
          <a:noFill/>
          <a:ln w="19050">
            <a:solidFill>
              <a:srgbClr val="41545A"/>
            </a:solidFill>
            <a:prstDash val="solid"/>
            <a:tailEnd type="triangle"/>
          </a:ln>
        </p:spPr>
        <p:txBody>
          <a:bodyPr/>
          <a:p/>
        </p:txBody>
      </p:sp>
      <p:sp>
        <p:nvSpPr>
          <p:cNvPr id="26" name="05-evidence-chain:edge:r3-&gt;r4"/>
          <p:cNvSpPr/>
          <p:nvPr/>
        </p:nvSpPr>
        <p:spPr>
          <a:xfrm>
            <a:off x="6818545" y="1760220"/>
            <a:ext cx="210805" cy="914"/>
          </a:xfrm>
          <a:prstGeom prst="line">
            <a:avLst/>
          </a:prstGeom>
          <a:noFill/>
          <a:ln w="19050">
            <a:solidFill>
              <a:srgbClr val="41545A"/>
            </a:solidFill>
            <a:prstDash val="solid"/>
            <a:tailEnd type="triangle"/>
          </a:ln>
        </p:spPr>
        <p:txBody>
          <a:bodyPr/>
          <a:p/>
        </p:txBody>
      </p:sp>
      <p:sp>
        <p:nvSpPr>
          <p:cNvPr id="27" name="05-evidence-chain:edge:r4-&gt;r5"/>
          <p:cNvSpPr/>
          <p:nvPr/>
        </p:nvSpPr>
        <p:spPr>
          <a:xfrm>
            <a:off x="8495819" y="1760220"/>
            <a:ext cx="210805" cy="914"/>
          </a:xfrm>
          <a:prstGeom prst="line">
            <a:avLst/>
          </a:prstGeom>
          <a:noFill/>
          <a:ln w="19050">
            <a:solidFill>
              <a:srgbClr val="41545A"/>
            </a:solidFill>
            <a:prstDash val="solid"/>
            <a:tailEnd type="triangle"/>
          </a:ln>
        </p:spPr>
        <p:txBody>
          <a:bodyPr/>
          <a:p/>
        </p:txBody>
      </p:sp>
      <p:sp>
        <p:nvSpPr>
          <p:cNvPr id="28" name="05-evidence-chain:edge:r5-&gt;r6"/>
          <p:cNvSpPr/>
          <p:nvPr/>
        </p:nvSpPr>
        <p:spPr>
          <a:xfrm>
            <a:off x="10173093" y="1760220"/>
            <a:ext cx="210805" cy="914"/>
          </a:xfrm>
          <a:prstGeom prst="line">
            <a:avLst/>
          </a:prstGeom>
          <a:noFill/>
          <a:ln w="19050">
            <a:solidFill>
              <a:srgbClr val="41545A"/>
            </a:solidFill>
            <a:prstDash val="solid"/>
            <a:tailEnd type="triangle"/>
          </a:ln>
        </p:spPr>
        <p:txBody>
          <a:bodyPr/>
          <a:p/>
        </p:txBody>
      </p:sp>
      <p:sp>
        <p:nvSpPr>
          <p:cNvPr id="29" name="05-evidence-chain:edge:x0-&gt;x1"/>
          <p:cNvSpPr/>
          <p:nvPr/>
        </p:nvSpPr>
        <p:spPr>
          <a:xfrm>
            <a:off x="3069884" y="3480435"/>
            <a:ext cx="302459" cy="914"/>
          </a:xfrm>
          <a:prstGeom prst="line">
            <a:avLst/>
          </a:prstGeom>
          <a:noFill/>
          <a:ln w="19050">
            <a:solidFill>
              <a:srgbClr val="41545A"/>
            </a:solidFill>
            <a:prstDash val="solid"/>
            <a:tailEnd type="triangle"/>
          </a:ln>
        </p:spPr>
        <p:txBody>
          <a:bodyPr/>
          <a:p/>
        </p:txBody>
      </p:sp>
      <p:sp>
        <p:nvSpPr>
          <p:cNvPr id="30" name="05-evidence-chain:edge:x1-&gt;x2"/>
          <p:cNvSpPr/>
          <p:nvPr/>
        </p:nvSpPr>
        <p:spPr>
          <a:xfrm>
            <a:off x="5938664" y="3480435"/>
            <a:ext cx="302459" cy="914"/>
          </a:xfrm>
          <a:prstGeom prst="line">
            <a:avLst/>
          </a:prstGeom>
          <a:noFill/>
          <a:ln w="19050">
            <a:solidFill>
              <a:srgbClr val="41545A"/>
            </a:solidFill>
            <a:prstDash val="solid"/>
            <a:tailEnd type="triangle"/>
          </a:ln>
        </p:spPr>
        <p:txBody>
          <a:bodyPr/>
          <a:p/>
        </p:txBody>
      </p:sp>
      <p:sp>
        <p:nvSpPr>
          <p:cNvPr id="31" name="05-evidence-chain:edge:x2-&gt;x3"/>
          <p:cNvSpPr/>
          <p:nvPr/>
        </p:nvSpPr>
        <p:spPr>
          <a:xfrm>
            <a:off x="8807444" y="3480435"/>
            <a:ext cx="302459" cy="914"/>
          </a:xfrm>
          <a:prstGeom prst="line">
            <a:avLst/>
          </a:prstGeom>
          <a:noFill/>
          <a:ln w="19050">
            <a:solidFill>
              <a:srgbClr val="41545A"/>
            </a:solidFill>
            <a:prstDash val="solid"/>
            <a:tailEnd type="triangle"/>
          </a:ln>
        </p:spPr>
        <p:txBody>
          <a:bodyPr/>
          <a:p/>
        </p:txBody>
      </p:sp>
      <p:sp>
        <p:nvSpPr>
          <p:cNvPr id="4"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APPENDIX</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Rubric evidence coverage by criterion</a:t>
            </a:r>
            <a:endParaRPr lang="en-US" sz="2800" dirty="0"/>
          </a:p>
        </p:txBody>
      </p:sp>
      <p:graphicFrame>
        <p:nvGraphicFramePr>
          <p:cNvPr id="5" name="Chart 0"/>
          <p:cNvGraphicFramePr/>
          <p:nvPr/>
        </p:nvGraphicFramePr>
        <p:xfrm>
          <a:off x="457200" y="1188720"/>
          <a:ext cx="7315200" cy="4846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138160" y="1371600"/>
          <a:ext cx="35661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Coverage index</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R3</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R4</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2"/>
          <p:cNvSpPr txBox="1"/>
          <p:nvPr/>
        </p:nvSpPr>
        <p:spPr>
          <a:xfrm>
            <a:off x="8138160" y="4114800"/>
            <a:ext cx="3566160" cy="914400"/>
          </a:xfrm>
          <a:prstGeom prst="rect">
            <a:avLst/>
          </a:prstGeom>
          <a:noFill/>
          <a:ln/>
        </p:spPr>
        <p:txBody>
          <a:bodyPr wrap="square" lIns="0" tIns="0" rIns="0" bIns="0" rtlCol="0" anchor="t"/>
          <a:lstStyle/>
          <a:p>
            <a:pPr marL="0" indent="0">
              <a:buNone/>
            </a:pPr>
            <a:r>
              <a:rPr lang="en-US" sz="1200" dirty="0">
                <a:solidFill>
                  <a:srgbClr val="5F6E71"/>
                </a:solidFill>
              </a:rPr>
              <a:t>Index = (MET + half of PARTIAL) ÷ sub-dimensions. Source: docs/43-rubric-traceability/readiness-assessment.md.</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marL="0" indent="0">
              <a:buNone/>
            </a:pPr>
            <a:r>
              <a:rPr lang="en-US" sz="1100" b="1" kern="0" spc="200" dirty="0">
                <a:solidFill>
                  <a:srgbClr val="1F7A8C"/>
                </a:solidFill>
              </a:rPr>
              <a:t>APPENDIX</a:t>
            </a:r>
            <a:endParaRPr lang="en-US" sz="1100" dirty="0"/>
          </a:p>
        </p:txBody>
      </p:sp>
      <p:sp>
        <p:nvSpPr>
          <p:cNvPr id="3" name="Text 0"/>
          <p:cNvSpPr>
            <a:spLocks noGrp="1"/>
          </p:cNvSpPr>
          <p:nvPr>
            <p:ph type="title" idx="100" hasCustomPrompt="1"/>
          </p:nvPr>
        </p:nvSpPr>
        <p:spPr>
          <a:xfrm>
            <a:off x="457200" y="384048"/>
            <a:ext cx="11274552" cy="603504"/>
          </a:xfrm>
          <a:prstGeom prst="rect">
            <a:avLst/>
          </a:prstGeom>
          <a:noFill/>
          <a:ln/>
        </p:spPr>
        <p:txBody>
          <a:bodyPr wrap="square" lIns="0" tIns="0" rIns="0" bIns="0" rtlCol="0" anchor="ctr"/>
          <a:lstStyle/>
          <a:p>
            <a:pPr marL="0" indent="0" algn="l">
              <a:buNone/>
            </a:pPr>
            <a:r>
              <a:rPr lang="en-US" sz="2800" b="1" dirty="0">
                <a:solidFill>
                  <a:schemeClr val="tx2"/>
                </a:solidFill>
              </a:rPr>
              <a:t>Where to find everything</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840480">
                  <a:extLst>
                    <a:ext uri="{9D8B030D-6E8A-4147-A177-3AD203B41FA5}">
                      <a16:colId xmlns:a16="http://schemas.microsoft.com/office/drawing/2014/main" val="20000"/>
                    </a:ext>
                  </a:extLst>
                </a:gridCol>
                <a:gridCol w="7434072">
                  <a:extLst>
                    <a:ext uri="{9D8B030D-6E8A-4147-A177-3AD203B41FA5}">
                      <a16:colId xmlns:a16="http://schemas.microsoft.com/office/drawing/2014/main" val="20001"/>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You want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The story in writing</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deliverables/01-CTO-Briefing-v2.1.docx (or .md)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Every evidence file, finding, gate, decision and risk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deliverables/03-Evidence-Register.xlsx</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Diagrams to edit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deliverables/diagrams/*.drawio; shapes in this deck are native and editable</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The semantic-layer rebuild and its comparison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Deliverables/semantic-layer-rebuild (repository) and semantic-layer-rebuild-comparison/COMPARISON.md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The readiness decision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docs/42-executive/production-readiness-decision.md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The CTO sign-off block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docs/44-decisions/cto-signoff-pack.md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The semantic layer</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semantic-layer/ (start with README.md and SEMANTIC-COMPLETENESS.md)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7"/>
                  </a:ext>
                </a:extLst>
              </a:tr>
              <a:tr h="475488">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The runbooks that drove the work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marL="0" indent="0">
                        <a:buNone/>
                      </a:pPr>
                      <a:r>
                        <a:rPr lang="en-US" sz="1300" dirty="0">
                          <a:solidFill>
                            <a:srgbClr val="1B2A2F"/>
                          </a:solidFill>
                          <a:latin typeface="Calibri" pitchFamily="34" charset="0"/>
                          <a:ea typeface="Calibri" pitchFamily="34" charset="-122"/>
                          <a:cs typeface="Calibri" pitchFamily="34" charset="-120"/>
                        </a:rPr>
                        <a:t>runbook/00 to 04 (Markdown and Word)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lIns="0" rIns="0" tIns="0" bIns="0"/>
          <a:lstStyle/>
          <a:p>
            <a:r>
              <a:t>Problem statement: what we were handed</a:t>
            </a:r>
          </a:p>
        </p:txBody>
      </p:sp>
      <p:sp>
        <p:nvSpPr>
          <p:cNvPr id="3" name="TextBox 2"/>
          <p:cNvSpPr txBox="1"/>
          <p:nvPr/>
        </p:nvSpPr>
        <p:spPr>
          <a:xfrm>
            <a:off x="457200" y="109728"/>
            <a:ext cx="8229600" cy="256032"/>
          </a:xfrm>
          <a:prstGeom prst="rect">
            <a:avLst/>
          </a:prstGeom>
          <a:noFill/>
        </p:spPr>
        <p:txBody>
          <a:bodyPr wrap="square" lIns="0" rIns="0" tIns="0" bIns="0" anchor="t">
            <a:spAutoFit/>
          </a:bodyPr>
          <a:lstStyle/>
          <a:p>
            <a:pPr algn="l"/>
            <a:r>
              <a:rPr sz="1100" b="1" spc="200">
                <a:solidFill>
                  <a:srgbClr val="1F7A8C"/>
                </a:solidFill>
                <a:latin typeface="Calibri"/>
              </a:rPr>
              <a:t>01  THE STARTING POINT</a:t>
            </a:r>
          </a:p>
        </p:txBody>
      </p:sp>
      <p:sp>
        <p:nvSpPr>
          <p:cNvPr id="4" name="Rounded Rectangle 3"/>
          <p:cNvSpPr/>
          <p:nvPr/>
        </p:nvSpPr>
        <p:spPr>
          <a:xfrm>
            <a:off x="457200" y="1188720"/>
            <a:ext cx="5074920" cy="1554480"/>
          </a:xfrm>
          <a:prstGeom prst="roundRect">
            <a:avLst>
              <a:gd name="adj" fmla="val 6000"/>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35024"/>
            <a:ext cx="4663440" cy="1280160"/>
          </a:xfrm>
          <a:prstGeom prst="rect">
            <a:avLst/>
          </a:prstGeom>
          <a:noFill/>
        </p:spPr>
        <p:txBody>
          <a:bodyPr wrap="square" lIns="0" rIns="0" tIns="0" bIns="0" anchor="t">
            <a:spAutoFit/>
          </a:bodyPr>
          <a:lstStyle/>
          <a:p>
            <a:pPr algn="l"/>
            <a:r>
              <a:rPr sz="1400" b="1">
                <a:solidFill>
                  <a:srgbClr val="0B3C49"/>
                </a:solidFill>
                <a:latin typeface="Calibri"/>
              </a:rPr>
              <a:t>Context</a:t>
            </a:r>
          </a:p>
          <a:p>
            <a:pPr algn="l">
              <a:spcBef>
                <a:spcPts val="400"/>
              </a:spcBef>
            </a:pPr>
            <a:r>
              <a:rPr sz="1400" b="0">
                <a:solidFill>
                  <a:srgbClr val="1B2A2F"/>
                </a:solidFill>
                <a:latin typeface="Calibri"/>
              </a:rPr>
              <a:t>The repository runs logistics operations: shipments, tracking events, vehicles, routes, carrier bookings and an AI assistant that summarises exceptions for dispatchers.</a:t>
            </a:r>
          </a:p>
        </p:txBody>
      </p:sp>
      <p:sp>
        <p:nvSpPr>
          <p:cNvPr id="6" name="Rounded Rectangle 5"/>
          <p:cNvSpPr/>
          <p:nvPr/>
        </p:nvSpPr>
        <p:spPr>
          <a:xfrm>
            <a:off x="457200" y="2880360"/>
            <a:ext cx="5074920" cy="1554480"/>
          </a:xfrm>
          <a:prstGeom prst="roundRect">
            <a:avLst>
              <a:gd name="adj" fmla="val 6000"/>
            </a:avLst>
          </a:prstGeom>
          <a:solidFill>
            <a:srgbClr val="FCE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026664"/>
            <a:ext cx="4663440" cy="1280160"/>
          </a:xfrm>
          <a:prstGeom prst="rect">
            <a:avLst/>
          </a:prstGeom>
          <a:noFill/>
        </p:spPr>
        <p:txBody>
          <a:bodyPr wrap="square" lIns="0" rIns="0" tIns="0" bIns="0" anchor="t">
            <a:spAutoFit/>
          </a:bodyPr>
          <a:lstStyle/>
          <a:p>
            <a:pPr algn="l"/>
            <a:r>
              <a:rPr sz="1400" b="1">
                <a:solidFill>
                  <a:srgbClr val="C0392B"/>
                </a:solidFill>
                <a:latin typeface="Calibri"/>
              </a:rPr>
              <a:t>What we were handed (Repo 1.0)</a:t>
            </a:r>
          </a:p>
          <a:p>
            <a:pPr algn="l">
              <a:spcBef>
                <a:spcPts val="400"/>
              </a:spcBef>
            </a:pPr>
            <a:r>
              <a:rPr sz="1400" b="0">
                <a:solidFill>
                  <a:srgbClr val="1B2A2F"/>
                </a:solidFill>
                <a:latin typeface="Calibri"/>
              </a:rPr>
              <a:t>Three engineering generations side by side: legacy batch scripts, a partly modernised FastAPI service and an AI gateway, with nothing controlling who could do what.</a:t>
            </a:r>
          </a:p>
        </p:txBody>
      </p:sp>
      <p:sp>
        <p:nvSpPr>
          <p:cNvPr id="8" name="Rounded Rectangle 7"/>
          <p:cNvSpPr/>
          <p:nvPr/>
        </p:nvSpPr>
        <p:spPr>
          <a:xfrm>
            <a:off x="457200" y="4572000"/>
            <a:ext cx="5074920" cy="1554480"/>
          </a:xfrm>
          <a:prstGeom prst="roundRect">
            <a:avLst>
              <a:gd name="adj" fmla="val 6000"/>
            </a:avLst>
          </a:prstGeom>
          <a:solidFill>
            <a:srgbClr val="E5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718304"/>
            <a:ext cx="4663440" cy="1280160"/>
          </a:xfrm>
          <a:prstGeom prst="rect">
            <a:avLst/>
          </a:prstGeom>
          <a:noFill/>
        </p:spPr>
        <p:txBody>
          <a:bodyPr wrap="square" lIns="0" rIns="0" tIns="0" bIns="0" anchor="t">
            <a:spAutoFit/>
          </a:bodyPr>
          <a:lstStyle/>
          <a:p>
            <a:pPr algn="l"/>
            <a:r>
              <a:rPr sz="1400" b="1">
                <a:solidFill>
                  <a:srgbClr val="2E8B57"/>
                </a:solidFill>
                <a:latin typeface="Calibri"/>
              </a:rPr>
              <a:t>The task</a:t>
            </a:r>
          </a:p>
          <a:p>
            <a:pPr algn="l">
              <a:spcBef>
                <a:spcPts val="400"/>
              </a:spcBef>
            </a:pPr>
            <a:r>
              <a:rPr sz="1400" b="0">
                <a:solidFill>
                  <a:srgbClr val="1B2A2F"/>
                </a:solidFill>
                <a:latin typeface="Calibri"/>
              </a:rPr>
              <a:t>Turn it into a production-grade Repo 2.0 with evidence for every claim, and capture the business knowledge in a semantic layer that survives a change of AI model.</a:t>
            </a:r>
          </a:p>
        </p:txBody>
      </p:sp>
      <p:sp>
        <p:nvSpPr>
          <p:cNvPr id="10" name="TextBox 9"/>
          <p:cNvSpPr txBox="1"/>
          <p:nvPr/>
        </p:nvSpPr>
        <p:spPr>
          <a:xfrm>
            <a:off x="5852160" y="1188720"/>
            <a:ext cx="5879592" cy="365760"/>
          </a:xfrm>
          <a:prstGeom prst="rect">
            <a:avLst/>
          </a:prstGeom>
          <a:noFill/>
        </p:spPr>
        <p:txBody>
          <a:bodyPr wrap="square" lIns="0" rIns="0" tIns="0" bIns="0" anchor="t">
            <a:spAutoFit/>
          </a:bodyPr>
          <a:lstStyle/>
          <a:p>
            <a:pPr algn="l"/>
            <a:r>
              <a:rPr sz="1800" b="1">
                <a:solidFill>
                  <a:srgbClr val="0B3C49"/>
                </a:solidFill>
                <a:latin typeface="Calibri"/>
              </a:rPr>
              <a:t>Six defects that made it untrustworthy</a:t>
            </a:r>
          </a:p>
        </p:txBody>
      </p:sp>
      <p:sp>
        <p:nvSpPr>
          <p:cNvPr id="11" name="Oval 10"/>
          <p:cNvSpPr/>
          <p:nvPr/>
        </p:nvSpPr>
        <p:spPr>
          <a:xfrm>
            <a:off x="5852160" y="1746504"/>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12" name="TextBox 11"/>
          <p:cNvSpPr txBox="1"/>
          <p:nvPr/>
        </p:nvSpPr>
        <p:spPr>
          <a:xfrm>
            <a:off x="6446520" y="1691640"/>
            <a:ext cx="5285232" cy="548640"/>
          </a:xfrm>
          <a:prstGeom prst="rect">
            <a:avLst/>
          </a:prstGeom>
          <a:noFill/>
        </p:spPr>
        <p:txBody>
          <a:bodyPr wrap="square" lIns="0" rIns="0" tIns="0" bIns="0" anchor="ctr">
            <a:spAutoFit/>
          </a:bodyPr>
          <a:lstStyle/>
          <a:p>
            <a:pPr algn="l"/>
            <a:r>
              <a:rPr sz="1400" b="1">
                <a:solidFill>
                  <a:srgbClr val="C0392B"/>
                </a:solidFill>
                <a:latin typeface="Calibri"/>
              </a:rPr>
              <a:t>Unprovable: </a:t>
            </a:r>
            <a:r>
              <a:rPr sz="1400" b="0">
                <a:solidFill>
                  <a:srgbClr val="1B2A2F"/>
                </a:solidFill>
                <a:latin typeface="Calibri"/>
              </a:rPr>
              <a:t>the documented test command failed (exit 2), so nobody could prove anything worked.</a:t>
            </a:r>
          </a:p>
        </p:txBody>
      </p:sp>
      <p:sp>
        <p:nvSpPr>
          <p:cNvPr id="13" name="Oval 12"/>
          <p:cNvSpPr/>
          <p:nvPr/>
        </p:nvSpPr>
        <p:spPr>
          <a:xfrm>
            <a:off x="5852160" y="2514600"/>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4" name="TextBox 13"/>
          <p:cNvSpPr txBox="1"/>
          <p:nvPr/>
        </p:nvSpPr>
        <p:spPr>
          <a:xfrm>
            <a:off x="6446520" y="2459736"/>
            <a:ext cx="5285232" cy="548640"/>
          </a:xfrm>
          <a:prstGeom prst="rect">
            <a:avLst/>
          </a:prstGeom>
          <a:noFill/>
        </p:spPr>
        <p:txBody>
          <a:bodyPr wrap="square" lIns="0" rIns="0" tIns="0" bIns="0" anchor="ctr">
            <a:spAutoFit/>
          </a:bodyPr>
          <a:lstStyle/>
          <a:p>
            <a:pPr algn="l"/>
            <a:r>
              <a:rPr sz="1400" b="1">
                <a:solidFill>
                  <a:srgbClr val="C0392B"/>
                </a:solidFill>
                <a:latin typeface="Calibri"/>
              </a:rPr>
              <a:t>Open identity: </a:t>
            </a:r>
            <a:r>
              <a:rPr sz="1400" b="0">
                <a:solidFill>
                  <a:srgbClr val="1B2A2F"/>
                </a:solidFill>
                <a:latin typeface="Calibri"/>
              </a:rPr>
              <a:t>any caller could claim any role by sending a request header.</a:t>
            </a:r>
          </a:p>
        </p:txBody>
      </p:sp>
      <p:sp>
        <p:nvSpPr>
          <p:cNvPr id="15" name="Oval 14"/>
          <p:cNvSpPr/>
          <p:nvPr/>
        </p:nvSpPr>
        <p:spPr>
          <a:xfrm>
            <a:off x="5852160" y="3282696"/>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6" name="TextBox 15"/>
          <p:cNvSpPr txBox="1"/>
          <p:nvPr/>
        </p:nvSpPr>
        <p:spPr>
          <a:xfrm>
            <a:off x="6446520" y="3227832"/>
            <a:ext cx="5285232" cy="548640"/>
          </a:xfrm>
          <a:prstGeom prst="rect">
            <a:avLst/>
          </a:prstGeom>
          <a:noFill/>
        </p:spPr>
        <p:txBody>
          <a:bodyPr wrap="square" lIns="0" rIns="0" tIns="0" bIns="0" anchor="ctr">
            <a:spAutoFit/>
          </a:bodyPr>
          <a:lstStyle/>
          <a:p>
            <a:pPr algn="l"/>
            <a:r>
              <a:rPr sz="1400" b="1">
                <a:solidFill>
                  <a:srgbClr val="C0392B"/>
                </a:solidFill>
                <a:latin typeface="Calibri"/>
              </a:rPr>
              <a:t>Unguarded AI: </a:t>
            </a:r>
            <a:r>
              <a:rPr sz="1400" b="0">
                <a:solidFill>
                  <a:srgbClr val="1B2A2F"/>
                </a:solidFill>
                <a:latin typeface="Calibri"/>
              </a:rPr>
              <a:t>the AI endpoint answered with no authorisation and reported its own guardrail as not enforced.</a:t>
            </a:r>
          </a:p>
        </p:txBody>
      </p:sp>
      <p:sp>
        <p:nvSpPr>
          <p:cNvPr id="17" name="Oval 16"/>
          <p:cNvSpPr/>
          <p:nvPr/>
        </p:nvSpPr>
        <p:spPr>
          <a:xfrm>
            <a:off x="5852160" y="4050791"/>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8" name="TextBox 17"/>
          <p:cNvSpPr txBox="1"/>
          <p:nvPr/>
        </p:nvSpPr>
        <p:spPr>
          <a:xfrm>
            <a:off x="6446520" y="3995928"/>
            <a:ext cx="5285232" cy="548640"/>
          </a:xfrm>
          <a:prstGeom prst="rect">
            <a:avLst/>
          </a:prstGeom>
          <a:noFill/>
        </p:spPr>
        <p:txBody>
          <a:bodyPr wrap="square" lIns="0" rIns="0" tIns="0" bIns="0" anchor="ctr">
            <a:spAutoFit/>
          </a:bodyPr>
          <a:lstStyle/>
          <a:p>
            <a:pPr algn="l"/>
            <a:r>
              <a:rPr sz="1400" b="1">
                <a:solidFill>
                  <a:srgbClr val="C0392B"/>
                </a:solidFill>
                <a:latin typeface="Calibri"/>
              </a:rPr>
              <a:t>Wrong data: </a:t>
            </a:r>
            <a:r>
              <a:rPr sz="1400" b="0">
                <a:solidFill>
                  <a:srgbClr val="1B2A2F"/>
                </a:solidFill>
                <a:latin typeface="Calibri"/>
              </a:rPr>
              <a:t>a lookup that missed returned a different record.</a:t>
            </a:r>
          </a:p>
        </p:txBody>
      </p:sp>
      <p:sp>
        <p:nvSpPr>
          <p:cNvPr id="19" name="Oval 18"/>
          <p:cNvSpPr/>
          <p:nvPr/>
        </p:nvSpPr>
        <p:spPr>
          <a:xfrm>
            <a:off x="5852160" y="4818888"/>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20" name="TextBox 19"/>
          <p:cNvSpPr txBox="1"/>
          <p:nvPr/>
        </p:nvSpPr>
        <p:spPr>
          <a:xfrm>
            <a:off x="6446520" y="4764024"/>
            <a:ext cx="5285232" cy="548640"/>
          </a:xfrm>
          <a:prstGeom prst="rect">
            <a:avLst/>
          </a:prstGeom>
          <a:noFill/>
        </p:spPr>
        <p:txBody>
          <a:bodyPr wrap="square" lIns="0" rIns="0" tIns="0" bIns="0" anchor="ctr">
            <a:spAutoFit/>
          </a:bodyPr>
          <a:lstStyle/>
          <a:p>
            <a:pPr algn="l"/>
            <a:r>
              <a:rPr sz="1400" b="1">
                <a:solidFill>
                  <a:srgbClr val="C0392B"/>
                </a:solidFill>
                <a:latin typeface="Calibri"/>
              </a:rPr>
              <a:t>No accountability: </a:t>
            </a:r>
            <a:r>
              <a:rPr sz="1400" b="0">
                <a:solidFill>
                  <a:srgbClr val="1B2A2F"/>
                </a:solidFill>
                <a:latin typeface="Calibri"/>
              </a:rPr>
              <a:t>the audit trail recorded time and action only, so no one could reconstruct who did what.</a:t>
            </a:r>
          </a:p>
        </p:txBody>
      </p:sp>
      <p:sp>
        <p:nvSpPr>
          <p:cNvPr id="21" name="Oval 20"/>
          <p:cNvSpPr/>
          <p:nvPr/>
        </p:nvSpPr>
        <p:spPr>
          <a:xfrm>
            <a:off x="5852160" y="5586984"/>
            <a:ext cx="438912" cy="4389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6</a:t>
            </a:r>
          </a:p>
        </p:txBody>
      </p:sp>
      <p:sp>
        <p:nvSpPr>
          <p:cNvPr id="22" name="TextBox 21"/>
          <p:cNvSpPr txBox="1"/>
          <p:nvPr/>
        </p:nvSpPr>
        <p:spPr>
          <a:xfrm>
            <a:off x="6446520" y="5532120"/>
            <a:ext cx="5285232" cy="548640"/>
          </a:xfrm>
          <a:prstGeom prst="rect">
            <a:avLst/>
          </a:prstGeom>
          <a:noFill/>
        </p:spPr>
        <p:txBody>
          <a:bodyPr wrap="square" lIns="0" rIns="0" tIns="0" bIns="0" anchor="ctr">
            <a:spAutoFit/>
          </a:bodyPr>
          <a:lstStyle/>
          <a:p>
            <a:pPr algn="l"/>
            <a:r>
              <a:rPr sz="1400" b="1">
                <a:solidFill>
                  <a:srgbClr val="C0392B"/>
                </a:solidFill>
                <a:latin typeface="Calibri"/>
              </a:rPr>
              <a:t>Empty promises: </a:t>
            </a:r>
            <a:r>
              <a:rPr sz="1400" b="0">
                <a:solidFill>
                  <a:srgbClr val="1B2A2F"/>
                </a:solidFill>
                <a:latin typeface="Calibri"/>
              </a:rPr>
              <a:t>policy, Terraform and CI files existed but did nothing; the docs promised AI features that did not exist.</a:t>
            </a:r>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E71"/>
                </a:solidFill>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Team Delta">
  <a:themeElements>
    <a:clrScheme name="Team Delta">
      <a:dk1>
        <a:srgbClr val="1B2A2F"/>
      </a:dk1>
      <a:lt1>
        <a:srgbClr val="FFFFFF"/>
      </a:lt1>
      <a:dk2>
        <a:srgbClr val="0B3C49"/>
      </a:dk2>
      <a:lt2>
        <a:srgbClr val="E8F1F2"/>
      </a:lt2>
      <a:accent1>
        <a:srgbClr val="1F7A8C"/>
      </a:accent1>
      <a:accent2>
        <a:srgbClr val="F2A541"/>
      </a:accent2>
      <a:accent3>
        <a:srgbClr val="C0392B"/>
      </a:accent3>
      <a:accent4>
        <a:srgbClr val="2E8B57"/>
      </a:accent4>
      <a:accent5>
        <a:srgbClr val="5F6E71"/>
      </a:accent5>
      <a:accent6>
        <a:srgbClr val="9AA5A8"/>
      </a:accent6>
      <a:hlink>
        <a:srgbClr val="1F5FA8"/>
      </a:hlink>
      <a:folHlink>
        <a:srgbClr val="6B4FA0"/>
      </a:folHlink>
    </a:clrScheme>
    <a:fontScheme name="Team Delt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5213</Words>
  <Application>Microsoft Office PowerPoint</Application>
  <PresentationFormat>Widescreen</PresentationFormat>
  <Paragraphs>925</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Team Delta</vt:lpstr>
      <vt:lpstr>PowerPoint Presentation</vt:lpstr>
      <vt:lpstr>Four questions, one evidence trail</vt:lpstr>
      <vt:lpstr>Controls are proven; value and independence are not yet</vt:lpstr>
      <vt:lpstr>20 stages, six phases, one evidence discipline</vt:lpstr>
      <vt:lpstr>PowerPoint Presentation</vt:lpstr>
      <vt:lpstr>What we inherited: three generations side by side, no control point</vt:lpstr>
      <vt:lpstr>62 findings, five root causes</vt:lpstr>
      <vt:lpstr>PowerPoint Presentation</vt:lpstr>
      <vt:lpstr>Repo 2.0: one control point, ports, and AI behind a gateway</vt:lpstr>
      <vt:lpstr>Repo 1.0 vs 2.0 vs 3.0 at a glance</vt:lpstr>
      <vt:lpstr>Proof: the same 12 attacks, before and after</vt:lpstr>
      <vt:lpstr>PowerPoint Presentation</vt:lpstr>
      <vt:lpstr>Semantic layer v2.0: knowledge owned outside the code and the model</vt:lpstr>
      <vt:lpstr>The rebuild: semantic layer in, application out, then compared</vt:lpstr>
      <vt:lpstr>Same behaviour, not the same repository</vt:lpstr>
      <vt:lpstr>The six capstone comparison areas</vt:lpstr>
      <vt:lpstr>What the layer needs for an identical rebuild</vt:lpstr>
      <vt:lpstr>PowerPoint Presentation</vt:lpstr>
      <vt:lpstr>Readiness: six gates pass; production gates need people and a platform</vt:lpstr>
      <vt:lpstr>What is not proven, stated before anyone asks</vt:lpstr>
      <vt:lpstr>Six asks of the CTO</vt:lpstr>
      <vt:lpstr>PowerPoint Presentation</vt:lpstr>
      <vt:lpstr>PowerPoint Presentation</vt:lpstr>
      <vt:lpstr>One AI summary request, before and after</vt:lpstr>
      <vt:lpstr>Engineering health moved; business KPIs did not, by design</vt:lpstr>
      <vt:lpstr>Earlier second-model test (Stage Q): safety held; AI-output fidelity did not</vt:lpstr>
      <vt:lpstr>How any claim traces to proof</vt:lpstr>
      <vt:lpstr>Rubric evidence coverage by criterion</vt:lpstr>
      <vt:lpstr>Where to find everything</vt:lpstr>
    </vt:vector>
  </TitlesOfParts>
  <Company>Team Delta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Brownfield to Governed AI: CTO briefing v2.2</dc:title>
  <dc:subject>PptxGenJS Presentation</dc:subject>
  <dc:creator>Team Delta (presented by Dinesh Naik)</dc:creator>
  <cp:lastModifiedBy>Dinesh Naik</cp:lastModifiedBy>
  <cp:revision>3</cp:revision>
  <dcterms:created xsi:type="dcterms:W3CDTF">2026-10-13T16:33:09Z</dcterms:created>
  <dcterms:modified xsi:type="dcterms:W3CDTF">2026-10-13T16:59:51Z</dcterms:modified>
</cp:coreProperties>
</file>