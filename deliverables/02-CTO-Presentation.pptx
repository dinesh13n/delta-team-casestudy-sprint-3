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talk (10 minutes)" id="{54cb4dfd-de84-4564-9a23-70c33cd05995}">
          <p14:sldIdLst>
            <p14:sldId id="256"/>
            <p14:sldId id="257"/>
            <p14:sldId id="258"/>
            <p14:sldId id="259"/>
            <p14:sldId id="260"/>
            <p14:sldId id="261"/>
            <p14:sldId id="262"/>
            <p14:sldId id="263"/>
            <p14:sldId id="264"/>
            <p14:sldId id="265"/>
            <p14:sldId id="266"/>
          </p14:sldIdLst>
        </p14:section>
        <p14:section name="Appendix (detail for questions)" id="{6c8cbf52-5170-6881-27ee-754f962f1899}">
          <p14:sldIdLst>
            <p14:sldId id="267"/>
            <p14:sldId id="268"/>
            <p14:sldId id="269"/>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Final disposition of the 62 findings (25 are severity S1)</a:t>
            </a:r>
          </a:p>
        </c:rich>
      </c:tx>
      <c:layout/>
      <c:overlay val="0"/>
    </c:title>
    <c:autoTitleDeleted val="0"/>
    <c:plotArea>
      <c:layout/>
      <c:barChart>
        <c:barDir val="bar"/>
        <c:grouping val="clustered"/>
        <c:varyColors val="0"/>
        <c:ser>
          <c:idx val="0"/>
          <c:order val="0"/>
          <c:tx>
            <c:strRef>
              <c:f>Sheet1!$B$1</c:f>
              <c:strCache>
                <c:ptCount val="1"/>
                <c:pt idx="0">
                  <c:v>Findings</c:v>
                </c:pt>
              </c:strCache>
            </c:strRef>
          </c:tx>
          <c:spPr>
            <a:solidFill>
              <a:srgbClr val="1F7A8C"/>
            </a:solidFill>
            <a:effectLst/>
          </c:spPr>
          <c:invertIfNegative val="0"/>
          <c:dLbls>
            <c:numFmt formatCode="#,##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cat>
            <c:multiLvlStrRef>
              <c:f>Sheet1!$A$2:$A$7</c:f>
              <c:multiLvlStrCache>
                <c:ptCount val="6"/>
                <c:lvl>
                  <c:pt idx="0">
                    <c:v>Fixed</c:v>
                  </c:pt>
                  <c:pt idx="1">
                    <c:v>Fixed in tree</c:v>
                  </c:pt>
                  <c:pt idx="2">
                    <c:v>Partial</c:v>
                  </c:pt>
                  <c:pt idx="3">
                    <c:v>Changed</c:v>
                  </c:pt>
                  <c:pt idx="4">
                    <c:v>Deferred</c:v>
                  </c:pt>
                  <c:pt idx="5">
                    <c:v>Proposed accept</c:v>
                  </c:pt>
                </c:lvl>
              </c:multiLvlStrCache>
            </c:multiLvlStrRef>
          </c:cat>
          <c:val>
            <c:numRef>
              <c:f>Sheet1!$B$2:$B$7</c:f>
              <c:numCache>
                <c:formatCode>General</c:formatCode>
                <c:ptCount val="6"/>
                <c:pt idx="0">
                  <c:v>43</c:v>
                </c:pt>
                <c:pt idx="1">
                  <c:v>4</c:v>
                </c:pt>
                <c:pt idx="2">
                  <c:v>10</c:v>
                </c:pt>
                <c:pt idx="3">
                  <c:v>2</c:v>
                </c:pt>
                <c:pt idx="4">
                  <c:v>2</c:v>
                </c:pt>
                <c:pt idx="5">
                  <c:v>1</c:v>
                </c:pt>
              </c:numCache>
            </c:numRef>
          </c:val>
        </c:ser>
        <c:dLbls>
          <c:numFmt formatCode="#,##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K9 tests and K10 coverage (apps and etl)</a:t>
            </a:r>
          </a:p>
        </c:rich>
      </c:tx>
      <c:layout/>
      <c:overlay val="0"/>
    </c:title>
    <c:autoTitleDeleted val="0"/>
    <c:plotArea>
      <c:layout/>
      <c:barChart>
        <c:barDir val="col"/>
        <c:grouping val="clustered"/>
        <c:varyColors val="0"/>
        <c:ser>
          <c:idx val="0"/>
          <c:order val="0"/>
          <c:tx>
            <c:strRef>
              <c:f>Sheet1!$B$1</c:f>
              <c:strCache>
                <c:ptCount val="1"/>
                <c:pt idx="0">
                  <c:v>Repo 1.0</c:v>
                </c:pt>
              </c:strCache>
            </c:strRef>
          </c:tx>
          <c:spPr>
            <a:solidFill>
              <a:srgbClr val="C0392B"/>
            </a:solidFill>
            <a:effectLst/>
          </c:spPr>
          <c:invertIfNegative val="0"/>
          <c:dLbls>
            <c:numFmt formatCode="#,##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cat>
            <c:multiLvlStrRef>
              <c:f>Sheet1!$A$2:$A$3</c:f>
              <c:multiLvlStrCache>
                <c:ptCount val="2"/>
                <c:lvl>
                  <c:pt idx="0">
                    <c:v>Tests passing</c:v>
                  </c:pt>
                  <c:pt idx="1">
                    <c:v>Coverage %</c:v>
                  </c:pt>
                </c:lvl>
              </c:multiLvlStrCache>
            </c:multiLvlStrRef>
          </c:cat>
          <c:val>
            <c:numRef>
              <c:f>Sheet1!$B$2:$B$3</c:f>
              <c:numCache>
                <c:formatCode>General</c:formatCode>
                <c:ptCount val="2"/>
                <c:pt idx="0">
                  <c:v>3</c:v>
                </c:pt>
                <c:pt idx="1">
                  <c:v>45</c:v>
                </c:pt>
              </c:numCache>
            </c:numRef>
          </c:val>
        </c:ser>
        <c:ser>
          <c:idx val="1"/>
          <c:order val="1"/>
          <c:tx>
            <c:strRef>
              <c:f>Sheet1!$C$1</c:f>
              <c:strCache>
                <c:ptCount val="1"/>
                <c:pt idx="0">
                  <c:v>Repo 2.0</c:v>
                </c:pt>
              </c:strCache>
            </c:strRef>
          </c:tx>
          <c:spPr>
            <a:solidFill>
              <a:srgbClr val="1F7A8C"/>
            </a:solidFill>
            <a:effectLst/>
          </c:spPr>
          <c:invertIfNegative val="0"/>
          <c:dLbls>
            <c:numFmt formatCode="#,##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cat>
            <c:multiLvlStrRef>
              <c:f>Sheet1!$A$2:$A$3</c:f>
              <c:multiLvlStrCache>
                <c:ptCount val="2"/>
                <c:lvl>
                  <c:pt idx="0">
                    <c:v>Tests passing</c:v>
                  </c:pt>
                  <c:pt idx="1">
                    <c:v>Coverage %</c:v>
                  </c:pt>
                </c:lvl>
              </c:multiLvlStrCache>
            </c:multiLvlStrRef>
          </c:cat>
          <c:val>
            <c:numRef>
              <c:f>Sheet1!$C$2:$C$3</c:f>
              <c:numCache>
                <c:formatCode>General</c:formatCode>
                <c:ptCount val="2"/>
                <c:pt idx="0">
                  <c:v>181</c:v>
                </c:pt>
                <c:pt idx="1">
                  <c:v>97</c:v>
                </c:pt>
              </c:numCache>
            </c:numRef>
          </c:val>
        </c:ser>
        <c:dLbls>
          <c:numFmt formatCode="#,##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2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36 sub-dimensions by status</a:t>
            </a:r>
          </a:p>
        </c:rich>
      </c:tx>
      <c:layout/>
      <c:overlay val="0"/>
    </c:title>
    <c:autoTitleDeleted val="0"/>
    <c:plotArea>
      <c:layout/>
      <c:barChart>
        <c:barDir val="bar"/>
        <c:grouping val="stacked"/>
        <c:varyColors val="0"/>
        <c:ser>
          <c:idx val="0"/>
          <c:order val="0"/>
          <c:tx>
            <c:strRef>
              <c:f>Sheet1!$B$1</c:f>
              <c:strCache>
                <c:ptCount val="1"/>
                <c:pt idx="0">
                  <c:v>MET</c:v>
                </c:pt>
              </c:strCache>
            </c:strRef>
          </c:tx>
          <c:spPr>
            <a:solidFill>
              <a:srgbClr val="2E8B57"/>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R1 As-Is (20)</c:v>
                  </c:pt>
                  <c:pt idx="1">
                    <c:v>R2 Repo 2.0 (25)</c:v>
                  </c:pt>
                  <c:pt idx="2">
                    <c:v>R3 Governance (20)</c:v>
                  </c:pt>
                  <c:pt idx="3">
                    <c:v>R4 PRD and app (25)</c:v>
                  </c:pt>
                  <c:pt idx="4">
                    <c:v>R5 Defence (10)</c:v>
                  </c:pt>
                </c:lvl>
              </c:multiLvlStrCache>
            </c:multiLvlStrRef>
          </c:cat>
          <c:val>
            <c:numRef>
              <c:f>Sheet1!$B$2:$B$6</c:f>
              <c:numCache>
                <c:formatCode>General</c:formatCode>
                <c:ptCount val="5"/>
                <c:pt idx="0">
                  <c:v>6</c:v>
                </c:pt>
                <c:pt idx="1">
                  <c:v>5</c:v>
                </c:pt>
                <c:pt idx="2">
                  <c:v>5</c:v>
                </c:pt>
                <c:pt idx="3">
                  <c:v>4</c:v>
                </c:pt>
                <c:pt idx="4">
                  <c:v>4</c:v>
                </c:pt>
              </c:numCache>
            </c:numRef>
          </c:val>
        </c:ser>
        <c:ser>
          <c:idx val="1"/>
          <c:order val="1"/>
          <c:tx>
            <c:strRef>
              <c:f>Sheet1!$C$1</c:f>
              <c:strCache>
                <c:ptCount val="1"/>
                <c:pt idx="0">
                  <c:v>PARTIAL</c:v>
                </c:pt>
              </c:strCache>
            </c:strRef>
          </c:tx>
          <c:spPr>
            <a:solidFill>
              <a:srgbClr val="F2A541"/>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R1 As-Is (20)</c:v>
                  </c:pt>
                  <c:pt idx="1">
                    <c:v>R2 Repo 2.0 (25)</c:v>
                  </c:pt>
                  <c:pt idx="2">
                    <c:v>R3 Governance (20)</c:v>
                  </c:pt>
                  <c:pt idx="3">
                    <c:v>R4 PRD and app (25)</c:v>
                  </c:pt>
                  <c:pt idx="4">
                    <c:v>R5 Defence (10)</c:v>
                  </c:pt>
                </c:lvl>
              </c:multiLvlStrCache>
            </c:multiLvlStrRef>
          </c:cat>
          <c:val>
            <c:numRef>
              <c:f>Sheet1!$C$2:$C$6</c:f>
              <c:numCache>
                <c:formatCode>General</c:formatCode>
                <c:ptCount val="5"/>
                <c:pt idx="0">
                  <c:v>1</c:v>
                </c:pt>
                <c:pt idx="1">
                  <c:v>4</c:v>
                </c:pt>
                <c:pt idx="2">
                  <c:v>2</c:v>
                </c:pt>
                <c:pt idx="3">
                  <c:v>1</c:v>
                </c:pt>
                <c:pt idx="4">
                  <c:v>1</c:v>
                </c:pt>
              </c:numCache>
            </c:numRef>
          </c:val>
        </c:ser>
        <c:ser>
          <c:idx val="2"/>
          <c:order val="2"/>
          <c:tx>
            <c:strRef>
              <c:f>Sheet1!$D$1</c:f>
              <c:strCache>
                <c:ptCount val="1"/>
                <c:pt idx="0">
                  <c:v>NOT MET</c:v>
                </c:pt>
              </c:strCache>
            </c:strRef>
          </c:tx>
          <c:spPr>
            <a:solidFill>
              <a:srgbClr val="C0392B"/>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R1 As-Is (20)</c:v>
                  </c:pt>
                  <c:pt idx="1">
                    <c:v>R2 Repo 2.0 (25)</c:v>
                  </c:pt>
                  <c:pt idx="2">
                    <c:v>R3 Governance (20)</c:v>
                  </c:pt>
                  <c:pt idx="3">
                    <c:v>R4 PRD and app (25)</c:v>
                  </c:pt>
                  <c:pt idx="4">
                    <c:v>R5 Defence (10)</c:v>
                  </c:pt>
                </c:lvl>
              </c:multiLvlStrCache>
            </c:multiLvlStrRef>
          </c:cat>
          <c:val>
            <c:numRef>
              <c:f>Sheet1!$D$2:$D$6</c:f>
              <c:numCache>
                <c:formatCode>General</c:formatCode>
                <c:ptCount val="5"/>
                <c:pt idx="0">
                  <c:v>0</c:v>
                </c:pt>
                <c:pt idx="1">
                  <c:v>0</c:v>
                </c:pt>
                <c:pt idx="2">
                  <c:v>1</c:v>
                </c:pt>
                <c:pt idx="3">
                  <c:v>0</c:v>
                </c:pt>
                <c:pt idx="4">
                  <c:v>0</c:v>
                </c:pt>
              </c:numCache>
            </c:numRef>
          </c:val>
        </c:ser>
        <c:ser>
          <c:idx val="3"/>
          <c:order val="3"/>
          <c:tx>
            <c:strRef>
              <c:f>Sheet1!$E$1</c:f>
              <c:strCache>
                <c:ptCount val="1"/>
                <c:pt idx="0">
                  <c:v>BLOCKED</c:v>
                </c:pt>
              </c:strCache>
            </c:strRef>
          </c:tx>
          <c:spPr>
            <a:solidFill>
              <a:srgbClr val="7B241C"/>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R1 As-Is (20)</c:v>
                  </c:pt>
                  <c:pt idx="1">
                    <c:v>R2 Repo 2.0 (25)</c:v>
                  </c:pt>
                  <c:pt idx="2">
                    <c:v>R3 Governance (20)</c:v>
                  </c:pt>
                  <c:pt idx="3">
                    <c:v>R4 PRD and app (25)</c:v>
                  </c:pt>
                  <c:pt idx="4">
                    <c:v>R5 Defence (10)</c:v>
                  </c:pt>
                </c:lvl>
              </c:multiLvlStrCache>
            </c:multiLvlStrRef>
          </c:cat>
          <c:val>
            <c:numRef>
              <c:f>Sheet1!$E$2:$E$6</c:f>
              <c:numCache>
                <c:formatCode>General</c:formatCode>
                <c:ptCount val="5"/>
                <c:pt idx="0">
                  <c:v>0</c:v>
                </c:pt>
                <c:pt idx="1">
                  <c:v>0</c:v>
                </c:pt>
                <c:pt idx="2">
                  <c:v>1</c:v>
                </c:pt>
                <c:pt idx="3">
                  <c:v>1</c:v>
                </c:pt>
                <c:pt idx="4">
                  <c:v>0</c:v>
                </c:pt>
              </c:numCache>
            </c:numRef>
          </c:val>
        </c:ser>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2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purpose: a readiness decision on a transformed logistics operations repository, with the evidence behind it. Ten minutes of talk, five of questions. Everything shown is in the deliverables folder, and every number traces to a hashed file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verdict. Three numbers carry it: the red team result, the engineering health, and the evidence discipline. Then the decision itself: no production on real data; a controlled pilot on synthetic data is supportable. Say plainly what is not proven before anyone asks: no real model, no deployment, no business benefit measured, no independent reviewer.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Start: the repository as delivered. Six phases: understand, define, build, prove, defend, close out. Each phase box shows its stages and the main result. Underneath: the rules applied in every stage (headers, hashes, citations, tags, exit gates) and the commits that recorded them. End: a defended decision, not a claim of production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 1.0 had legacy batch scripts, a partly modernised API and an AI gateway living next to each other. The API took the caller's role from a header it never checked; the AI endpoint had no authorisation and reported its own guardrail as not enforced; a lookup that missed returned a different record. Policy, Terraform and CI files existed but did nothing. About 140 lines of application code and 3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froze the old behaviour with characterisation tests first, then catalogued 62 findings. 25 are severity S1. 43 are fixed, 4 fixed in the tree (the credentials stay in history), 10 partial, 2 changed by decision, 2 deferred, 1 proposed for acceptance. The five root causes explain why the defects existed; four are confirmed with high confidence, one needs an owner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 2.0 is a modular monolith with ports, chosen over hardening the old monolith or splitting into services; the whole system is too small for network boundaries to pay. Every request passes the token check and the policy engine, which reads its rules from the semantic layer. The AI gateway only suggests, only sees allow-listed fields, and refuses rather than returning an invalid answer. Grey boxes are not built because they need owner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20-row comparison, with findings and evidence for each row, is the 'Repo 1.0 vs 2.0' sheet of the evidence register. Read the status column honestly: identity is fixed with an interim scheme; audit is tamper-evident but still a local file; infrastructure is deferred by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twelve attacks, same requests, run against the delivered code and against Repo 2.0. Ten succeeded before; none succeed now. Two did not succeed even before (RT-08 and RT-10), and we report them as such. Caveat: our own red team, not an independent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Gates were fixed before the decision. G1 to G6 pass at repository level, G7 is partial. G8 to G12 fail, and none of them can be closed by more engineering from us: they need named owners, a platform and identity provider, an independent reviewer and a compliance call. The pilot also carries five conditions: a sponsor accepts the operator in every role; credentials resolved; branch protection on (needs a paid GitHub plan for a private repository); no real data or hosted model; one independent reviewer reads the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limits of the evidence. Each one is also recorded in the residual-risk register with an owner role. None is hidden in a footnote; they are the reason the verdict is a pilot, not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operator has decided all 23 open questions, but one person holds every role. What only the CTO or sponsor can add is independence. These six asks, in order of value, are what moves the readiness gates. The signature block is in docs/44-decisions/cto-signoff-pack.md.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slides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what happened in Repo 1.0. Below: the same request in Repo 2.0. Each check fails closed with its own status code; the model step only sees allowed fields; the answer is checked, falls back, or abstains; the suggestion waits for a person; everything is audited in a hash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K9 and K10 measure engineering health and improved because tests were written. K1 to K8 are computed from a static synthetic fixture the intervention does not touch, so equal before and after is the expected and honest result. No business benefit is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semantic layer holds the business meaning in portable files: Markdown for people, YAML for definitions, JSON Schema for validation, JSON for exchange, tests for integrity. The application reads it at run time for access, data rules and AI rules. Version 2.0 was aligned to the capstone requirement after the transformation, as the brief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smaller model of the same vendor rebuilt a four-behaviour subset from the layer plus the PRD, specifications and a brief, in one blind attempt. On the safety behaviours this harness measures, the builds matched; but the 0 of 12 is partly vacuous, because three AI-path attacks reached the AI only in a post-hoc re-run with an ai_agent token, and Model B left scope and tenant filtering unenforced. They differ where the specification was silent; those eight gaps are now written into the layer but not re-tested. One run, same vendor family, harness written around the first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number in this deck can be followed to a file: the document cites the path and its hash, the folder manifest records how and when it was produced, and the index ties it to findings and rubric criteria. Three scripts re-check all of it from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of sub-dimensions by status, from the rubric coverage matrix. This measures how complete the evidence is, not how many marks an evaluator will give. In our judgement, R3 and R4 are held back by missing people and a missing model, not by missing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the audience at the deliverables folder first, then the repository paths for depth. The evidence register is the single index of every hashed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4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474720"/>
            <a:ext cx="106984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5F6E71"/>
                </a:solidFill>
              </a:rPr>
              <a:t>Delta-Team  ·  Brownfield to Repo 2.0  ·  CTO briefing</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GRAM">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0607040" cy="59436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247120" y="3657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371600"/>
          </a:xfrm>
          <a:prstGeom prst="rect">
            <a:avLst/>
          </a:prstGeom>
          <a:noFill/>
          <a:ln/>
        </p:spPr>
        <p:txBody>
          <a:bodyPr wrap="square" lIns="0" tIns="0" rIns="0" bIns="0" rtlCol="0" anchor="b"/>
          <a:lstStyle/>
          <a:p>
            <a:pPr algn="l" indent="0" marL="0">
              <a:buNone/>
            </a:pPr>
            <a:r>
              <a:rPr lang="en-US" sz="4400" b="1" dirty="0">
                <a:solidFill>
                  <a:schemeClr val="bg1"/>
                </a:solidFill>
              </a:rPr>
              <a:t>Brownfield to Repo 2.0</a:t>
            </a:r>
            <a:endParaRPr lang="en-US" sz="4400" dirty="0"/>
          </a:p>
        </p:txBody>
      </p:sp>
      <p:sp>
        <p:nvSpPr>
          <p:cNvPr id="3" name="Text 0"/>
          <p:cNvSpPr/>
          <p:nvPr>
            <p:ph idx="101" type="body" hasCustomPrompt="1"/>
          </p:nvPr>
        </p:nvSpPr>
        <p:spPr>
          <a:xfrm>
            <a:off x="731520" y="3474720"/>
            <a:ext cx="10698480" cy="1463040"/>
          </a:xfrm>
          <a:prstGeom prst="rect">
            <a:avLst/>
          </a:prstGeom>
          <a:noFill/>
          <a:ln/>
        </p:spPr>
        <p:txBody>
          <a:bodyPr wrap="square" lIns="0" tIns="0" rIns="0" bIns="0" rtlCol="0" anchor="t"/>
          <a:lstStyle/>
          <a:p>
            <a:pPr algn="l" indent="0" marL="0">
              <a:buNone/>
            </a:pPr>
            <a:r>
              <a:rPr lang="en-US" sz="2000" dirty="0">
                <a:solidFill>
                  <a:schemeClr val="bg2"/>
                </a:solidFill>
              </a:rPr>
              <a:t>Logistics shipment, fleet, routing and exception operations</a:t>
            </a:r>
            <a:endParaRPr lang="en-US" sz="2000" dirty="0"/>
          </a:p>
          <a:p>
            <a:pPr algn="l" indent="0" marL="0">
              <a:buNone/>
            </a:pPr>
            <a:r>
              <a:rPr lang="en-US" sz="2000" dirty="0">
                <a:solidFill>
                  <a:schemeClr val="bg2"/>
                </a:solidFill>
              </a:rPr>
              <a:t>What we found, what we changed, how we proved it, and what we need from you</a:t>
            </a:r>
            <a:endParaRPr lang="en-US" sz="2000" dirty="0"/>
          </a:p>
          <a:p>
            <a:pPr algn="l" indent="0" marL="0">
              <a:buNone/>
            </a:pPr>
            <a:r>
              <a:rPr lang="en-US" sz="1600" dirty="0">
                <a:solidFill>
                  <a:schemeClr val="bg2"/>
                </a:solidFill>
              </a:rPr>
              <a:t>Delta-Team  ·  AI-FDE Sprint 3  ·  8 October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2800" b="1" dirty="0">
                <a:solidFill>
                  <a:schemeClr val="tx2"/>
                </a:solidFill>
              </a:rPr>
              <a:t>The answer: controls are proven; value and independence are not yet</a:t>
            </a:r>
            <a:endParaRPr lang="en-US" sz="2800" dirty="0"/>
          </a:p>
        </p:txBody>
      </p:sp>
      <p:sp>
        <p:nvSpPr>
          <p:cNvPr id="4" name="Text 1"/>
          <p:cNvSpPr txBox="1"/>
          <p:nvPr/>
        </p:nvSpPr>
        <p:spPr>
          <a:xfrm>
            <a:off x="548640" y="1234440"/>
            <a:ext cx="3566160" cy="868680"/>
          </a:xfrm>
          <a:prstGeom prst="rect">
            <a:avLst/>
          </a:prstGeom>
          <a:noFill/>
          <a:ln/>
        </p:spPr>
        <p:txBody>
          <a:bodyPr wrap="square" lIns="0" tIns="0" rIns="0" bIns="0" rtlCol="0" anchor="ctr"/>
          <a:lstStyle/>
          <a:p>
            <a:pPr indent="0" marL="0">
              <a:buNone/>
            </a:pPr>
            <a:r>
              <a:rPr lang="en-US" sz="4000" b="1" dirty="0">
                <a:solidFill>
                  <a:srgbClr val="C0392B"/>
                </a:solidFill>
              </a:rPr>
              <a:t>10 → 0</a:t>
            </a:r>
            <a:endParaRPr lang="en-US" sz="4000" dirty="0"/>
          </a:p>
        </p:txBody>
      </p:sp>
      <p:sp>
        <p:nvSpPr>
          <p:cNvPr id="5" name="Text 2"/>
          <p:cNvSpPr txBox="1"/>
          <p:nvPr/>
        </p:nvSpPr>
        <p:spPr>
          <a:xfrm>
            <a:off x="548640" y="2103120"/>
            <a:ext cx="3566160" cy="685800"/>
          </a:xfrm>
          <a:prstGeom prst="rect">
            <a:avLst/>
          </a:prstGeom>
          <a:noFill/>
          <a:ln/>
        </p:spPr>
        <p:txBody>
          <a:bodyPr wrap="square" lIns="0" tIns="0" rIns="0" bIns="0" rtlCol="0" anchor="t"/>
          <a:lstStyle/>
          <a:p>
            <a:pPr indent="0" marL="0">
              <a:buNone/>
            </a:pPr>
            <a:r>
              <a:rPr lang="en-US" sz="1400" dirty="0">
                <a:solidFill>
                  <a:srgbClr val="1B2A2F"/>
                </a:solidFill>
              </a:rPr>
              <a:t>of the same 12 attacks succeed, against Repo 1.0 and then Repo 2.0</a:t>
            </a:r>
            <a:endParaRPr lang="en-US" sz="1400" dirty="0"/>
          </a:p>
        </p:txBody>
      </p:sp>
      <p:sp>
        <p:nvSpPr>
          <p:cNvPr id="6" name="Text 3"/>
          <p:cNvSpPr txBox="1"/>
          <p:nvPr/>
        </p:nvSpPr>
        <p:spPr>
          <a:xfrm>
            <a:off x="4343400" y="1234440"/>
            <a:ext cx="3566160" cy="868680"/>
          </a:xfrm>
          <a:prstGeom prst="rect">
            <a:avLst/>
          </a:prstGeom>
          <a:noFill/>
          <a:ln/>
        </p:spPr>
        <p:txBody>
          <a:bodyPr wrap="square" lIns="0" tIns="0" rIns="0" bIns="0" rtlCol="0" anchor="ctr"/>
          <a:lstStyle/>
          <a:p>
            <a:pPr indent="0" marL="0">
              <a:buNone/>
            </a:pPr>
            <a:r>
              <a:rPr lang="en-US" sz="4000" b="1" dirty="0">
                <a:solidFill>
                  <a:srgbClr val="1F7A8C"/>
                </a:solidFill>
              </a:rPr>
              <a:t>3 → 181</a:t>
            </a:r>
            <a:endParaRPr lang="en-US" sz="4000" dirty="0"/>
          </a:p>
        </p:txBody>
      </p:sp>
      <p:sp>
        <p:nvSpPr>
          <p:cNvPr id="7" name="Text 4"/>
          <p:cNvSpPr txBox="1"/>
          <p:nvPr/>
        </p:nvSpPr>
        <p:spPr>
          <a:xfrm>
            <a:off x="4343400" y="2103120"/>
            <a:ext cx="3566160" cy="685800"/>
          </a:xfrm>
          <a:prstGeom prst="rect">
            <a:avLst/>
          </a:prstGeom>
          <a:noFill/>
          <a:ln/>
        </p:spPr>
        <p:txBody>
          <a:bodyPr wrap="square" lIns="0" tIns="0" rIns="0" bIns="0" rtlCol="0" anchor="t"/>
          <a:lstStyle/>
          <a:p>
            <a:pPr indent="0" marL="0">
              <a:buNone/>
            </a:pPr>
            <a:r>
              <a:rPr lang="en-US" sz="1400" dirty="0">
                <a:solidFill>
                  <a:srgbClr val="1B2A2F"/>
                </a:solidFill>
              </a:rPr>
              <a:t>tests passing; coverage 45% → 97% on application and ETL code</a:t>
            </a:r>
            <a:endParaRPr lang="en-US" sz="1400" dirty="0"/>
          </a:p>
        </p:txBody>
      </p:sp>
      <p:sp>
        <p:nvSpPr>
          <p:cNvPr id="8" name="Text 5"/>
          <p:cNvSpPr txBox="1"/>
          <p:nvPr/>
        </p:nvSpPr>
        <p:spPr>
          <a:xfrm>
            <a:off x="8138160" y="1234440"/>
            <a:ext cx="3566160" cy="868680"/>
          </a:xfrm>
          <a:prstGeom prst="rect">
            <a:avLst/>
          </a:prstGeom>
          <a:noFill/>
          <a:ln/>
        </p:spPr>
        <p:txBody>
          <a:bodyPr wrap="square" lIns="0" tIns="0" rIns="0" bIns="0" rtlCol="0" anchor="ctr"/>
          <a:lstStyle/>
          <a:p>
            <a:pPr indent="0" marL="0">
              <a:buNone/>
            </a:pPr>
            <a:r>
              <a:rPr lang="en-US" sz="4000" b="1" dirty="0">
                <a:solidFill>
                  <a:srgbClr val="0B3C49"/>
                </a:solidFill>
              </a:rPr>
              <a:t>146</a:t>
            </a:r>
            <a:endParaRPr lang="en-US" sz="4000" dirty="0"/>
          </a:p>
        </p:txBody>
      </p:sp>
      <p:sp>
        <p:nvSpPr>
          <p:cNvPr id="9" name="Text 6"/>
          <p:cNvSpPr txBox="1"/>
          <p:nvPr/>
        </p:nvSpPr>
        <p:spPr>
          <a:xfrm>
            <a:off x="8138160" y="2103120"/>
            <a:ext cx="3566160" cy="685800"/>
          </a:xfrm>
          <a:prstGeom prst="rect">
            <a:avLst/>
          </a:prstGeom>
          <a:noFill/>
          <a:ln/>
        </p:spPr>
        <p:txBody>
          <a:bodyPr wrap="square" lIns="0" tIns="0" rIns="0" bIns="0" rtlCol="0" anchor="t"/>
          <a:lstStyle/>
          <a:p>
            <a:pPr indent="0" marL="0">
              <a:buNone/>
            </a:pPr>
            <a:r>
              <a:rPr lang="en-US" sz="1400" dirty="0">
                <a:solidFill>
                  <a:srgbClr val="1B2A2F"/>
                </a:solidFill>
              </a:rPr>
              <a:t>evidence files, each SHA-256 hashed; 203 of 203 document citations verified</a:t>
            </a:r>
            <a:endParaRPr lang="en-US" sz="1400" dirty="0"/>
          </a:p>
        </p:txBody>
      </p:sp>
      <p:sp>
        <p:nvSpPr>
          <p:cNvPr id="10" name="Shape 7"/>
          <p:cNvSpPr/>
          <p:nvPr/>
        </p:nvSpPr>
        <p:spPr>
          <a:xfrm>
            <a:off x="548640" y="3337560"/>
            <a:ext cx="5440680" cy="1325880"/>
          </a:xfrm>
          <a:prstGeom prst="roundRect">
            <a:avLst>
              <a:gd name="adj" fmla="val 5517"/>
            </a:avLst>
          </a:prstGeom>
          <a:solidFill>
            <a:srgbClr val="FCEBEA"/>
          </a:solidFill>
          <a:ln/>
        </p:spPr>
      </p:sp>
      <p:sp>
        <p:nvSpPr>
          <p:cNvPr id="11" name="Text 8"/>
          <p:cNvSpPr txBox="1"/>
          <p:nvPr/>
        </p:nvSpPr>
        <p:spPr>
          <a:xfrm>
            <a:off x="731520" y="3429000"/>
            <a:ext cx="5120640" cy="1143000"/>
          </a:xfrm>
          <a:prstGeom prst="rect">
            <a:avLst/>
          </a:prstGeom>
          <a:noFill/>
          <a:ln/>
        </p:spPr>
        <p:txBody>
          <a:bodyPr wrap="square" lIns="0" tIns="0" rIns="0" bIns="0" rtlCol="0" anchor="t"/>
          <a:lstStyle/>
          <a:p>
            <a:pPr indent="0" marL="0">
              <a:buNone/>
            </a:pPr>
            <a:r>
              <a:rPr lang="en-US" sz="2400" b="1" dirty="0">
                <a:solidFill>
                  <a:srgbClr val="C0392B"/>
                </a:solidFill>
              </a:rPr>
              <a:t>NO-GO</a:t>
            </a:r>
            <a:endParaRPr lang="en-US" sz="2400" dirty="0"/>
          </a:p>
          <a:p>
            <a:pPr indent="0" marL="0">
              <a:buNone/>
            </a:pPr>
            <a:r>
              <a:rPr lang="en-US" sz="1400" dirty="0">
                <a:solidFill>
                  <a:srgbClr val="1B2A2F"/>
                </a:solidFill>
              </a:rPr>
              <a:t>Production on real data: 5 of 12 readiness gates fail, and they need people and a platform, not more code</a:t>
            </a:r>
            <a:endParaRPr lang="en-US" sz="2400" dirty="0"/>
          </a:p>
        </p:txBody>
      </p:sp>
      <p:sp>
        <p:nvSpPr>
          <p:cNvPr id="12" name="Shape 9"/>
          <p:cNvSpPr/>
          <p:nvPr/>
        </p:nvSpPr>
        <p:spPr>
          <a:xfrm>
            <a:off x="6263640" y="3337560"/>
            <a:ext cx="5440680" cy="1325880"/>
          </a:xfrm>
          <a:prstGeom prst="roundRect">
            <a:avLst>
              <a:gd name="adj" fmla="val 5517"/>
            </a:avLst>
          </a:prstGeom>
          <a:solidFill>
            <a:srgbClr val="E5F3EB"/>
          </a:solidFill>
          <a:ln/>
        </p:spPr>
      </p:sp>
      <p:sp>
        <p:nvSpPr>
          <p:cNvPr id="13" name="Text 10"/>
          <p:cNvSpPr txBox="1"/>
          <p:nvPr/>
        </p:nvSpPr>
        <p:spPr>
          <a:xfrm>
            <a:off x="6446520" y="3429000"/>
            <a:ext cx="5120640" cy="1143000"/>
          </a:xfrm>
          <a:prstGeom prst="rect">
            <a:avLst/>
          </a:prstGeom>
          <a:noFill/>
          <a:ln/>
        </p:spPr>
        <p:txBody>
          <a:bodyPr wrap="square" lIns="0" tIns="0" rIns="0" bIns="0" rtlCol="0" anchor="t"/>
          <a:lstStyle/>
          <a:p>
            <a:pPr indent="0" marL="0">
              <a:buNone/>
            </a:pPr>
            <a:r>
              <a:rPr lang="en-US" sz="2400" b="1" dirty="0">
                <a:solidFill>
                  <a:srgbClr val="2E8B57"/>
                </a:solidFill>
              </a:rPr>
              <a:t>CONDITIONAL GO</a:t>
            </a:r>
            <a:endParaRPr lang="en-US" sz="2400" dirty="0"/>
          </a:p>
          <a:p>
            <a:pPr indent="0" marL="0">
              <a:buNone/>
            </a:pPr>
            <a:r>
              <a:rPr lang="en-US" sz="1400" dirty="0">
                <a:solidFill>
                  <a:srgbClr val="1B2A2F"/>
                </a:solidFill>
              </a:rPr>
              <a:t>Controlled pilot on synthetic data, local or test environment: G1 to G6 pass, G7 partial, and five conditions apply (slide 9)</a:t>
            </a:r>
            <a:endParaRPr lang="en-US" sz="2400" dirty="0"/>
          </a:p>
        </p:txBody>
      </p:sp>
      <p:sp>
        <p:nvSpPr>
          <p:cNvPr id="14" name="Text 11"/>
          <p:cNvSpPr txBox="1"/>
          <p:nvPr/>
        </p:nvSpPr>
        <p:spPr>
          <a:xfrm>
            <a:off x="548640" y="4983480"/>
            <a:ext cx="11155680" cy="731520"/>
          </a:xfrm>
          <a:prstGeom prst="rect">
            <a:avLst/>
          </a:prstGeom>
          <a:noFill/>
          <a:ln/>
        </p:spPr>
        <p:txBody>
          <a:bodyPr wrap="square" lIns="0" tIns="0" rIns="0" bIns="0" rtlCol="0" anchor="t"/>
          <a:lstStyle/>
          <a:p>
            <a:pPr indent="0" marL="0">
              <a:buNone/>
            </a:pPr>
            <a:r>
              <a:rPr lang="en-US" sz="1500" b="1" dirty="0">
                <a:solidFill>
                  <a:srgbClr val="C0392B"/>
                </a:solidFill>
              </a:rPr>
              <a:t>Not proven: </a:t>
            </a:r>
            <a:pPr indent="0" marL="0">
              <a:buNone/>
            </a:pPr>
            <a:r>
              <a:rPr lang="en-US" sz="1500" dirty="0">
                <a:solidFill>
                  <a:srgbClr val="1B2A2F"/>
                </a:solidFill>
              </a:rPr>
              <a:t>no real AI model was ever called; nothing is deployed; no business KPI moved; one operator and one agent built, tested and graded the work.</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0607040" cy="594360"/>
          </a:xfrm>
          <a:prstGeom prst="rect">
            <a:avLst/>
          </a:prstGeom>
          <a:noFill/>
          <a:ln/>
        </p:spPr>
        <p:txBody>
          <a:bodyPr wrap="square" lIns="0" tIns="0" rIns="0" bIns="0" rtlCol="0" anchor="ctr"/>
          <a:lstStyle/>
          <a:p>
            <a:pPr algn="l" indent="0" marL="0">
              <a:buNone/>
            </a:pPr>
            <a:r>
              <a:rPr lang="en-US" sz="2600" b="1" dirty="0">
                <a:solidFill>
                  <a:schemeClr val="tx2"/>
                </a:solidFill>
              </a:rPr>
              <a:t>The journey: 20 stages, six phases, one evidence discipline</a:t>
            </a:r>
            <a:endParaRPr lang="en-US" sz="2600" dirty="0"/>
          </a:p>
        </p:txBody>
      </p:sp>
      <p:sp>
        <p:nvSpPr>
          <p:cNvPr id="4" name="01-journey-start-to-goal:start"/>
          <p:cNvSpPr txBox="1"/>
          <p:nvPr/>
        </p:nvSpPr>
        <p:spPr>
          <a:xfrm>
            <a:off x="320254" y="1236980"/>
            <a:ext cx="1374815" cy="2661285"/>
          </a:xfrm>
          <a:prstGeom prst="roundRect">
            <a:avLst>
              <a:gd name="adj" fmla="val 3991"/>
            </a:avLst>
          </a:prstGeom>
          <a:solidFill>
            <a:srgbClr val="C0392B"/>
          </a:solidFill>
          <a:ln w="15875">
            <a:solidFill>
              <a:srgbClr val="C0392B"/>
            </a:solidFill>
            <a:prstDash val="solid"/>
          </a:ln>
        </p:spPr>
        <p:txBody>
          <a:bodyPr wrap="square" lIns="25400" tIns="50800" rIns="50800" bIns="254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START</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Repo 1.0 as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delivered</a:t>
            </a:r>
            <a:endParaRPr lang="en-US" sz="1100" dirty="0"/>
          </a:p>
          <a:p>
            <a:pPr algn="l" indent="0" marL="0">
              <a:buNone/>
            </a:pP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Quick-start</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fails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Any caller</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claims any</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role</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AI answers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unchecked</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Wrong record</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on a miss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No usable</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audit</a:t>
            </a:r>
            <a:endParaRPr lang="en-US" sz="1100" dirty="0"/>
          </a:p>
        </p:txBody>
      </p:sp>
      <p:sp>
        <p:nvSpPr>
          <p:cNvPr id="5" name="01-journey-start-to-goal:goal"/>
          <p:cNvSpPr txBox="1"/>
          <p:nvPr/>
        </p:nvSpPr>
        <p:spPr>
          <a:xfrm>
            <a:off x="10493883" y="1236980"/>
            <a:ext cx="1374815" cy="2661285"/>
          </a:xfrm>
          <a:prstGeom prst="roundRect">
            <a:avLst>
              <a:gd name="adj" fmla="val 3991"/>
            </a:avLst>
          </a:prstGeom>
          <a:solidFill>
            <a:srgbClr val="2E8B57"/>
          </a:solidFill>
          <a:ln w="15875">
            <a:solidFill>
              <a:srgbClr val="2E8B57"/>
            </a:solidFill>
            <a:prstDash val="solid"/>
          </a:ln>
        </p:spPr>
        <p:txBody>
          <a:bodyPr wrap="square" lIns="25400" tIns="50800" rIns="50800" bIns="254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GOAL</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A defended</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decision</a:t>
            </a:r>
            <a:endParaRPr lang="en-US" sz="1100" dirty="0"/>
          </a:p>
          <a:p>
            <a:pPr algn="l" indent="0" marL="0">
              <a:buNone/>
            </a:pP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Production on</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real data:</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NO-GO</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Pilot on</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synthetic</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data:</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CONDITIONAL GO</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Six asks of</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the CTO</a:t>
            </a:r>
            <a:endParaRPr lang="en-US" sz="1100" dirty="0"/>
          </a:p>
        </p:txBody>
      </p:sp>
      <p:sp>
        <p:nvSpPr>
          <p:cNvPr id="6" name="01-journey-start-to-goal:h0"/>
          <p:cNvSpPr txBox="1"/>
          <p:nvPr/>
        </p:nvSpPr>
        <p:spPr>
          <a:xfrm>
            <a:off x="1832550" y="1236980"/>
            <a:ext cx="1338153" cy="499999"/>
          </a:xfrm>
          <a:prstGeom prst="roundRect">
            <a:avLst>
              <a:gd name="adj" fmla="val 10973"/>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 Understand</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Stages A–C</a:t>
            </a:r>
            <a:endParaRPr lang="en-US" sz="1100" dirty="0"/>
          </a:p>
        </p:txBody>
      </p:sp>
      <p:sp>
        <p:nvSpPr>
          <p:cNvPr id="7" name="01-journey-start-to-goal:c0"/>
          <p:cNvSpPr txBox="1"/>
          <p:nvPr/>
        </p:nvSpPr>
        <p:spPr>
          <a:xfrm>
            <a:off x="1832550" y="1817624"/>
            <a:ext cx="1338153" cy="1209675"/>
          </a:xfrm>
          <a:prstGeom prst="roundRect">
            <a:avLst>
              <a:gd name="adj" fmla="val 4535"/>
            </a:avLst>
          </a:prstGeom>
          <a:solidFill>
            <a:srgbClr val="FFFFFF"/>
          </a:solidFill>
          <a:ln w="15875">
            <a:solidFill>
              <a:srgbClr val="1F7A8C"/>
            </a:solidFill>
            <a:prstDash val="solid"/>
          </a:ln>
        </p:spPr>
        <p:txBody>
          <a:bodyPr wrap="square" lIns="25400" tIns="50800" rIns="50800" bIns="25400" rtlCol="0" anchor="ctr"/>
          <a:lstStyle/>
          <a:p>
            <a:pPr algn="l" indent="0" marL="0">
              <a:buNone/>
            </a:pPr>
            <a:r>
              <a:rPr lang="en-US" sz="1020" b="1" dirty="0">
                <a:solidFill>
                  <a:srgbClr val="0B3C49"/>
                </a:solidFill>
                <a:latin typeface="Calibri" pitchFamily="34" charset="0"/>
                <a:ea typeface="Calibri" pitchFamily="34" charset="-122"/>
                <a:cs typeface="Calibri" pitchFamily="34" charset="-120"/>
              </a:rPr>
              <a:t>Stages</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A Mobilise</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B Problem, value</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C Baseline, root</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cause</a:t>
            </a:r>
            <a:endParaRPr lang="en-US" sz="1020" dirty="0"/>
          </a:p>
        </p:txBody>
      </p:sp>
      <p:sp>
        <p:nvSpPr>
          <p:cNvPr id="8" name="01-journey-start-to-goal:o0"/>
          <p:cNvSpPr txBox="1"/>
          <p:nvPr/>
        </p:nvSpPr>
        <p:spPr>
          <a:xfrm>
            <a:off x="1832550" y="3107944"/>
            <a:ext cx="1338153" cy="790321"/>
          </a:xfrm>
          <a:prstGeom prst="roundRect">
            <a:avLst>
              <a:gd name="adj" fmla="val 6942"/>
            </a:avLst>
          </a:prstGeom>
          <a:solidFill>
            <a:srgbClr val="E5F3EB"/>
          </a:solidFill>
          <a:ln w="15875">
            <a:solidFill>
              <a:srgbClr val="2E8B57"/>
            </a:solidFill>
            <a:prstDash val="solid"/>
          </a:ln>
        </p:spPr>
        <p:txBody>
          <a:bodyPr wrap="square" lIns="25400" tIns="50800" rIns="50800" bIns="25400" rtlCol="0" anchor="ctr"/>
          <a:lstStyle/>
          <a:p>
            <a:pPr algn="l" indent="0" marL="0">
              <a:buNone/>
            </a:pPr>
            <a:r>
              <a:rPr lang="en-US" sz="950" b="1" dirty="0">
                <a:solidFill>
                  <a:srgbClr val="1E5631"/>
                </a:solidFill>
                <a:latin typeface="Calibri" pitchFamily="34" charset="0"/>
                <a:ea typeface="Calibri" pitchFamily="34" charset="-122"/>
                <a:cs typeface="Calibri" pitchFamily="34" charset="-120"/>
              </a:rPr>
              <a:t>62 findings</a:t>
            </a:r>
            <a:endParaRPr lang="en-US" sz="950" dirty="0"/>
          </a:p>
          <a:p>
            <a:pPr algn="l" indent="0" marL="0">
              <a:buNone/>
            </a:pPr>
            <a:r>
              <a:rPr lang="en-US" sz="950" dirty="0">
                <a:solidFill>
                  <a:srgbClr val="1E5631"/>
                </a:solidFill>
                <a:latin typeface="Calibri" pitchFamily="34" charset="0"/>
                <a:ea typeface="Calibri" pitchFamily="34" charset="-122"/>
                <a:cs typeface="Calibri" pitchFamily="34" charset="-120"/>
              </a:rPr>
              <a:t>5 root causes</a:t>
            </a:r>
            <a:endParaRPr lang="en-US" sz="950" dirty="0"/>
          </a:p>
          <a:p>
            <a:pPr algn="l" indent="0" marL="0">
              <a:buNone/>
            </a:pPr>
            <a:r>
              <a:rPr lang="en-US" sz="950" dirty="0">
                <a:solidFill>
                  <a:srgbClr val="1E5631"/>
                </a:solidFill>
                <a:latin typeface="Calibri" pitchFamily="34" charset="0"/>
                <a:ea typeface="Calibri" pitchFamily="34" charset="-122"/>
                <a:cs typeface="Calibri" pitchFamily="34" charset="-120"/>
              </a:rPr>
              <a:t>Behaviour frozen</a:t>
            </a:r>
            <a:endParaRPr lang="en-US" sz="950" dirty="0"/>
          </a:p>
          <a:p>
            <a:pPr algn="l" indent="0" marL="0">
              <a:buNone/>
            </a:pPr>
            <a:r>
              <a:rPr lang="en-US" sz="950" dirty="0">
                <a:solidFill>
                  <a:srgbClr val="1E5631"/>
                </a:solidFill>
                <a:latin typeface="Calibri" pitchFamily="34" charset="0"/>
                <a:ea typeface="Calibri" pitchFamily="34" charset="-122"/>
                <a:cs typeface="Calibri" pitchFamily="34" charset="-120"/>
              </a:rPr>
              <a:t>in tests</a:t>
            </a:r>
            <a:endParaRPr lang="en-US" sz="950" dirty="0"/>
          </a:p>
        </p:txBody>
      </p:sp>
      <p:sp>
        <p:nvSpPr>
          <p:cNvPr id="9" name="01-journey-start-to-goal:h1"/>
          <p:cNvSpPr txBox="1"/>
          <p:nvPr/>
        </p:nvSpPr>
        <p:spPr>
          <a:xfrm>
            <a:off x="3271523" y="1236980"/>
            <a:ext cx="1338153" cy="499999"/>
          </a:xfrm>
          <a:prstGeom prst="roundRect">
            <a:avLst>
              <a:gd name="adj" fmla="val 10973"/>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Define</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Stages D–G</a:t>
            </a:r>
            <a:endParaRPr lang="en-US" sz="1100" dirty="0"/>
          </a:p>
        </p:txBody>
      </p:sp>
      <p:sp>
        <p:nvSpPr>
          <p:cNvPr id="10" name="01-journey-start-to-goal:c1"/>
          <p:cNvSpPr txBox="1"/>
          <p:nvPr/>
        </p:nvSpPr>
        <p:spPr>
          <a:xfrm>
            <a:off x="3271523" y="1817624"/>
            <a:ext cx="1338153" cy="1209675"/>
          </a:xfrm>
          <a:prstGeom prst="roundRect">
            <a:avLst>
              <a:gd name="adj" fmla="val 4535"/>
            </a:avLst>
          </a:prstGeom>
          <a:solidFill>
            <a:srgbClr val="FFFFFF"/>
          </a:solidFill>
          <a:ln w="15875">
            <a:solidFill>
              <a:srgbClr val="1F7A8C"/>
            </a:solidFill>
            <a:prstDash val="solid"/>
          </a:ln>
        </p:spPr>
        <p:txBody>
          <a:bodyPr wrap="square" lIns="25400" tIns="50800" rIns="50800" bIns="25400" rtlCol="0" anchor="ctr"/>
          <a:lstStyle/>
          <a:p>
            <a:pPr algn="l" indent="0" marL="0">
              <a:buNone/>
            </a:pPr>
            <a:r>
              <a:rPr lang="en-US" sz="1020" b="1" dirty="0">
                <a:solidFill>
                  <a:srgbClr val="0B3C49"/>
                </a:solidFill>
                <a:latin typeface="Calibri" pitchFamily="34" charset="0"/>
                <a:ea typeface="Calibri" pitchFamily="34" charset="-122"/>
                <a:cs typeface="Calibri" pitchFamily="34" charset="-120"/>
              </a:rPr>
              <a:t>Stages</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D Semantic layer</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E AI choice, PRD</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F Architecture,</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specs</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G Migration plan</a:t>
            </a:r>
            <a:endParaRPr lang="en-US" sz="1020" dirty="0"/>
          </a:p>
        </p:txBody>
      </p:sp>
      <p:sp>
        <p:nvSpPr>
          <p:cNvPr id="11" name="01-journey-start-to-goal:o1"/>
          <p:cNvSpPr txBox="1"/>
          <p:nvPr/>
        </p:nvSpPr>
        <p:spPr>
          <a:xfrm>
            <a:off x="3271523" y="3107944"/>
            <a:ext cx="1338153" cy="790321"/>
          </a:xfrm>
          <a:prstGeom prst="roundRect">
            <a:avLst>
              <a:gd name="adj" fmla="val 6942"/>
            </a:avLst>
          </a:prstGeom>
          <a:solidFill>
            <a:srgbClr val="E5F3EB"/>
          </a:solidFill>
          <a:ln w="15875">
            <a:solidFill>
              <a:srgbClr val="2E8B57"/>
            </a:solidFill>
            <a:prstDash val="solid"/>
          </a:ln>
        </p:spPr>
        <p:txBody>
          <a:bodyPr wrap="square" lIns="25400" tIns="50800" rIns="50800" bIns="25400" rtlCol="0" anchor="ctr"/>
          <a:lstStyle/>
          <a:p>
            <a:pPr algn="l" indent="0" marL="0">
              <a:buNone/>
            </a:pPr>
            <a:r>
              <a:rPr lang="en-US" sz="950" b="1" dirty="0">
                <a:solidFill>
                  <a:srgbClr val="1E5631"/>
                </a:solidFill>
                <a:latin typeface="Calibri" pitchFamily="34" charset="0"/>
                <a:ea typeface="Calibri" pitchFamily="34" charset="-122"/>
                <a:cs typeface="Calibri" pitchFamily="34" charset="-120"/>
              </a:rPr>
              <a:t>Layer v1 with</a:t>
            </a:r>
            <a:endParaRPr lang="en-US" sz="950" dirty="0"/>
          </a:p>
          <a:p>
            <a:pPr algn="l" indent="0" marL="0">
              <a:buNone/>
            </a:pPr>
            <a:r>
              <a:rPr lang="en-US" sz="950" dirty="0">
                <a:solidFill>
                  <a:srgbClr val="1E5631"/>
                </a:solidFill>
                <a:latin typeface="Calibri" pitchFamily="34" charset="0"/>
                <a:ea typeface="Calibri" pitchFamily="34" charset="-122"/>
                <a:cs typeface="Calibri" pitchFamily="34" charset="-120"/>
              </a:rPr>
              <a:t>tests</a:t>
            </a:r>
            <a:endParaRPr lang="en-US" sz="950" dirty="0"/>
          </a:p>
          <a:p>
            <a:pPr algn="l" indent="0" marL="0">
              <a:buNone/>
            </a:pPr>
            <a:r>
              <a:rPr lang="en-US" sz="950" dirty="0">
                <a:solidFill>
                  <a:srgbClr val="1E5631"/>
                </a:solidFill>
                <a:latin typeface="Calibri" pitchFamily="34" charset="0"/>
                <a:ea typeface="Calibri" pitchFamily="34" charset="-122"/>
                <a:cs typeface="Calibri" pitchFamily="34" charset="-120"/>
              </a:rPr>
              <a:t>ADR-0002 to 0010</a:t>
            </a:r>
            <a:endParaRPr lang="en-US" sz="950" dirty="0"/>
          </a:p>
          <a:p>
            <a:pPr algn="l" indent="0" marL="0">
              <a:buNone/>
            </a:pPr>
            <a:r>
              <a:rPr lang="en-US" sz="950" dirty="0">
                <a:solidFill>
                  <a:srgbClr val="1E5631"/>
                </a:solidFill>
                <a:latin typeface="Calibri" pitchFamily="34" charset="0"/>
                <a:ea typeface="Calibri" pitchFamily="34" charset="-122"/>
                <a:cs typeface="Calibri" pitchFamily="34" charset="-120"/>
              </a:rPr>
              <a:t>48 requirements</a:t>
            </a:r>
            <a:endParaRPr lang="en-US" sz="950" dirty="0"/>
          </a:p>
          <a:p>
            <a:pPr algn="l" indent="0" marL="0">
              <a:buNone/>
            </a:pPr>
            <a:r>
              <a:rPr lang="en-US" sz="950" dirty="0">
                <a:solidFill>
                  <a:srgbClr val="1E5631"/>
                </a:solidFill>
                <a:latin typeface="Calibri" pitchFamily="34" charset="0"/>
                <a:ea typeface="Calibri" pitchFamily="34" charset="-122"/>
                <a:cs typeface="Calibri" pitchFamily="34" charset="-120"/>
              </a:rPr>
              <a:t>traced</a:t>
            </a:r>
            <a:endParaRPr lang="en-US" sz="950" dirty="0"/>
          </a:p>
        </p:txBody>
      </p:sp>
      <p:sp>
        <p:nvSpPr>
          <p:cNvPr id="12" name="01-journey-start-to-goal:h2"/>
          <p:cNvSpPr txBox="1"/>
          <p:nvPr/>
        </p:nvSpPr>
        <p:spPr>
          <a:xfrm>
            <a:off x="4710496" y="1236980"/>
            <a:ext cx="1338153" cy="499999"/>
          </a:xfrm>
          <a:prstGeom prst="roundRect">
            <a:avLst>
              <a:gd name="adj" fmla="val 10973"/>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 Build</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Stages H–J</a:t>
            </a:r>
            <a:endParaRPr lang="en-US" sz="1100" dirty="0"/>
          </a:p>
        </p:txBody>
      </p:sp>
      <p:sp>
        <p:nvSpPr>
          <p:cNvPr id="13" name="01-journey-start-to-goal:c2"/>
          <p:cNvSpPr txBox="1"/>
          <p:nvPr/>
        </p:nvSpPr>
        <p:spPr>
          <a:xfrm>
            <a:off x="4710496" y="1817624"/>
            <a:ext cx="1338153" cy="1209675"/>
          </a:xfrm>
          <a:prstGeom prst="roundRect">
            <a:avLst>
              <a:gd name="adj" fmla="val 4535"/>
            </a:avLst>
          </a:prstGeom>
          <a:solidFill>
            <a:srgbClr val="FFFFFF"/>
          </a:solidFill>
          <a:ln w="15875">
            <a:solidFill>
              <a:srgbClr val="1F7A8C"/>
            </a:solidFill>
            <a:prstDash val="solid"/>
          </a:ln>
        </p:spPr>
        <p:txBody>
          <a:bodyPr wrap="square" lIns="25400" tIns="50800" rIns="50800" bIns="25400" rtlCol="0" anchor="ctr"/>
          <a:lstStyle/>
          <a:p>
            <a:pPr algn="l" indent="0" marL="0">
              <a:buNone/>
            </a:pPr>
            <a:r>
              <a:rPr lang="en-US" sz="1020" b="1" dirty="0">
                <a:solidFill>
                  <a:srgbClr val="0B3C49"/>
                </a:solidFill>
                <a:latin typeface="Calibri" pitchFamily="34" charset="0"/>
                <a:ea typeface="Calibri" pitchFamily="34" charset="-122"/>
                <a:cs typeface="Calibri" pitchFamily="34" charset="-120"/>
              </a:rPr>
              <a:t>Stages</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H Repo 2.0</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I Delivery PRD</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J AI core, app,</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integration</a:t>
            </a:r>
            <a:endParaRPr lang="en-US" sz="1020" dirty="0"/>
          </a:p>
        </p:txBody>
      </p:sp>
      <p:sp>
        <p:nvSpPr>
          <p:cNvPr id="14" name="01-journey-start-to-goal:o2"/>
          <p:cNvSpPr txBox="1"/>
          <p:nvPr/>
        </p:nvSpPr>
        <p:spPr>
          <a:xfrm>
            <a:off x="4710496" y="3107944"/>
            <a:ext cx="1338153" cy="790321"/>
          </a:xfrm>
          <a:prstGeom prst="roundRect">
            <a:avLst>
              <a:gd name="adj" fmla="val 6942"/>
            </a:avLst>
          </a:prstGeom>
          <a:solidFill>
            <a:srgbClr val="E5F3EB"/>
          </a:solidFill>
          <a:ln w="15875">
            <a:solidFill>
              <a:srgbClr val="2E8B57"/>
            </a:solidFill>
            <a:prstDash val="solid"/>
          </a:ln>
        </p:spPr>
        <p:txBody>
          <a:bodyPr wrap="square" lIns="25400" tIns="50800" rIns="50800" bIns="25400" rtlCol="0" anchor="ctr"/>
          <a:lstStyle/>
          <a:p>
            <a:pPr algn="l" indent="0" marL="0">
              <a:buNone/>
            </a:pPr>
            <a:r>
              <a:rPr lang="en-US" sz="950" b="1" dirty="0">
                <a:solidFill>
                  <a:srgbClr val="1E5631"/>
                </a:solidFill>
                <a:latin typeface="Calibri" pitchFamily="34" charset="0"/>
                <a:ea typeface="Calibri" pitchFamily="34" charset="-122"/>
                <a:cs typeface="Calibri" pitchFamily="34" charset="-120"/>
              </a:rPr>
              <a:t>181 tests pass</a:t>
            </a:r>
            <a:endParaRPr lang="en-US" sz="950" dirty="0"/>
          </a:p>
          <a:p>
            <a:pPr algn="l" indent="0" marL="0">
              <a:buNone/>
            </a:pPr>
            <a:r>
              <a:rPr lang="en-US" sz="950" dirty="0">
                <a:solidFill>
                  <a:srgbClr val="1E5631"/>
                </a:solidFill>
                <a:latin typeface="Calibri" pitchFamily="34" charset="0"/>
                <a:ea typeface="Calibri" pitchFamily="34" charset="-122"/>
                <a:cs typeface="Calibri" pitchFamily="34" charset="-120"/>
              </a:rPr>
              <a:t>97% coverage</a:t>
            </a:r>
            <a:endParaRPr lang="en-US" sz="950" dirty="0"/>
          </a:p>
          <a:p>
            <a:pPr algn="l" indent="0" marL="0">
              <a:buNone/>
            </a:pPr>
            <a:r>
              <a:rPr lang="en-US" sz="950" dirty="0">
                <a:solidFill>
                  <a:srgbClr val="1E5631"/>
                </a:solidFill>
                <a:latin typeface="Calibri" pitchFamily="34" charset="0"/>
                <a:ea typeface="Calibri" pitchFamily="34" charset="-122"/>
                <a:cs typeface="Calibri" pitchFamily="34" charset="-120"/>
              </a:rPr>
              <a:t>CI green</a:t>
            </a:r>
            <a:endParaRPr lang="en-US" sz="950" dirty="0"/>
          </a:p>
        </p:txBody>
      </p:sp>
      <p:sp>
        <p:nvSpPr>
          <p:cNvPr id="15" name="01-journey-start-to-goal:h3"/>
          <p:cNvSpPr txBox="1"/>
          <p:nvPr/>
        </p:nvSpPr>
        <p:spPr>
          <a:xfrm>
            <a:off x="6140303" y="1236980"/>
            <a:ext cx="1338153" cy="499999"/>
          </a:xfrm>
          <a:prstGeom prst="roundRect">
            <a:avLst>
              <a:gd name="adj" fmla="val 10973"/>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 Prove</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Stages K–N</a:t>
            </a:r>
            <a:endParaRPr lang="en-US" sz="1100" dirty="0"/>
          </a:p>
        </p:txBody>
      </p:sp>
      <p:sp>
        <p:nvSpPr>
          <p:cNvPr id="16" name="01-journey-start-to-goal:c3"/>
          <p:cNvSpPr txBox="1"/>
          <p:nvPr/>
        </p:nvSpPr>
        <p:spPr>
          <a:xfrm>
            <a:off x="6140303" y="1817624"/>
            <a:ext cx="1338153" cy="1209675"/>
          </a:xfrm>
          <a:prstGeom prst="roundRect">
            <a:avLst>
              <a:gd name="adj" fmla="val 4535"/>
            </a:avLst>
          </a:prstGeom>
          <a:solidFill>
            <a:srgbClr val="FFFFFF"/>
          </a:solidFill>
          <a:ln w="15875">
            <a:solidFill>
              <a:srgbClr val="1F7A8C"/>
            </a:solidFill>
            <a:prstDash val="solid"/>
          </a:ln>
        </p:spPr>
        <p:txBody>
          <a:bodyPr wrap="square" lIns="25400" tIns="50800" rIns="50800" bIns="25400" rtlCol="0" anchor="ctr"/>
          <a:lstStyle/>
          <a:p>
            <a:pPr algn="l" indent="0" marL="0">
              <a:buNone/>
            </a:pPr>
            <a:r>
              <a:rPr lang="en-US" sz="1020" b="1" dirty="0">
                <a:solidFill>
                  <a:srgbClr val="0B3C49"/>
                </a:solidFill>
                <a:latin typeface="Calibri" pitchFamily="34" charset="0"/>
                <a:ea typeface="Calibri" pitchFamily="34" charset="-122"/>
                <a:cs typeface="Calibri" pitchFamily="34" charset="-120"/>
              </a:rPr>
              <a:t>Stages</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K Controls</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L Tests, red</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team</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M Resilience</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N Release,</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operations</a:t>
            </a:r>
            <a:endParaRPr lang="en-US" sz="1020" dirty="0"/>
          </a:p>
        </p:txBody>
      </p:sp>
      <p:sp>
        <p:nvSpPr>
          <p:cNvPr id="17" name="01-journey-start-to-goal:o3"/>
          <p:cNvSpPr txBox="1"/>
          <p:nvPr/>
        </p:nvSpPr>
        <p:spPr>
          <a:xfrm>
            <a:off x="6140303" y="3107944"/>
            <a:ext cx="1338153" cy="790321"/>
          </a:xfrm>
          <a:prstGeom prst="roundRect">
            <a:avLst>
              <a:gd name="adj" fmla="val 6942"/>
            </a:avLst>
          </a:prstGeom>
          <a:solidFill>
            <a:srgbClr val="E5F3EB"/>
          </a:solidFill>
          <a:ln w="15875">
            <a:solidFill>
              <a:srgbClr val="2E8B57"/>
            </a:solidFill>
            <a:prstDash val="solid"/>
          </a:ln>
        </p:spPr>
        <p:txBody>
          <a:bodyPr wrap="square" lIns="25400" tIns="50800" rIns="50800" bIns="25400" rtlCol="0" anchor="ctr"/>
          <a:lstStyle/>
          <a:p>
            <a:pPr algn="l" indent="0" marL="0">
              <a:buNone/>
            </a:pPr>
            <a:r>
              <a:rPr lang="en-US" sz="950" b="1" dirty="0">
                <a:solidFill>
                  <a:srgbClr val="1E5631"/>
                </a:solidFill>
                <a:latin typeface="Calibri" pitchFamily="34" charset="0"/>
                <a:ea typeface="Calibri" pitchFamily="34" charset="-122"/>
                <a:cs typeface="Calibri" pitchFamily="34" charset="-120"/>
              </a:rPr>
              <a:t>Red team 10/12 →</a:t>
            </a:r>
            <a:endParaRPr lang="en-US" sz="950" dirty="0"/>
          </a:p>
          <a:p>
            <a:pPr algn="l" indent="0" marL="0">
              <a:buNone/>
            </a:pPr>
            <a:r>
              <a:rPr lang="en-US" sz="950" dirty="0">
                <a:solidFill>
                  <a:srgbClr val="1E5631"/>
                </a:solidFill>
                <a:latin typeface="Calibri" pitchFamily="34" charset="0"/>
                <a:ea typeface="Calibri" pitchFamily="34" charset="-122"/>
                <a:cs typeface="Calibri" pitchFamily="34" charset="-120"/>
              </a:rPr>
              <a:t>0/12</a:t>
            </a:r>
            <a:endParaRPr lang="en-US" sz="950" dirty="0"/>
          </a:p>
          <a:p>
            <a:pPr algn="l" indent="0" marL="0">
              <a:buNone/>
            </a:pPr>
            <a:r>
              <a:rPr lang="en-US" sz="950" dirty="0">
                <a:solidFill>
                  <a:srgbClr val="1E5631"/>
                </a:solidFill>
                <a:latin typeface="Calibri" pitchFamily="34" charset="0"/>
                <a:ea typeface="Calibri" pitchFamily="34" charset="-122"/>
                <a:cs typeface="Calibri" pitchFamily="34" charset="-120"/>
              </a:rPr>
              <a:t>5 drills pass</a:t>
            </a:r>
            <a:endParaRPr lang="en-US" sz="950" dirty="0"/>
          </a:p>
          <a:p>
            <a:pPr algn="l" indent="0" marL="0">
              <a:buNone/>
            </a:pPr>
            <a:r>
              <a:rPr lang="en-US" sz="950" dirty="0">
                <a:solidFill>
                  <a:srgbClr val="1E5631"/>
                </a:solidFill>
                <a:latin typeface="Calibri" pitchFamily="34" charset="0"/>
                <a:ea typeface="Calibri" pitchFamily="34" charset="-122"/>
                <a:cs typeface="Calibri" pitchFamily="34" charset="-120"/>
              </a:rPr>
              <a:t>Hash-chained audit</a:t>
            </a:r>
            <a:endParaRPr lang="en-US" sz="950" dirty="0"/>
          </a:p>
        </p:txBody>
      </p:sp>
      <p:sp>
        <p:nvSpPr>
          <p:cNvPr id="18" name="01-journey-start-to-goal:h4"/>
          <p:cNvSpPr txBox="1"/>
          <p:nvPr/>
        </p:nvSpPr>
        <p:spPr>
          <a:xfrm>
            <a:off x="7579276" y="1236980"/>
            <a:ext cx="1338153" cy="499999"/>
          </a:xfrm>
          <a:prstGeom prst="roundRect">
            <a:avLst>
              <a:gd name="adj" fmla="val 10973"/>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 Defend</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Stages O–R</a:t>
            </a:r>
            <a:endParaRPr lang="en-US" sz="1100" dirty="0"/>
          </a:p>
        </p:txBody>
      </p:sp>
      <p:sp>
        <p:nvSpPr>
          <p:cNvPr id="19" name="01-journey-start-to-goal:c4"/>
          <p:cNvSpPr txBox="1"/>
          <p:nvPr/>
        </p:nvSpPr>
        <p:spPr>
          <a:xfrm>
            <a:off x="7579276" y="1817624"/>
            <a:ext cx="1338153" cy="1209675"/>
          </a:xfrm>
          <a:prstGeom prst="roundRect">
            <a:avLst>
              <a:gd name="adj" fmla="val 4535"/>
            </a:avLst>
          </a:prstGeom>
          <a:solidFill>
            <a:srgbClr val="FFFFFF"/>
          </a:solidFill>
          <a:ln w="15875">
            <a:solidFill>
              <a:srgbClr val="1F7A8C"/>
            </a:solidFill>
            <a:prstDash val="solid"/>
          </a:ln>
        </p:spPr>
        <p:txBody>
          <a:bodyPr wrap="square" lIns="25400" tIns="50800" rIns="50800" bIns="25400" rtlCol="0" anchor="ctr"/>
          <a:lstStyle/>
          <a:p>
            <a:pPr algn="l" indent="0" marL="0">
              <a:buNone/>
            </a:pPr>
            <a:r>
              <a:rPr lang="en-US" sz="1020" b="1" dirty="0">
                <a:solidFill>
                  <a:srgbClr val="0B3C49"/>
                </a:solidFill>
                <a:latin typeface="Calibri" pitchFamily="34" charset="0"/>
                <a:ea typeface="Calibri" pitchFamily="34" charset="-122"/>
                <a:cs typeface="Calibri" pitchFamily="34" charset="-120"/>
              </a:rPr>
              <a:t>Stages</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O Outcomes</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P Handover</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Q Second-model</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test</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R Executive</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defence</a:t>
            </a:r>
            <a:endParaRPr lang="en-US" sz="1020" dirty="0"/>
          </a:p>
        </p:txBody>
      </p:sp>
      <p:sp>
        <p:nvSpPr>
          <p:cNvPr id="20" name="01-journey-start-to-goal:o4"/>
          <p:cNvSpPr txBox="1"/>
          <p:nvPr/>
        </p:nvSpPr>
        <p:spPr>
          <a:xfrm>
            <a:off x="7579276" y="3107944"/>
            <a:ext cx="1338153" cy="790321"/>
          </a:xfrm>
          <a:prstGeom prst="roundRect">
            <a:avLst>
              <a:gd name="adj" fmla="val 6942"/>
            </a:avLst>
          </a:prstGeom>
          <a:solidFill>
            <a:srgbClr val="E5F3EB"/>
          </a:solidFill>
          <a:ln w="15875">
            <a:solidFill>
              <a:srgbClr val="2E8B57"/>
            </a:solidFill>
            <a:prstDash val="solid"/>
          </a:ln>
        </p:spPr>
        <p:txBody>
          <a:bodyPr wrap="square" lIns="25400" tIns="50800" rIns="50800" bIns="25400" rtlCol="0" anchor="ctr"/>
          <a:lstStyle/>
          <a:p>
            <a:pPr algn="l" indent="0" marL="0">
              <a:buNone/>
            </a:pPr>
            <a:r>
              <a:rPr lang="en-US" sz="950" b="1" dirty="0">
                <a:solidFill>
                  <a:srgbClr val="1E5631"/>
                </a:solidFill>
                <a:latin typeface="Calibri" pitchFamily="34" charset="0"/>
                <a:ea typeface="Calibri" pitchFamily="34" charset="-122"/>
                <a:cs typeface="Calibri" pitchFamily="34" charset="-120"/>
              </a:rPr>
              <a:t>Proxy KPIs</a:t>
            </a:r>
            <a:endParaRPr lang="en-US" sz="950" dirty="0"/>
          </a:p>
          <a:p>
            <a:pPr algn="l" indent="0" marL="0">
              <a:buNone/>
            </a:pPr>
            <a:r>
              <a:rPr lang="en-US" sz="950" dirty="0">
                <a:solidFill>
                  <a:srgbClr val="1E5631"/>
                </a:solidFill>
                <a:latin typeface="Calibri" pitchFamily="34" charset="0"/>
                <a:ea typeface="Calibri" pitchFamily="34" charset="-122"/>
                <a:cs typeface="Calibri" pitchFamily="34" charset="-120"/>
              </a:rPr>
              <a:t>unchanged</a:t>
            </a:r>
            <a:endParaRPr lang="en-US" sz="950" dirty="0"/>
          </a:p>
          <a:p>
            <a:pPr algn="l" indent="0" marL="0">
              <a:buNone/>
            </a:pPr>
            <a:r>
              <a:rPr lang="en-US" sz="950" dirty="0">
                <a:solidFill>
                  <a:srgbClr val="1E5631"/>
                </a:solidFill>
                <a:latin typeface="Calibri" pitchFamily="34" charset="0"/>
                <a:ea typeface="Calibri" pitchFamily="34" charset="-122"/>
                <a:cs typeface="Calibri" pitchFamily="34" charset="-120"/>
              </a:rPr>
              <a:t>Model B safety 5/5</a:t>
            </a:r>
            <a:endParaRPr lang="en-US" sz="950" dirty="0"/>
          </a:p>
          <a:p>
            <a:pPr algn="l" indent="0" marL="0">
              <a:buNone/>
            </a:pPr>
            <a:r>
              <a:rPr lang="en-US" sz="950" dirty="0">
                <a:solidFill>
                  <a:srgbClr val="1E5631"/>
                </a:solidFill>
                <a:latin typeface="Calibri" pitchFamily="34" charset="0"/>
                <a:ea typeface="Calibri" pitchFamily="34" charset="-122"/>
                <a:cs typeface="Calibri" pitchFamily="34" charset="-120"/>
              </a:rPr>
              <a:t>NO-GO prod, GO</a:t>
            </a:r>
            <a:endParaRPr lang="en-US" sz="950" dirty="0"/>
          </a:p>
          <a:p>
            <a:pPr algn="l" indent="0" marL="0">
              <a:buNone/>
            </a:pPr>
            <a:r>
              <a:rPr lang="en-US" sz="950" dirty="0">
                <a:solidFill>
                  <a:srgbClr val="1E5631"/>
                </a:solidFill>
                <a:latin typeface="Calibri" pitchFamily="34" charset="0"/>
                <a:ea typeface="Calibri" pitchFamily="34" charset="-122"/>
                <a:cs typeface="Calibri" pitchFamily="34" charset="-120"/>
              </a:rPr>
              <a:t>pilot</a:t>
            </a:r>
            <a:endParaRPr lang="en-US" sz="950" dirty="0"/>
          </a:p>
        </p:txBody>
      </p:sp>
      <p:sp>
        <p:nvSpPr>
          <p:cNvPr id="21" name="01-journey-start-to-goal:h5"/>
          <p:cNvSpPr txBox="1"/>
          <p:nvPr/>
        </p:nvSpPr>
        <p:spPr>
          <a:xfrm>
            <a:off x="9018249" y="1236980"/>
            <a:ext cx="1338153" cy="499999"/>
          </a:xfrm>
          <a:prstGeom prst="roundRect">
            <a:avLst>
              <a:gd name="adj" fmla="val 10973"/>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 Close-out</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Runbooks 03–04</a:t>
            </a:r>
            <a:endParaRPr lang="en-US" sz="1100" dirty="0"/>
          </a:p>
        </p:txBody>
      </p:sp>
      <p:sp>
        <p:nvSpPr>
          <p:cNvPr id="22" name="01-journey-start-to-goal:c5"/>
          <p:cNvSpPr txBox="1"/>
          <p:nvPr/>
        </p:nvSpPr>
        <p:spPr>
          <a:xfrm>
            <a:off x="9018249" y="1817624"/>
            <a:ext cx="1338153" cy="1209675"/>
          </a:xfrm>
          <a:prstGeom prst="roundRect">
            <a:avLst>
              <a:gd name="adj" fmla="val 4535"/>
            </a:avLst>
          </a:prstGeom>
          <a:solidFill>
            <a:srgbClr val="FFFFFF"/>
          </a:solidFill>
          <a:ln w="15875">
            <a:solidFill>
              <a:srgbClr val="1F7A8C"/>
            </a:solidFill>
            <a:prstDash val="solid"/>
          </a:ln>
        </p:spPr>
        <p:txBody>
          <a:bodyPr wrap="square" lIns="25400" tIns="50800" rIns="50800" bIns="25400" rtlCol="0" anchor="ctr"/>
          <a:lstStyle/>
          <a:p>
            <a:pPr algn="l" indent="0" marL="0">
              <a:buNone/>
            </a:pPr>
            <a:r>
              <a:rPr lang="en-US" sz="1020" b="1" dirty="0">
                <a:solidFill>
                  <a:srgbClr val="0B3C49"/>
                </a:solidFill>
                <a:latin typeface="Calibri" pitchFamily="34" charset="0"/>
                <a:ea typeface="Calibri" pitchFamily="34" charset="-122"/>
                <a:cs typeface="Calibri" pitchFamily="34" charset="-120"/>
              </a:rPr>
              <a:t>Stages</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S Rubric</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traceability</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T 23 decisions</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Semantic layer</a:t>
            </a:r>
            <a:endParaRPr lang="en-US" sz="1020" dirty="0"/>
          </a:p>
          <a:p>
            <a:pPr algn="l" indent="0" marL="0">
              <a:buNone/>
            </a:pPr>
            <a:r>
              <a:rPr lang="en-US" sz="1020" dirty="0">
                <a:solidFill>
                  <a:srgbClr val="0B3C49"/>
                </a:solidFill>
                <a:latin typeface="Calibri" pitchFamily="34" charset="0"/>
                <a:ea typeface="Calibri" pitchFamily="34" charset="-122"/>
                <a:cs typeface="Calibri" pitchFamily="34" charset="-120"/>
              </a:rPr>
              <a:t>v2.0</a:t>
            </a:r>
            <a:endParaRPr lang="en-US" sz="1020" dirty="0"/>
          </a:p>
        </p:txBody>
      </p:sp>
      <p:sp>
        <p:nvSpPr>
          <p:cNvPr id="23" name="01-journey-start-to-goal:o5"/>
          <p:cNvSpPr txBox="1"/>
          <p:nvPr/>
        </p:nvSpPr>
        <p:spPr>
          <a:xfrm>
            <a:off x="9018249" y="3107944"/>
            <a:ext cx="1338153" cy="790321"/>
          </a:xfrm>
          <a:prstGeom prst="roundRect">
            <a:avLst>
              <a:gd name="adj" fmla="val 6942"/>
            </a:avLst>
          </a:prstGeom>
          <a:solidFill>
            <a:srgbClr val="E5F3EB"/>
          </a:solidFill>
          <a:ln w="15875">
            <a:solidFill>
              <a:srgbClr val="2E8B57"/>
            </a:solidFill>
            <a:prstDash val="solid"/>
          </a:ln>
        </p:spPr>
        <p:txBody>
          <a:bodyPr wrap="square" lIns="25400" tIns="50800" rIns="50800" bIns="25400" rtlCol="0" anchor="ctr"/>
          <a:lstStyle/>
          <a:p>
            <a:pPr algn="l" indent="0" marL="0">
              <a:buNone/>
            </a:pPr>
            <a:r>
              <a:rPr lang="en-US" sz="950" b="1" dirty="0">
                <a:solidFill>
                  <a:srgbClr val="1E5631"/>
                </a:solidFill>
                <a:latin typeface="Calibri" pitchFamily="34" charset="0"/>
                <a:ea typeface="Calibri" pitchFamily="34" charset="-122"/>
                <a:cs typeface="Calibri" pitchFamily="34" charset="-120"/>
              </a:rPr>
              <a:t>36 sub-dimensions</a:t>
            </a:r>
            <a:endParaRPr lang="en-US" sz="950" dirty="0"/>
          </a:p>
          <a:p>
            <a:pPr algn="l" indent="0" marL="0">
              <a:buNone/>
            </a:pPr>
            <a:r>
              <a:rPr lang="en-US" sz="950" dirty="0">
                <a:solidFill>
                  <a:srgbClr val="1E5631"/>
                </a:solidFill>
                <a:latin typeface="Calibri" pitchFamily="34" charset="0"/>
                <a:ea typeface="Calibri" pitchFamily="34" charset="-122"/>
                <a:cs typeface="Calibri" pitchFamily="34" charset="-120"/>
              </a:rPr>
              <a:t>146 evidence files</a:t>
            </a:r>
            <a:endParaRPr lang="en-US" sz="950" dirty="0"/>
          </a:p>
          <a:p>
            <a:pPr algn="l" indent="0" marL="0">
              <a:buNone/>
            </a:pPr>
            <a:r>
              <a:rPr lang="en-US" sz="950" dirty="0">
                <a:solidFill>
                  <a:srgbClr val="1E5631"/>
                </a:solidFill>
                <a:latin typeface="Calibri" pitchFamily="34" charset="0"/>
                <a:ea typeface="Calibri" pitchFamily="34" charset="-122"/>
                <a:cs typeface="Calibri" pitchFamily="34" charset="-120"/>
              </a:rPr>
              <a:t>22 decided, 1</a:t>
            </a:r>
            <a:endParaRPr lang="en-US" sz="950" dirty="0"/>
          </a:p>
          <a:p>
            <a:pPr algn="l" indent="0" marL="0">
              <a:buNone/>
            </a:pPr>
            <a:r>
              <a:rPr lang="en-US" sz="950" dirty="0">
                <a:solidFill>
                  <a:srgbClr val="1E5631"/>
                </a:solidFill>
                <a:latin typeface="Calibri" pitchFamily="34" charset="0"/>
                <a:ea typeface="Calibri" pitchFamily="34" charset="-122"/>
                <a:cs typeface="Calibri" pitchFamily="34" charset="-120"/>
              </a:rPr>
              <a:t>deferred</a:t>
            </a:r>
            <a:endParaRPr lang="en-US" sz="950" dirty="0"/>
          </a:p>
        </p:txBody>
      </p:sp>
      <p:sp>
        <p:nvSpPr>
          <p:cNvPr id="24" name="01-journey-start-to-goal:ev"/>
          <p:cNvSpPr txBox="1"/>
          <p:nvPr/>
        </p:nvSpPr>
        <p:spPr>
          <a:xfrm>
            <a:off x="320254" y="4099877"/>
            <a:ext cx="11548443" cy="1411288"/>
          </a:xfrm>
          <a:prstGeom prst="roundRect">
            <a:avLst>
              <a:gd name="adj" fmla="val 1944"/>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Evidence discipline applied in every stage</a:t>
            </a:r>
            <a:endParaRPr lang="en-US" sz="1170" dirty="0"/>
          </a:p>
        </p:txBody>
      </p:sp>
      <p:sp>
        <p:nvSpPr>
          <p:cNvPr id="25" name="01-journey-start-to-goal:ev0"/>
          <p:cNvSpPr txBox="1"/>
          <p:nvPr/>
        </p:nvSpPr>
        <p:spPr>
          <a:xfrm>
            <a:off x="503563" y="4462780"/>
            <a:ext cx="2089718" cy="846773"/>
          </a:xfrm>
          <a:prstGeom prst="roundRect">
            <a:avLst>
              <a:gd name="adj" fmla="val 647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Header on every file</a:t>
            </a:r>
            <a:endParaRPr lang="en-US" sz="1100" dirty="0"/>
          </a:p>
          <a:p>
            <a:pPr algn="ctr" indent="0" marL="0">
              <a:buNone/>
            </a:pPr>
            <a:r>
              <a:rPr lang="en-US" sz="1100" dirty="0">
                <a:solidFill>
                  <a:srgbClr val="0B3C49"/>
                </a:solidFill>
                <a:latin typeface="Calibri" pitchFamily="34" charset="0"/>
                <a:ea typeface="Calibri" pitchFamily="34" charset="-122"/>
                <a:cs typeface="Calibri" pitchFamily="34" charset="-120"/>
              </a:rPr>
              <a:t>stage, status,</a:t>
            </a:r>
            <a:endParaRPr lang="en-US" sz="1100" dirty="0"/>
          </a:p>
          <a:p>
            <a:pPr algn="ctr" indent="0" marL="0">
              <a:buNone/>
            </a:pPr>
            <a:r>
              <a:rPr lang="en-US" sz="1100" dirty="0">
                <a:solidFill>
                  <a:srgbClr val="0B3C49"/>
                </a:solidFill>
                <a:latin typeface="Calibri" pitchFamily="34" charset="0"/>
                <a:ea typeface="Calibri" pitchFamily="34" charset="-122"/>
                <a:cs typeface="Calibri" pitchFamily="34" charset="-120"/>
              </a:rPr>
              <a:t>assumptions, risks</a:t>
            </a:r>
            <a:endParaRPr lang="en-US" sz="1100" dirty="0"/>
          </a:p>
        </p:txBody>
      </p:sp>
      <p:sp>
        <p:nvSpPr>
          <p:cNvPr id="26" name="01-journey-start-to-goal:ev1"/>
          <p:cNvSpPr txBox="1"/>
          <p:nvPr/>
        </p:nvSpPr>
        <p:spPr>
          <a:xfrm>
            <a:off x="2776590" y="4462780"/>
            <a:ext cx="2089718" cy="846773"/>
          </a:xfrm>
          <a:prstGeom prst="roundRect">
            <a:avLst>
              <a:gd name="adj" fmla="val 647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SHA-256 manifest</a:t>
            </a:r>
            <a:endParaRPr lang="en-US" sz="1100" dirty="0"/>
          </a:p>
          <a:p>
            <a:pPr algn="ctr" indent="0" marL="0">
              <a:buNone/>
            </a:pPr>
            <a:r>
              <a:rPr lang="en-US" sz="1100" dirty="0">
                <a:solidFill>
                  <a:srgbClr val="0B3C49"/>
                </a:solidFill>
                <a:latin typeface="Calibri" pitchFamily="34" charset="0"/>
                <a:ea typeface="Calibri" pitchFamily="34" charset="-122"/>
                <a:cs typeface="Calibri" pitchFamily="34" charset="-120"/>
              </a:rPr>
              <a:t>in every evidence folder</a:t>
            </a:r>
            <a:endParaRPr lang="en-US" sz="1100" dirty="0"/>
          </a:p>
        </p:txBody>
      </p:sp>
      <p:sp>
        <p:nvSpPr>
          <p:cNvPr id="27" name="01-journey-start-to-goal:ev2"/>
          <p:cNvSpPr txBox="1"/>
          <p:nvPr/>
        </p:nvSpPr>
        <p:spPr>
          <a:xfrm>
            <a:off x="5049617" y="4462780"/>
            <a:ext cx="2089718" cy="846773"/>
          </a:xfrm>
          <a:prstGeom prst="roundRect">
            <a:avLst>
              <a:gd name="adj" fmla="val 647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Claims cite path + hash</a:t>
            </a:r>
            <a:endParaRPr lang="en-US" sz="1100" dirty="0"/>
          </a:p>
          <a:p>
            <a:pPr algn="ctr" indent="0" marL="0">
              <a:buNone/>
            </a:pPr>
            <a:r>
              <a:rPr lang="en-US" sz="1100" dirty="0">
                <a:solidFill>
                  <a:srgbClr val="0B3C49"/>
                </a:solidFill>
                <a:latin typeface="Calibri" pitchFamily="34" charset="0"/>
                <a:ea typeface="Calibri" pitchFamily="34" charset="-122"/>
                <a:cs typeface="Calibri" pitchFamily="34" charset="-120"/>
              </a:rPr>
              <a:t>203 of 203 match</a:t>
            </a:r>
            <a:endParaRPr lang="en-US" sz="1100" dirty="0"/>
          </a:p>
        </p:txBody>
      </p:sp>
      <p:sp>
        <p:nvSpPr>
          <p:cNvPr id="28" name="01-journey-start-to-goal:ev3"/>
          <p:cNvSpPr txBox="1"/>
          <p:nvPr/>
        </p:nvSpPr>
        <p:spPr>
          <a:xfrm>
            <a:off x="7322644" y="4462780"/>
            <a:ext cx="2089718" cy="846773"/>
          </a:xfrm>
          <a:prstGeom prst="roundRect">
            <a:avLst>
              <a:gd name="adj" fmla="val 647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Every claim tagged</a:t>
            </a:r>
            <a:endParaRPr lang="en-US" sz="1100" dirty="0"/>
          </a:p>
          <a:p>
            <a:pPr algn="ctr" indent="0" marL="0">
              <a:buNone/>
            </a:pPr>
            <a:r>
              <a:rPr lang="en-US" sz="1100" dirty="0">
                <a:solidFill>
                  <a:srgbClr val="0B3C49"/>
                </a:solidFill>
                <a:latin typeface="Calibri" pitchFamily="34" charset="0"/>
                <a:ea typeface="Calibri" pitchFamily="34" charset="-122"/>
                <a:cs typeface="Calibri" pitchFamily="34" charset="-120"/>
              </a:rPr>
              <a:t>[VF] [INF] [ASM] [UNK]</a:t>
            </a:r>
            <a:endParaRPr lang="en-US" sz="1100" dirty="0"/>
          </a:p>
        </p:txBody>
      </p:sp>
      <p:sp>
        <p:nvSpPr>
          <p:cNvPr id="29" name="01-journey-start-to-goal:ev4"/>
          <p:cNvSpPr txBox="1"/>
          <p:nvPr/>
        </p:nvSpPr>
        <p:spPr>
          <a:xfrm>
            <a:off x="9595671" y="4462780"/>
            <a:ext cx="2089718" cy="846773"/>
          </a:xfrm>
          <a:prstGeom prst="roundRect">
            <a:avLst>
              <a:gd name="adj" fmla="val 647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Exit gate</a:t>
            </a:r>
            <a:endParaRPr lang="en-US" sz="1100" dirty="0"/>
          </a:p>
          <a:p>
            <a:pPr algn="ctr" indent="0" marL="0">
              <a:buNone/>
            </a:pPr>
            <a:r>
              <a:rPr lang="en-US" sz="1100" dirty="0">
                <a:solidFill>
                  <a:srgbClr val="0B3C49"/>
                </a:solidFill>
                <a:latin typeface="Calibri" pitchFamily="34" charset="0"/>
                <a:ea typeface="Calibri" pitchFamily="34" charset="-122"/>
                <a:cs typeface="Calibri" pitchFamily="34" charset="-120"/>
              </a:rPr>
              <a:t>before the next stage</a:t>
            </a:r>
            <a:endParaRPr lang="en-US" sz="1100" dirty="0"/>
          </a:p>
        </p:txBody>
      </p:sp>
      <p:sp>
        <p:nvSpPr>
          <p:cNvPr id="30" name="01-journey-start-to-goal:tl"/>
          <p:cNvSpPr txBox="1"/>
          <p:nvPr/>
        </p:nvSpPr>
        <p:spPr>
          <a:xfrm>
            <a:off x="320254" y="5632133"/>
            <a:ext cx="11548443" cy="1008063"/>
          </a:xfrm>
          <a:prstGeom prst="roundRect">
            <a:avLst>
              <a:gd name="adj" fmla="val 2721"/>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Milestones (git commits on main)</a:t>
            </a:r>
            <a:endParaRPr lang="en-US" sz="1170" dirty="0"/>
          </a:p>
        </p:txBody>
      </p:sp>
      <p:sp>
        <p:nvSpPr>
          <p:cNvPr id="31" name="01-journey-start-to-goal:t0"/>
          <p:cNvSpPr txBox="1"/>
          <p:nvPr/>
        </p:nvSpPr>
        <p:spPr>
          <a:xfrm>
            <a:off x="503563" y="5954713"/>
            <a:ext cx="1246499" cy="499999"/>
          </a:xfrm>
          <a:prstGeom prst="roundRect">
            <a:avLst>
              <a:gd name="adj" fmla="val 10973"/>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Plan</a:t>
            </a:r>
            <a:endParaRPr lang="en-US" sz="1020" dirty="0"/>
          </a:p>
          <a:p>
            <a:pPr algn="ctr" indent="0" marL="0">
              <a:buNone/>
            </a:pPr>
            <a:r>
              <a:rPr lang="en-US" sz="1020" dirty="0">
                <a:solidFill>
                  <a:srgbClr val="FFFFFF"/>
                </a:solidFill>
                <a:latin typeface="Calibri" pitchFamily="34" charset="0"/>
                <a:ea typeface="Calibri" pitchFamily="34" charset="-122"/>
                <a:cs typeface="Calibri" pitchFamily="34" charset="-120"/>
              </a:rPr>
              <a:t>Runbooks 00–04</a:t>
            </a:r>
            <a:endParaRPr lang="en-US" sz="1020" dirty="0"/>
          </a:p>
        </p:txBody>
      </p:sp>
      <p:sp>
        <p:nvSpPr>
          <p:cNvPr id="32" name="01-journey-start-to-goal:t1"/>
          <p:cNvSpPr txBox="1"/>
          <p:nvPr/>
        </p:nvSpPr>
        <p:spPr>
          <a:xfrm>
            <a:off x="1915039" y="5954713"/>
            <a:ext cx="1246499" cy="499999"/>
          </a:xfrm>
          <a:prstGeom prst="roundRect">
            <a:avLst>
              <a:gd name="adj" fmla="val 10973"/>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698e858</a:t>
            </a:r>
            <a:endParaRPr lang="en-US" sz="1020" dirty="0"/>
          </a:p>
          <a:p>
            <a:pPr algn="ctr" indent="0" marL="0">
              <a:buNone/>
            </a:pPr>
            <a:r>
              <a:rPr lang="en-US" sz="1020" dirty="0">
                <a:solidFill>
                  <a:srgbClr val="FFFFFF"/>
                </a:solidFill>
                <a:latin typeface="Calibri" pitchFamily="34" charset="0"/>
                <a:ea typeface="Calibri" pitchFamily="34" charset="-122"/>
                <a:cs typeface="Calibri" pitchFamily="34" charset="-120"/>
              </a:rPr>
              <a:t>Stage A</a:t>
            </a:r>
            <a:endParaRPr lang="en-US" sz="1020" dirty="0"/>
          </a:p>
        </p:txBody>
      </p:sp>
      <p:sp>
        <p:nvSpPr>
          <p:cNvPr id="33" name="01-journey-start-to-goal:t2"/>
          <p:cNvSpPr txBox="1"/>
          <p:nvPr/>
        </p:nvSpPr>
        <p:spPr>
          <a:xfrm>
            <a:off x="3326516" y="5954713"/>
            <a:ext cx="1246499" cy="499999"/>
          </a:xfrm>
          <a:prstGeom prst="roundRect">
            <a:avLst>
              <a:gd name="adj" fmla="val 10973"/>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4c84af1</a:t>
            </a:r>
            <a:endParaRPr lang="en-US" sz="1020" dirty="0"/>
          </a:p>
          <a:p>
            <a:pPr algn="ctr" indent="0" marL="0">
              <a:buNone/>
            </a:pPr>
            <a:r>
              <a:rPr lang="en-US" sz="1020" dirty="0">
                <a:solidFill>
                  <a:srgbClr val="FFFFFF"/>
                </a:solidFill>
                <a:latin typeface="Calibri" pitchFamily="34" charset="0"/>
                <a:ea typeface="Calibri" pitchFamily="34" charset="-122"/>
                <a:cs typeface="Calibri" pitchFamily="34" charset="-120"/>
              </a:rPr>
              <a:t>Stages A–P</a:t>
            </a:r>
            <a:endParaRPr lang="en-US" sz="1020" dirty="0"/>
          </a:p>
        </p:txBody>
      </p:sp>
      <p:sp>
        <p:nvSpPr>
          <p:cNvPr id="34" name="01-journey-start-to-goal:t3"/>
          <p:cNvSpPr txBox="1"/>
          <p:nvPr/>
        </p:nvSpPr>
        <p:spPr>
          <a:xfrm>
            <a:off x="4737992" y="5954713"/>
            <a:ext cx="1246499" cy="499999"/>
          </a:xfrm>
          <a:prstGeom prst="roundRect">
            <a:avLst>
              <a:gd name="adj" fmla="val 10973"/>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c7d94de</a:t>
            </a:r>
            <a:endParaRPr lang="en-US" sz="1020" dirty="0"/>
          </a:p>
          <a:p>
            <a:pPr algn="ctr" indent="0" marL="0">
              <a:buNone/>
            </a:pPr>
            <a:r>
              <a:rPr lang="en-US" sz="1020" dirty="0">
                <a:solidFill>
                  <a:srgbClr val="FFFFFF"/>
                </a:solidFill>
                <a:latin typeface="Calibri" pitchFamily="34" charset="0"/>
                <a:ea typeface="Calibri" pitchFamily="34" charset="-122"/>
                <a:cs typeface="Calibri" pitchFamily="34" charset="-120"/>
              </a:rPr>
              <a:t>Stages Q–R</a:t>
            </a:r>
            <a:endParaRPr lang="en-US" sz="1020" dirty="0"/>
          </a:p>
        </p:txBody>
      </p:sp>
      <p:sp>
        <p:nvSpPr>
          <p:cNvPr id="35" name="01-journey-start-to-goal:t4"/>
          <p:cNvSpPr txBox="1"/>
          <p:nvPr/>
        </p:nvSpPr>
        <p:spPr>
          <a:xfrm>
            <a:off x="6149469" y="5954713"/>
            <a:ext cx="1246499" cy="499999"/>
          </a:xfrm>
          <a:prstGeom prst="roundRect">
            <a:avLst>
              <a:gd name="adj" fmla="val 10973"/>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ab37ec8</a:t>
            </a:r>
            <a:endParaRPr lang="en-US" sz="1020" dirty="0"/>
          </a:p>
          <a:p>
            <a:pPr algn="ctr" indent="0" marL="0">
              <a:buNone/>
            </a:pPr>
            <a:r>
              <a:rPr lang="en-US" sz="1020" dirty="0">
                <a:solidFill>
                  <a:srgbClr val="FFFFFF"/>
                </a:solidFill>
                <a:latin typeface="Calibri" pitchFamily="34" charset="0"/>
                <a:ea typeface="Calibri" pitchFamily="34" charset="-122"/>
                <a:cs typeface="Calibri" pitchFamily="34" charset="-120"/>
              </a:rPr>
              <a:t>Second model</a:t>
            </a:r>
            <a:endParaRPr lang="en-US" sz="1020" dirty="0"/>
          </a:p>
        </p:txBody>
      </p:sp>
      <p:sp>
        <p:nvSpPr>
          <p:cNvPr id="36" name="01-journey-start-to-goal:t5"/>
          <p:cNvSpPr txBox="1"/>
          <p:nvPr/>
        </p:nvSpPr>
        <p:spPr>
          <a:xfrm>
            <a:off x="7560945" y="5954713"/>
            <a:ext cx="1246499" cy="499999"/>
          </a:xfrm>
          <a:prstGeom prst="roundRect">
            <a:avLst>
              <a:gd name="adj" fmla="val 10973"/>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1dcf6e8</a:t>
            </a:r>
            <a:endParaRPr lang="en-US" sz="1020" dirty="0"/>
          </a:p>
          <a:p>
            <a:pPr algn="ctr" indent="0" marL="0">
              <a:buNone/>
            </a:pPr>
            <a:r>
              <a:rPr lang="en-US" sz="1020" dirty="0">
                <a:solidFill>
                  <a:srgbClr val="FFFFFF"/>
                </a:solidFill>
                <a:latin typeface="Calibri" pitchFamily="34" charset="0"/>
                <a:ea typeface="Calibri" pitchFamily="34" charset="-122"/>
                <a:cs typeface="Calibri" pitchFamily="34" charset="-120"/>
              </a:rPr>
              <a:t>Runbook 03</a:t>
            </a:r>
            <a:endParaRPr lang="en-US" sz="1020" dirty="0"/>
          </a:p>
        </p:txBody>
      </p:sp>
      <p:sp>
        <p:nvSpPr>
          <p:cNvPr id="37" name="01-journey-start-to-goal:t6"/>
          <p:cNvSpPr txBox="1"/>
          <p:nvPr/>
        </p:nvSpPr>
        <p:spPr>
          <a:xfrm>
            <a:off x="8972421" y="5954713"/>
            <a:ext cx="1246499" cy="499999"/>
          </a:xfrm>
          <a:prstGeom prst="roundRect">
            <a:avLst>
              <a:gd name="adj" fmla="val 10973"/>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1cde803</a:t>
            </a:r>
            <a:endParaRPr lang="en-US" sz="1020" dirty="0"/>
          </a:p>
          <a:p>
            <a:pPr algn="ctr" indent="0" marL="0">
              <a:buNone/>
            </a:pPr>
            <a:r>
              <a:rPr lang="en-US" sz="1020" dirty="0">
                <a:solidFill>
                  <a:srgbClr val="FFFFFF"/>
                </a:solidFill>
                <a:latin typeface="Calibri" pitchFamily="34" charset="0"/>
                <a:ea typeface="Calibri" pitchFamily="34" charset="-122"/>
                <a:cs typeface="Calibri" pitchFamily="34" charset="-120"/>
              </a:rPr>
              <a:t>Runbook 04</a:t>
            </a:r>
            <a:endParaRPr lang="en-US" sz="1020" dirty="0"/>
          </a:p>
        </p:txBody>
      </p:sp>
      <p:sp>
        <p:nvSpPr>
          <p:cNvPr id="38" name="01-journey-start-to-goal:t7"/>
          <p:cNvSpPr txBox="1"/>
          <p:nvPr/>
        </p:nvSpPr>
        <p:spPr>
          <a:xfrm>
            <a:off x="10383898" y="5954713"/>
            <a:ext cx="1246499" cy="499999"/>
          </a:xfrm>
          <a:prstGeom prst="roundRect">
            <a:avLst>
              <a:gd name="adj" fmla="val 10973"/>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ad230eb</a:t>
            </a:r>
            <a:endParaRPr lang="en-US" sz="1020" dirty="0"/>
          </a:p>
          <a:p>
            <a:pPr algn="ctr" indent="0" marL="0">
              <a:buNone/>
            </a:pPr>
            <a:r>
              <a:rPr lang="en-US" sz="1020" dirty="0">
                <a:solidFill>
                  <a:srgbClr val="FFFFFF"/>
                </a:solidFill>
                <a:latin typeface="Calibri" pitchFamily="34" charset="0"/>
                <a:ea typeface="Calibri" pitchFamily="34" charset="-122"/>
                <a:cs typeface="Calibri" pitchFamily="34" charset="-120"/>
              </a:rPr>
              <a:t>Layer v2.0</a:t>
            </a:r>
            <a:endParaRPr lang="en-US" sz="1020" dirty="0"/>
          </a:p>
        </p:txBody>
      </p:sp>
      <p:sp>
        <p:nvSpPr>
          <p:cNvPr id="39" name="01-journey-start-to-goal:edge:start-&gt;c0"/>
          <p:cNvSpPr/>
          <p:nvPr/>
        </p:nvSpPr>
        <p:spPr>
          <a:xfrm flipV="1">
            <a:off x="1695069" y="2487784"/>
            <a:ext cx="137481" cy="12903"/>
          </a:xfrm>
          <a:prstGeom prst="line">
            <a:avLst/>
          </a:prstGeom>
          <a:noFill/>
          <a:ln w="19050">
            <a:solidFill>
              <a:srgbClr val="41545A"/>
            </a:solidFill>
            <a:prstDash val="solid"/>
            <a:tailEnd type="triangle"/>
          </a:ln>
        </p:spPr>
      </p:sp>
      <p:sp>
        <p:nvSpPr>
          <p:cNvPr id="40" name="01-journey-start-to-goal:edge:h0-&gt;h1"/>
          <p:cNvSpPr/>
          <p:nvPr/>
        </p:nvSpPr>
        <p:spPr>
          <a:xfrm>
            <a:off x="3170703" y="1486980"/>
            <a:ext cx="100820" cy="914"/>
          </a:xfrm>
          <a:prstGeom prst="line">
            <a:avLst/>
          </a:prstGeom>
          <a:noFill/>
          <a:ln w="19050">
            <a:solidFill>
              <a:srgbClr val="41545A"/>
            </a:solidFill>
            <a:prstDash val="solid"/>
            <a:tailEnd type="triangle"/>
          </a:ln>
        </p:spPr>
      </p:sp>
      <p:sp>
        <p:nvSpPr>
          <p:cNvPr id="41" name="01-journey-start-to-goal:edge:h1-&gt;h2"/>
          <p:cNvSpPr/>
          <p:nvPr/>
        </p:nvSpPr>
        <p:spPr>
          <a:xfrm>
            <a:off x="4609676" y="1486980"/>
            <a:ext cx="100820" cy="914"/>
          </a:xfrm>
          <a:prstGeom prst="line">
            <a:avLst/>
          </a:prstGeom>
          <a:noFill/>
          <a:ln w="19050">
            <a:solidFill>
              <a:srgbClr val="41545A"/>
            </a:solidFill>
            <a:prstDash val="solid"/>
            <a:tailEnd type="triangle"/>
          </a:ln>
        </p:spPr>
      </p:sp>
      <p:sp>
        <p:nvSpPr>
          <p:cNvPr id="42" name="01-journey-start-to-goal:edge:h2-&gt;h3"/>
          <p:cNvSpPr/>
          <p:nvPr/>
        </p:nvSpPr>
        <p:spPr>
          <a:xfrm>
            <a:off x="6048649" y="1486980"/>
            <a:ext cx="91654" cy="914"/>
          </a:xfrm>
          <a:prstGeom prst="line">
            <a:avLst/>
          </a:prstGeom>
          <a:noFill/>
          <a:ln w="19050">
            <a:solidFill>
              <a:srgbClr val="41545A"/>
            </a:solidFill>
            <a:prstDash val="solid"/>
            <a:tailEnd type="triangle"/>
          </a:ln>
        </p:spPr>
      </p:sp>
      <p:sp>
        <p:nvSpPr>
          <p:cNvPr id="43" name="01-journey-start-to-goal:edge:h3-&gt;h4"/>
          <p:cNvSpPr/>
          <p:nvPr/>
        </p:nvSpPr>
        <p:spPr>
          <a:xfrm>
            <a:off x="7478456" y="1486980"/>
            <a:ext cx="100820" cy="914"/>
          </a:xfrm>
          <a:prstGeom prst="line">
            <a:avLst/>
          </a:prstGeom>
          <a:noFill/>
          <a:ln w="19050">
            <a:solidFill>
              <a:srgbClr val="41545A"/>
            </a:solidFill>
            <a:prstDash val="solid"/>
            <a:tailEnd type="triangle"/>
          </a:ln>
        </p:spPr>
      </p:sp>
      <p:sp>
        <p:nvSpPr>
          <p:cNvPr id="44" name="01-journey-start-to-goal:edge:h4-&gt;h5"/>
          <p:cNvSpPr/>
          <p:nvPr/>
        </p:nvSpPr>
        <p:spPr>
          <a:xfrm>
            <a:off x="8917429" y="1486980"/>
            <a:ext cx="100820" cy="914"/>
          </a:xfrm>
          <a:prstGeom prst="line">
            <a:avLst/>
          </a:prstGeom>
          <a:noFill/>
          <a:ln w="19050">
            <a:solidFill>
              <a:srgbClr val="41545A"/>
            </a:solidFill>
            <a:prstDash val="solid"/>
            <a:tailEnd type="triangle"/>
          </a:ln>
        </p:spPr>
      </p:sp>
      <p:sp>
        <p:nvSpPr>
          <p:cNvPr id="45" name="01-journey-start-to-goal:edge:c5-&gt;goal"/>
          <p:cNvSpPr/>
          <p:nvPr/>
        </p:nvSpPr>
        <p:spPr>
          <a:xfrm>
            <a:off x="10356402" y="2487784"/>
            <a:ext cx="137481" cy="12903"/>
          </a:xfrm>
          <a:prstGeom prst="line">
            <a:avLst/>
          </a:prstGeom>
          <a:noFill/>
          <a:ln w="19050">
            <a:solidFill>
              <a:srgbClr val="41545A"/>
            </a:solidFill>
            <a:prstDash val="solid"/>
            <a:tailEnd type="triangle"/>
          </a:ln>
        </p:spPr>
      </p:sp>
      <p:sp>
        <p:nvSpPr>
          <p:cNvPr id="46" name="01-journey-start-to-goal:edge:t0-&gt;t1"/>
          <p:cNvSpPr/>
          <p:nvPr/>
        </p:nvSpPr>
        <p:spPr>
          <a:xfrm>
            <a:off x="1750062" y="6204712"/>
            <a:ext cx="164978" cy="914"/>
          </a:xfrm>
          <a:prstGeom prst="line">
            <a:avLst/>
          </a:prstGeom>
          <a:noFill/>
          <a:ln w="19050">
            <a:solidFill>
              <a:srgbClr val="41545A"/>
            </a:solidFill>
            <a:prstDash val="solid"/>
            <a:tailEnd type="triangle"/>
          </a:ln>
        </p:spPr>
      </p:sp>
      <p:sp>
        <p:nvSpPr>
          <p:cNvPr id="47" name="01-journey-start-to-goal:edge:t1-&gt;t2"/>
          <p:cNvSpPr/>
          <p:nvPr/>
        </p:nvSpPr>
        <p:spPr>
          <a:xfrm>
            <a:off x="3161538" y="6204712"/>
            <a:ext cx="164978" cy="914"/>
          </a:xfrm>
          <a:prstGeom prst="line">
            <a:avLst/>
          </a:prstGeom>
          <a:noFill/>
          <a:ln w="19050">
            <a:solidFill>
              <a:srgbClr val="41545A"/>
            </a:solidFill>
            <a:prstDash val="solid"/>
            <a:tailEnd type="triangle"/>
          </a:ln>
        </p:spPr>
      </p:sp>
      <p:sp>
        <p:nvSpPr>
          <p:cNvPr id="48" name="01-journey-start-to-goal:edge:t2-&gt;t3"/>
          <p:cNvSpPr/>
          <p:nvPr/>
        </p:nvSpPr>
        <p:spPr>
          <a:xfrm>
            <a:off x="4573014" y="6204712"/>
            <a:ext cx="164978" cy="914"/>
          </a:xfrm>
          <a:prstGeom prst="line">
            <a:avLst/>
          </a:prstGeom>
          <a:noFill/>
          <a:ln w="19050">
            <a:solidFill>
              <a:srgbClr val="41545A"/>
            </a:solidFill>
            <a:prstDash val="solid"/>
            <a:tailEnd type="triangle"/>
          </a:ln>
        </p:spPr>
      </p:sp>
      <p:sp>
        <p:nvSpPr>
          <p:cNvPr id="49" name="01-journey-start-to-goal:edge:t3-&gt;t4"/>
          <p:cNvSpPr/>
          <p:nvPr/>
        </p:nvSpPr>
        <p:spPr>
          <a:xfrm>
            <a:off x="5984491" y="6204712"/>
            <a:ext cx="164978" cy="914"/>
          </a:xfrm>
          <a:prstGeom prst="line">
            <a:avLst/>
          </a:prstGeom>
          <a:noFill/>
          <a:ln w="19050">
            <a:solidFill>
              <a:srgbClr val="41545A"/>
            </a:solidFill>
            <a:prstDash val="solid"/>
            <a:tailEnd type="triangle"/>
          </a:ln>
        </p:spPr>
      </p:sp>
      <p:sp>
        <p:nvSpPr>
          <p:cNvPr id="50" name="01-journey-start-to-goal:edge:t4-&gt;t5"/>
          <p:cNvSpPr/>
          <p:nvPr/>
        </p:nvSpPr>
        <p:spPr>
          <a:xfrm>
            <a:off x="7395967" y="6204712"/>
            <a:ext cx="164978" cy="914"/>
          </a:xfrm>
          <a:prstGeom prst="line">
            <a:avLst/>
          </a:prstGeom>
          <a:noFill/>
          <a:ln w="19050">
            <a:solidFill>
              <a:srgbClr val="41545A"/>
            </a:solidFill>
            <a:prstDash val="solid"/>
            <a:tailEnd type="triangle"/>
          </a:ln>
        </p:spPr>
      </p:sp>
      <p:sp>
        <p:nvSpPr>
          <p:cNvPr id="51" name="01-journey-start-to-goal:edge:t5-&gt;t6"/>
          <p:cNvSpPr/>
          <p:nvPr/>
        </p:nvSpPr>
        <p:spPr>
          <a:xfrm>
            <a:off x="8807444" y="6204712"/>
            <a:ext cx="164978" cy="914"/>
          </a:xfrm>
          <a:prstGeom prst="line">
            <a:avLst/>
          </a:prstGeom>
          <a:noFill/>
          <a:ln w="19050">
            <a:solidFill>
              <a:srgbClr val="41545A"/>
            </a:solidFill>
            <a:prstDash val="solid"/>
            <a:tailEnd type="triangle"/>
          </a:ln>
        </p:spPr>
      </p:sp>
      <p:sp>
        <p:nvSpPr>
          <p:cNvPr id="52" name="01-journey-start-to-goal:edge:t6-&gt;t7"/>
          <p:cNvSpPr/>
          <p:nvPr/>
        </p:nvSpPr>
        <p:spPr>
          <a:xfrm>
            <a:off x="10218920" y="6204712"/>
            <a:ext cx="164978" cy="914"/>
          </a:xfrm>
          <a:prstGeom prst="line">
            <a:avLst/>
          </a:prstGeom>
          <a:noFill/>
          <a:ln w="19050">
            <a:solidFill>
              <a:srgbClr val="41545A"/>
            </a:solidFill>
            <a:prstDash val="solid"/>
            <a:tailEnd type="triangle"/>
          </a:ln>
        </p:spPr>
      </p:sp>
      <p:sp>
        <p:nvSpPr>
          <p:cNvPr id="25" name="Slide Number Placeholder 0"/>
          <p:cNvSpPr>
            <a:spLocks noGrp="1"/>
          </p:cNvSpPr>
          <p:nvPr>
            <p:ph type="sldNum" sz="quarter" idx="4294967295"/>
          </p:nvPr>
        </p:nvSpPr>
        <p:spPr>
          <a:xfrm>
            <a:off x="11247120" y="3657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0607040" cy="594360"/>
          </a:xfrm>
          <a:prstGeom prst="rect">
            <a:avLst/>
          </a:prstGeom>
          <a:noFill/>
          <a:ln/>
        </p:spPr>
        <p:txBody>
          <a:bodyPr wrap="square" lIns="0" tIns="0" rIns="0" bIns="0" rtlCol="0" anchor="ctr"/>
          <a:lstStyle/>
          <a:p>
            <a:pPr algn="l" indent="0" marL="0">
              <a:buNone/>
            </a:pPr>
            <a:r>
              <a:rPr lang="en-US" sz="2600" b="1" dirty="0">
                <a:solidFill>
                  <a:schemeClr val="tx2"/>
                </a:solidFill>
              </a:rPr>
              <a:t>What we inherited: three generations side by side, no control point</a:t>
            </a:r>
            <a:endParaRPr lang="en-US" sz="2600" dirty="0"/>
          </a:p>
        </p:txBody>
      </p:sp>
      <p:sp>
        <p:nvSpPr>
          <p:cNvPr id="4" name="02-architecture-repo-1.0:l_call"/>
          <p:cNvSpPr txBox="1"/>
          <p:nvPr/>
        </p:nvSpPr>
        <p:spPr>
          <a:xfrm>
            <a:off x="320254" y="995045"/>
            <a:ext cx="1649778" cy="3548380"/>
          </a:xfrm>
          <a:prstGeom prst="roundRect">
            <a:avLst>
              <a:gd name="adj" fmla="val 1663"/>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Callers</a:t>
            </a:r>
            <a:endParaRPr lang="en-US" sz="1170" dirty="0"/>
          </a:p>
        </p:txBody>
      </p:sp>
      <p:sp>
        <p:nvSpPr>
          <p:cNvPr id="5" name="02-architecture-repo-1.0:caller"/>
          <p:cNvSpPr txBox="1"/>
          <p:nvPr/>
        </p:nvSpPr>
        <p:spPr>
          <a:xfrm>
            <a:off x="457736" y="1398270"/>
            <a:ext cx="1374815" cy="887095"/>
          </a:xfrm>
          <a:prstGeom prst="roundRect">
            <a:avLst>
              <a:gd name="adj" fmla="val 6185"/>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00" b="1" dirty="0">
                <a:solidFill>
                  <a:srgbClr val="7B241C"/>
                </a:solidFill>
                <a:latin typeface="Calibri" pitchFamily="34" charset="0"/>
                <a:ea typeface="Calibri" pitchFamily="34" charset="-122"/>
                <a:cs typeface="Calibri" pitchFamily="34" charset="-120"/>
              </a:rPr>
              <a:t>API caller</a:t>
            </a:r>
            <a:endParaRPr lang="en-US" sz="1100" dirty="0"/>
          </a:p>
          <a:p>
            <a:pPr algn="ctr" indent="0" marL="0">
              <a:buNone/>
            </a:pPr>
            <a:r>
              <a:rPr lang="en-US" sz="1100" dirty="0">
                <a:solidFill>
                  <a:srgbClr val="7B241C"/>
                </a:solidFill>
                <a:latin typeface="Calibri" pitchFamily="34" charset="0"/>
                <a:ea typeface="Calibri" pitchFamily="34" charset="-122"/>
                <a:cs typeface="Calibri" pitchFamily="34" charset="-120"/>
              </a:rPr>
              <a:t>sends an</a:t>
            </a:r>
            <a:endParaRPr lang="en-US" sz="1100" dirty="0"/>
          </a:p>
          <a:p>
            <a:pPr algn="ctr" indent="0" marL="0">
              <a:buNone/>
            </a:pPr>
            <a:r>
              <a:rPr lang="en-US" sz="1100" dirty="0">
                <a:solidFill>
                  <a:srgbClr val="7B241C"/>
                </a:solidFill>
                <a:latin typeface="Calibri" pitchFamily="34" charset="0"/>
                <a:ea typeface="Calibri" pitchFamily="34" charset="-122"/>
                <a:cs typeface="Calibri" pitchFamily="34" charset="-120"/>
              </a:rPr>
              <a:t>X-User-Role</a:t>
            </a:r>
            <a:endParaRPr lang="en-US" sz="1100" dirty="0"/>
          </a:p>
          <a:p>
            <a:pPr algn="ctr" indent="0" marL="0">
              <a:buNone/>
            </a:pPr>
            <a:r>
              <a:rPr lang="en-US" sz="1100" dirty="0">
                <a:solidFill>
                  <a:srgbClr val="7B241C"/>
                </a:solidFill>
                <a:latin typeface="Calibri" pitchFamily="34" charset="0"/>
                <a:ea typeface="Calibri" pitchFamily="34" charset="-122"/>
                <a:cs typeface="Calibri" pitchFamily="34" charset="-120"/>
              </a:rPr>
              <a:t>header</a:t>
            </a:r>
            <a:endParaRPr lang="en-US" sz="1100" dirty="0"/>
          </a:p>
        </p:txBody>
      </p:sp>
      <p:sp>
        <p:nvSpPr>
          <p:cNvPr id="6" name="02-architecture-repo-1.0:portal"/>
          <p:cNvSpPr txBox="1"/>
          <p:nvPr/>
        </p:nvSpPr>
        <p:spPr>
          <a:xfrm>
            <a:off x="457736" y="2527300"/>
            <a:ext cx="1374815" cy="725805"/>
          </a:xfrm>
          <a:prstGeom prst="roundRect">
            <a:avLst>
              <a:gd name="adj" fmla="val 7559"/>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00" b="1" dirty="0">
                <a:solidFill>
                  <a:srgbClr val="7B241C"/>
                </a:solidFill>
                <a:latin typeface="Calibri" pitchFamily="34" charset="0"/>
                <a:ea typeface="Calibri" pitchFamily="34" charset="-122"/>
                <a:cs typeface="Calibri" pitchFamily="34" charset="-120"/>
              </a:rPr>
              <a:t>Web portal</a:t>
            </a:r>
            <a:endParaRPr lang="en-US" sz="1100" dirty="0"/>
          </a:p>
          <a:p>
            <a:pPr algn="ctr" indent="0" marL="0">
              <a:buNone/>
            </a:pPr>
            <a:r>
              <a:rPr lang="en-US" sz="1100" dirty="0">
                <a:solidFill>
                  <a:srgbClr val="7B241C"/>
                </a:solidFill>
                <a:latin typeface="Calibri" pitchFamily="34" charset="0"/>
                <a:ea typeface="Calibri" pitchFamily="34" charset="-122"/>
                <a:cs typeface="Calibri" pitchFamily="34" charset="-120"/>
              </a:rPr>
              <a:t>scaffold only</a:t>
            </a:r>
            <a:endParaRPr lang="en-US" sz="1100" dirty="0"/>
          </a:p>
        </p:txBody>
      </p:sp>
      <p:sp>
        <p:nvSpPr>
          <p:cNvPr id="7" name="02-architecture-repo-1.0:l_api"/>
          <p:cNvSpPr txBox="1"/>
          <p:nvPr/>
        </p:nvSpPr>
        <p:spPr>
          <a:xfrm>
            <a:off x="2107513" y="995045"/>
            <a:ext cx="3941135" cy="3548380"/>
          </a:xfrm>
          <a:prstGeom prst="roundRect">
            <a:avLst>
              <a:gd name="adj" fmla="val 773"/>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Generations 2 and 3: API and AI (apps/api)</a:t>
            </a:r>
            <a:endParaRPr lang="en-US" sz="1170" dirty="0"/>
          </a:p>
        </p:txBody>
      </p:sp>
      <p:sp>
        <p:nvSpPr>
          <p:cNvPr id="8" name="02-architecture-repo-1.0:main"/>
          <p:cNvSpPr txBox="1"/>
          <p:nvPr/>
        </p:nvSpPr>
        <p:spPr>
          <a:xfrm>
            <a:off x="2290822" y="1357948"/>
            <a:ext cx="3574518" cy="725805"/>
          </a:xfrm>
          <a:prstGeom prst="roundRect">
            <a:avLst>
              <a:gd name="adj" fmla="val 7559"/>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00" b="1" dirty="0">
                <a:solidFill>
                  <a:srgbClr val="7B241C"/>
                </a:solidFill>
                <a:latin typeface="Calibri" pitchFamily="34" charset="0"/>
                <a:ea typeface="Calibri" pitchFamily="34" charset="-122"/>
                <a:cs typeface="Calibri" pitchFamily="34" charset="-120"/>
              </a:rPr>
              <a:t>main.py: 3 routes</a:t>
            </a:r>
            <a:endParaRPr lang="en-US" sz="1100" dirty="0"/>
          </a:p>
          <a:p>
            <a:pPr algn="ctr" indent="0" marL="0">
              <a:buNone/>
            </a:pPr>
            <a:r>
              <a:rPr lang="en-US" sz="1100" dirty="0">
                <a:solidFill>
                  <a:srgbClr val="7B241C"/>
                </a:solidFill>
                <a:latin typeface="Calibri" pitchFamily="34" charset="0"/>
                <a:ea typeface="Calibri" pitchFamily="34" charset="-122"/>
                <a:cs typeface="Calibri" pitchFamily="34" charset="-120"/>
              </a:rPr>
              <a:t>role taken from the header, never checked</a:t>
            </a:r>
            <a:endParaRPr lang="en-US" sz="1100" dirty="0"/>
          </a:p>
        </p:txBody>
      </p:sp>
      <p:sp>
        <p:nvSpPr>
          <p:cNvPr id="9" name="02-architecture-repo-1.0:ai"/>
          <p:cNvSpPr txBox="1"/>
          <p:nvPr/>
        </p:nvSpPr>
        <p:spPr>
          <a:xfrm>
            <a:off x="2290822" y="2446655"/>
            <a:ext cx="1099852" cy="1290320"/>
          </a:xfrm>
          <a:prstGeom prst="roundRect">
            <a:avLst>
              <a:gd name="adj" fmla="val 4988"/>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20" b="1" dirty="0">
                <a:solidFill>
                  <a:srgbClr val="7B241C"/>
                </a:solidFill>
                <a:latin typeface="Calibri" pitchFamily="34" charset="0"/>
                <a:ea typeface="Calibri" pitchFamily="34" charset="-122"/>
                <a:cs typeface="Calibri" pitchFamily="34" charset="-120"/>
              </a:rPr>
              <a:t>AI gateway</a:t>
            </a:r>
            <a:endParaRPr lang="en-US" sz="1020" dirty="0"/>
          </a:p>
          <a:p>
            <a:pPr algn="ctr" indent="0" marL="0">
              <a:buNone/>
            </a:pPr>
            <a:r>
              <a:rPr lang="en-US" sz="1020" dirty="0">
                <a:solidFill>
                  <a:srgbClr val="7B241C"/>
                </a:solidFill>
                <a:latin typeface="Calibri" pitchFamily="34" charset="0"/>
                <a:ea typeface="Calibri" pitchFamily="34" charset="-122"/>
                <a:cs typeface="Calibri" pitchFamily="34" charset="-120"/>
              </a:rPr>
              <a:t>no auth;</a:t>
            </a:r>
            <a:endParaRPr lang="en-US" sz="1020" dirty="0"/>
          </a:p>
          <a:p>
            <a:pPr algn="ctr" indent="0" marL="0">
              <a:buNone/>
            </a:pPr>
            <a:r>
              <a:rPr lang="en-US" sz="1020" dirty="0">
                <a:solidFill>
                  <a:srgbClr val="7B241C"/>
                </a:solidFill>
                <a:latin typeface="Calibri" pitchFamily="34" charset="0"/>
                <a:ea typeface="Calibri" pitchFamily="34" charset="-122"/>
                <a:cs typeface="Calibri" pitchFamily="34" charset="-120"/>
              </a:rPr>
              <a:t>guardrail not</a:t>
            </a:r>
            <a:endParaRPr lang="en-US" sz="1020" dirty="0"/>
          </a:p>
          <a:p>
            <a:pPr algn="ctr" indent="0" marL="0">
              <a:buNone/>
            </a:pPr>
            <a:r>
              <a:rPr lang="en-US" sz="1020" dirty="0">
                <a:solidFill>
                  <a:srgbClr val="7B241C"/>
                </a:solidFill>
                <a:latin typeface="Calibri" pitchFamily="34" charset="0"/>
                <a:ea typeface="Calibri" pitchFamily="34" charset="-122"/>
                <a:cs typeface="Calibri" pitchFamily="34" charset="-120"/>
              </a:rPr>
              <a:t>enforced</a:t>
            </a:r>
            <a:endParaRPr lang="en-US" sz="1020" dirty="0"/>
          </a:p>
        </p:txBody>
      </p:sp>
      <p:sp>
        <p:nvSpPr>
          <p:cNvPr id="10" name="02-architecture-repo-1.0:audit"/>
          <p:cNvSpPr txBox="1"/>
          <p:nvPr/>
        </p:nvSpPr>
        <p:spPr>
          <a:xfrm>
            <a:off x="3528155" y="2446655"/>
            <a:ext cx="1099852" cy="1290320"/>
          </a:xfrm>
          <a:prstGeom prst="roundRect">
            <a:avLst>
              <a:gd name="adj" fmla="val 4988"/>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20" b="1" dirty="0">
                <a:solidFill>
                  <a:srgbClr val="7B241C"/>
                </a:solidFill>
                <a:latin typeface="Calibri" pitchFamily="34" charset="0"/>
                <a:ea typeface="Calibri" pitchFamily="34" charset="-122"/>
                <a:cs typeface="Calibri" pitchFamily="34" charset="-120"/>
              </a:rPr>
              <a:t>Audit writer</a:t>
            </a:r>
            <a:endParaRPr lang="en-US" sz="1020" dirty="0"/>
          </a:p>
          <a:p>
            <a:pPr algn="ctr" indent="0" marL="0">
              <a:buNone/>
            </a:pPr>
            <a:r>
              <a:rPr lang="en-US" sz="1020" dirty="0">
                <a:solidFill>
                  <a:srgbClr val="7B241C"/>
                </a:solidFill>
                <a:latin typeface="Calibri" pitchFamily="34" charset="0"/>
                <a:ea typeface="Calibri" pitchFamily="34" charset="-122"/>
                <a:cs typeface="Calibri" pitchFamily="34" charset="-120"/>
              </a:rPr>
              <a:t>no actor, no</a:t>
            </a:r>
            <a:endParaRPr lang="en-US" sz="1020" dirty="0"/>
          </a:p>
          <a:p>
            <a:pPr algn="ctr" indent="0" marL="0">
              <a:buNone/>
            </a:pPr>
            <a:r>
              <a:rPr lang="en-US" sz="1020" dirty="0">
                <a:solidFill>
                  <a:srgbClr val="7B241C"/>
                </a:solidFill>
                <a:latin typeface="Calibri" pitchFamily="34" charset="0"/>
                <a:ea typeface="Calibri" pitchFamily="34" charset="-122"/>
                <a:cs typeface="Calibri" pitchFamily="34" charset="-120"/>
              </a:rPr>
              <a:t>correlation</a:t>
            </a:r>
            <a:endParaRPr lang="en-US" sz="1020" dirty="0"/>
          </a:p>
          <a:p>
            <a:pPr algn="ctr" indent="0" marL="0">
              <a:buNone/>
            </a:pPr>
            <a:r>
              <a:rPr lang="en-US" sz="1020" dirty="0">
                <a:solidFill>
                  <a:srgbClr val="7B241C"/>
                </a:solidFill>
                <a:latin typeface="Calibri" pitchFamily="34" charset="0"/>
                <a:ea typeface="Calibri" pitchFamily="34" charset="-122"/>
                <a:cs typeface="Calibri" pitchFamily="34" charset="-120"/>
              </a:rPr>
              <a:t>id</a:t>
            </a:r>
            <a:endParaRPr lang="en-US" sz="1020" dirty="0"/>
          </a:p>
        </p:txBody>
      </p:sp>
      <p:sp>
        <p:nvSpPr>
          <p:cNvPr id="11" name="02-architecture-repo-1.0:dom"/>
          <p:cNvSpPr txBox="1"/>
          <p:nvPr/>
        </p:nvSpPr>
        <p:spPr>
          <a:xfrm>
            <a:off x="4765488" y="2446655"/>
            <a:ext cx="1099852" cy="1290320"/>
          </a:xfrm>
          <a:prstGeom prst="roundRect">
            <a:avLst>
              <a:gd name="adj" fmla="val 4988"/>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20" b="1" dirty="0">
                <a:solidFill>
                  <a:srgbClr val="7B241C"/>
                </a:solidFill>
                <a:latin typeface="Calibri" pitchFamily="34" charset="0"/>
                <a:ea typeface="Calibri" pitchFamily="34" charset="-122"/>
                <a:cs typeface="Calibri" pitchFamily="34" charset="-120"/>
              </a:rPr>
              <a:t>Record lookup</a:t>
            </a:r>
            <a:endParaRPr lang="en-US" sz="1020" dirty="0"/>
          </a:p>
          <a:p>
            <a:pPr algn="ctr" indent="0" marL="0">
              <a:buNone/>
            </a:pPr>
            <a:r>
              <a:rPr lang="en-US" sz="1020" dirty="0">
                <a:solidFill>
                  <a:srgbClr val="7B241C"/>
                </a:solidFill>
                <a:latin typeface="Calibri" pitchFamily="34" charset="0"/>
                <a:ea typeface="Calibri" pitchFamily="34" charset="-122"/>
                <a:cs typeface="Calibri" pitchFamily="34" charset="-120"/>
              </a:rPr>
              <a:t>any column; a</a:t>
            </a:r>
            <a:endParaRPr lang="en-US" sz="1020" dirty="0"/>
          </a:p>
          <a:p>
            <a:pPr algn="ctr" indent="0" marL="0">
              <a:buNone/>
            </a:pPr>
            <a:r>
              <a:rPr lang="en-US" sz="1020" dirty="0">
                <a:solidFill>
                  <a:srgbClr val="7B241C"/>
                </a:solidFill>
                <a:latin typeface="Calibri" pitchFamily="34" charset="0"/>
                <a:ea typeface="Calibri" pitchFamily="34" charset="-122"/>
                <a:cs typeface="Calibri" pitchFamily="34" charset="-120"/>
              </a:rPr>
              <a:t>row even on a</a:t>
            </a:r>
            <a:endParaRPr lang="en-US" sz="1020" dirty="0"/>
          </a:p>
          <a:p>
            <a:pPr algn="ctr" indent="0" marL="0">
              <a:buNone/>
            </a:pPr>
            <a:r>
              <a:rPr lang="en-US" sz="1020" dirty="0">
                <a:solidFill>
                  <a:srgbClr val="7B241C"/>
                </a:solidFill>
                <a:latin typeface="Calibri" pitchFamily="34" charset="0"/>
                <a:ea typeface="Calibri" pitchFamily="34" charset="-122"/>
                <a:cs typeface="Calibri" pitchFamily="34" charset="-120"/>
              </a:rPr>
              <a:t>miss</a:t>
            </a:r>
            <a:endParaRPr lang="en-US" sz="1020" dirty="0"/>
          </a:p>
        </p:txBody>
      </p:sp>
      <p:sp>
        <p:nvSpPr>
          <p:cNvPr id="12" name="02-architecture-repo-1.0:l_leg"/>
          <p:cNvSpPr txBox="1"/>
          <p:nvPr/>
        </p:nvSpPr>
        <p:spPr>
          <a:xfrm>
            <a:off x="2107513" y="4664393"/>
            <a:ext cx="3941135" cy="1975803"/>
          </a:xfrm>
          <a:prstGeom prst="roundRect">
            <a:avLst>
              <a:gd name="adj" fmla="val 1388"/>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Generation 1: legacy batch</a:t>
            </a:r>
            <a:endParaRPr lang="en-US" sz="1170" dirty="0"/>
          </a:p>
        </p:txBody>
      </p:sp>
      <p:sp>
        <p:nvSpPr>
          <p:cNvPr id="13" name="02-architecture-repo-1.0:rec"/>
          <p:cNvSpPr txBox="1"/>
          <p:nvPr/>
        </p:nvSpPr>
        <p:spPr>
          <a:xfrm>
            <a:off x="2290822" y="4986973"/>
            <a:ext cx="3574518" cy="645160"/>
          </a:xfrm>
          <a:prstGeom prst="roundRect">
            <a:avLst>
              <a:gd name="adj" fmla="val 8504"/>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00" b="1" dirty="0">
                <a:solidFill>
                  <a:srgbClr val="7B241C"/>
                </a:solidFill>
                <a:latin typeface="Calibri" pitchFamily="34" charset="0"/>
                <a:ea typeface="Calibri" pitchFamily="34" charset="-122"/>
                <a:cs typeface="Calibri" pitchFamily="34" charset="-120"/>
              </a:rPr>
              <a:t>reconcile_legacy.py</a:t>
            </a:r>
            <a:endParaRPr lang="en-US" sz="1100" dirty="0"/>
          </a:p>
          <a:p>
            <a:pPr algn="ctr" indent="0" marL="0">
              <a:buNone/>
            </a:pPr>
            <a:r>
              <a:rPr lang="en-US" sz="1100" dirty="0">
                <a:solidFill>
                  <a:srgbClr val="7B241C"/>
                </a:solidFill>
                <a:latin typeface="Calibri" pitchFamily="34" charset="0"/>
                <a:ea typeface="Calibri" pitchFamily="34" charset="-122"/>
                <a:cs typeface="Calibri" pitchFamily="34" charset="-120"/>
              </a:rPr>
              <a:t>counts rows; hard-coded credential</a:t>
            </a:r>
            <a:endParaRPr lang="en-US" sz="1100" dirty="0"/>
          </a:p>
        </p:txBody>
      </p:sp>
      <p:sp>
        <p:nvSpPr>
          <p:cNvPr id="14" name="02-architecture-repo-1.0:etl"/>
          <p:cNvSpPr txBox="1"/>
          <p:nvPr/>
        </p:nvSpPr>
        <p:spPr>
          <a:xfrm>
            <a:off x="2290822" y="5793423"/>
            <a:ext cx="3574518" cy="645160"/>
          </a:xfrm>
          <a:prstGeom prst="roundRect">
            <a:avLst>
              <a:gd name="adj" fmla="val 8504"/>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00" b="1" dirty="0">
                <a:solidFill>
                  <a:srgbClr val="7B241C"/>
                </a:solidFill>
                <a:latin typeface="Calibri" pitchFamily="34" charset="0"/>
                <a:ea typeface="Calibri" pitchFamily="34" charset="-122"/>
                <a:cs typeface="Calibri" pitchFamily="34" charset="-120"/>
              </a:rPr>
              <a:t>run_daily_batch.py</a:t>
            </a:r>
            <a:endParaRPr lang="en-US" sz="1100" dirty="0"/>
          </a:p>
          <a:p>
            <a:pPr algn="ctr" indent="0" marL="0">
              <a:buNone/>
            </a:pPr>
            <a:r>
              <a:rPr lang="en-US" sz="1100" dirty="0">
                <a:solidFill>
                  <a:srgbClr val="7B241C"/>
                </a:solidFill>
                <a:latin typeface="Calibri" pitchFamily="34" charset="0"/>
                <a:ea typeface="Calibri" pitchFamily="34" charset="-122"/>
                <a:cs typeface="Calibri" pitchFamily="34" charset="-120"/>
              </a:rPr>
              <a:t>counts blanks; validates nothing</a:t>
            </a:r>
            <a:endParaRPr lang="en-US" sz="1100" dirty="0"/>
          </a:p>
        </p:txBody>
      </p:sp>
      <p:sp>
        <p:nvSpPr>
          <p:cNvPr id="15" name="02-architecture-repo-1.0:l_data"/>
          <p:cNvSpPr txBox="1"/>
          <p:nvPr/>
        </p:nvSpPr>
        <p:spPr>
          <a:xfrm>
            <a:off x="6186130" y="995045"/>
            <a:ext cx="2016395" cy="5645150"/>
          </a:xfrm>
          <a:prstGeom prst="roundRect">
            <a:avLst>
              <a:gd name="adj" fmla="val 1360"/>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Data (data/synthetic)</a:t>
            </a:r>
            <a:endParaRPr lang="en-US" sz="1170" dirty="0"/>
          </a:p>
        </p:txBody>
      </p:sp>
      <p:sp>
        <p:nvSpPr>
          <p:cNvPr id="16" name="02-architecture-repo-1.0:data"/>
          <p:cNvSpPr txBox="1"/>
          <p:nvPr/>
        </p:nvSpPr>
        <p:spPr>
          <a:xfrm>
            <a:off x="6323612" y="1398270"/>
            <a:ext cx="1741432" cy="2016125"/>
          </a:xfrm>
          <a:prstGeom prst="roundRect">
            <a:avLst>
              <a:gd name="adj" fmla="val 315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7 synthetic files</a:t>
            </a:r>
            <a:endParaRPr lang="en-US" sz="1100" dirty="0"/>
          </a:p>
          <a:p>
            <a:pPr algn="ctr" indent="0" marL="0">
              <a:buNone/>
            </a:pPr>
            <a:r>
              <a:rPr lang="en-US" sz="1100" dirty="0">
                <a:solidFill>
                  <a:srgbClr val="0B3C49"/>
                </a:solidFill>
                <a:latin typeface="Calibri" pitchFamily="34" charset="0"/>
                <a:ea typeface="Calibri" pitchFamily="34" charset="-122"/>
                <a:cs typeface="Calibri" pitchFamily="34" charset="-120"/>
              </a:rPr>
              <a:t>shipments, tracking</a:t>
            </a:r>
            <a:endParaRPr lang="en-US" sz="1100" dirty="0"/>
          </a:p>
          <a:p>
            <a:pPr algn="ctr" indent="0" marL="0">
              <a:buNone/>
            </a:pPr>
            <a:r>
              <a:rPr lang="en-US" sz="1100" dirty="0">
                <a:solidFill>
                  <a:srgbClr val="0B3C49"/>
                </a:solidFill>
                <a:latin typeface="Calibri" pitchFamily="34" charset="0"/>
                <a:ea typeface="Calibri" pitchFamily="34" charset="-122"/>
                <a:cs typeface="Calibri" pitchFamily="34" charset="-120"/>
              </a:rPr>
              <a:t>events, vehicles,</a:t>
            </a:r>
            <a:endParaRPr lang="en-US" sz="1100" dirty="0"/>
          </a:p>
          <a:p>
            <a:pPr algn="ctr" indent="0" marL="0">
              <a:buNone/>
            </a:pPr>
            <a:r>
              <a:rPr lang="en-US" sz="1100" dirty="0">
                <a:solidFill>
                  <a:srgbClr val="0B3C49"/>
                </a:solidFill>
                <a:latin typeface="Calibri" pitchFamily="34" charset="0"/>
                <a:ea typeface="Calibri" pitchFamily="34" charset="-122"/>
                <a:cs typeface="Calibri" pitchFamily="34" charset="-120"/>
              </a:rPr>
              <a:t>routes, bookings, AI</a:t>
            </a:r>
            <a:endParaRPr lang="en-US" sz="1100" dirty="0"/>
          </a:p>
          <a:p>
            <a:pPr algn="ctr" indent="0" marL="0">
              <a:buNone/>
            </a:pPr>
            <a:r>
              <a:rPr lang="en-US" sz="1100" dirty="0">
                <a:solidFill>
                  <a:srgbClr val="0B3C49"/>
                </a:solidFill>
                <a:latin typeface="Calibri" pitchFamily="34" charset="0"/>
                <a:ea typeface="Calibri" pitchFamily="34" charset="-122"/>
                <a:cs typeface="Calibri" pitchFamily="34" charset="-120"/>
              </a:rPr>
              <a:t>calls, event stream</a:t>
            </a:r>
            <a:endParaRPr lang="en-US" sz="1100" dirty="0"/>
          </a:p>
        </p:txBody>
      </p:sp>
      <p:sp>
        <p:nvSpPr>
          <p:cNvPr id="17" name="02-architecture-repo-1.0:defects"/>
          <p:cNvSpPr txBox="1"/>
          <p:nvPr/>
        </p:nvSpPr>
        <p:spPr>
          <a:xfrm>
            <a:off x="6323612" y="3575685"/>
            <a:ext cx="1741432" cy="1612900"/>
          </a:xfrm>
          <a:prstGeom prst="roundRect">
            <a:avLst>
              <a:gd name="adj" fmla="val 3402"/>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00" b="1" dirty="0">
                <a:solidFill>
                  <a:srgbClr val="7B241C"/>
                </a:solidFill>
                <a:latin typeface="Calibri" pitchFamily="34" charset="0"/>
                <a:ea typeface="Calibri" pitchFamily="34" charset="-122"/>
                <a:cs typeface="Calibri" pitchFamily="34" charset="-120"/>
              </a:rPr>
              <a:t>Seeded defects</a:t>
            </a:r>
            <a:endParaRPr lang="en-US" sz="1100" dirty="0"/>
          </a:p>
          <a:p>
            <a:pPr algn="ctr" indent="0" marL="0">
              <a:buNone/>
            </a:pPr>
            <a:r>
              <a:rPr lang="en-US" sz="1100" dirty="0">
                <a:solidFill>
                  <a:srgbClr val="7B241C"/>
                </a:solidFill>
                <a:latin typeface="Calibri" pitchFamily="34" charset="0"/>
                <a:ea typeface="Calibri" pitchFamily="34" charset="-122"/>
                <a:cs typeface="Calibri" pitchFamily="34" charset="-120"/>
              </a:rPr>
              <a:t>duplicates, bad keys,</a:t>
            </a:r>
            <a:endParaRPr lang="en-US" sz="1100" dirty="0"/>
          </a:p>
          <a:p>
            <a:pPr algn="ctr" indent="0" marL="0">
              <a:buNone/>
            </a:pPr>
            <a:r>
              <a:rPr lang="en-US" sz="1100" dirty="0">
                <a:solidFill>
                  <a:srgbClr val="7B241C"/>
                </a:solidFill>
                <a:latin typeface="Calibri" pitchFamily="34" charset="0"/>
                <a:ea typeface="Calibri" pitchFamily="34" charset="-122"/>
                <a:cs typeface="Calibri" pitchFamily="34" charset="-120"/>
              </a:rPr>
              <a:t>REC-0001 collision,</a:t>
            </a:r>
            <a:endParaRPr lang="en-US" sz="1100" dirty="0"/>
          </a:p>
          <a:p>
            <a:pPr algn="ctr" indent="0" marL="0">
              <a:buNone/>
            </a:pPr>
            <a:r>
              <a:rPr lang="en-US" sz="1100" dirty="0">
                <a:solidFill>
                  <a:srgbClr val="7B241C"/>
                </a:solidFill>
                <a:latin typeface="Calibri" pitchFamily="34" charset="0"/>
                <a:ea typeface="Calibri" pitchFamily="34" charset="-122"/>
                <a:cs typeface="Calibri" pitchFamily="34" charset="-120"/>
              </a:rPr>
              <a:t>placeholder values</a:t>
            </a:r>
            <a:endParaRPr lang="en-US" sz="1100" dirty="0"/>
          </a:p>
        </p:txBody>
      </p:sp>
      <p:sp>
        <p:nvSpPr>
          <p:cNvPr id="18" name="02-architecture-repo-1.0:l_nc"/>
          <p:cNvSpPr txBox="1"/>
          <p:nvPr/>
        </p:nvSpPr>
        <p:spPr>
          <a:xfrm>
            <a:off x="8340007" y="995045"/>
            <a:ext cx="3528691" cy="5645150"/>
          </a:xfrm>
          <a:prstGeom prst="roundRect">
            <a:avLst>
              <a:gd name="adj" fmla="val 777"/>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Present but not connected</a:t>
            </a:r>
            <a:endParaRPr lang="en-US" sz="1170" dirty="0"/>
          </a:p>
        </p:txBody>
      </p:sp>
      <p:sp>
        <p:nvSpPr>
          <p:cNvPr id="19" name="02-architecture-repo-1.0:rego"/>
          <p:cNvSpPr txBox="1"/>
          <p:nvPr/>
        </p:nvSpPr>
        <p:spPr>
          <a:xfrm>
            <a:off x="8477488" y="1357948"/>
            <a:ext cx="3253728" cy="564515"/>
          </a:xfrm>
          <a:prstGeom prst="roundRect">
            <a:avLst>
              <a:gd name="adj" fmla="val 9719"/>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100" b="1" dirty="0">
                <a:solidFill>
                  <a:srgbClr val="5F6E71"/>
                </a:solidFill>
                <a:latin typeface="Calibri" pitchFamily="34" charset="0"/>
                <a:ea typeface="Calibri" pitchFamily="34" charset="-122"/>
                <a:cs typeface="Calibri" pitchFamily="34" charset="-120"/>
              </a:rPr>
              <a:t>access.rego</a:t>
            </a:r>
            <a:endParaRPr lang="en-US" sz="1100" dirty="0"/>
          </a:p>
          <a:p>
            <a:pPr algn="ctr" indent="0" marL="0">
              <a:buNone/>
            </a:pPr>
            <a:r>
              <a:rPr lang="en-US" sz="1100" dirty="0">
                <a:solidFill>
                  <a:srgbClr val="5F6E71"/>
                </a:solidFill>
                <a:latin typeface="Calibri" pitchFamily="34" charset="0"/>
                <a:ea typeface="Calibri" pitchFamily="34" charset="-122"/>
                <a:cs typeface="Calibri" pitchFamily="34" charset="-120"/>
              </a:rPr>
              <a:t>referenced by no code</a:t>
            </a:r>
            <a:endParaRPr lang="en-US" sz="1100" dirty="0"/>
          </a:p>
        </p:txBody>
      </p:sp>
      <p:sp>
        <p:nvSpPr>
          <p:cNvPr id="20" name="02-architecture-repo-1.0:tf"/>
          <p:cNvSpPr txBox="1"/>
          <p:nvPr/>
        </p:nvSpPr>
        <p:spPr>
          <a:xfrm>
            <a:off x="8477488" y="2043430"/>
            <a:ext cx="3253728" cy="564515"/>
          </a:xfrm>
          <a:prstGeom prst="roundRect">
            <a:avLst>
              <a:gd name="adj" fmla="val 9719"/>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100" b="1" dirty="0">
                <a:solidFill>
                  <a:srgbClr val="5F6E71"/>
                </a:solidFill>
                <a:latin typeface="Calibri" pitchFamily="34" charset="0"/>
                <a:ea typeface="Calibri" pitchFamily="34" charset="-122"/>
                <a:cs typeface="Calibri" pitchFamily="34" charset="-120"/>
              </a:rPr>
              <a:t>Terraform</a:t>
            </a:r>
            <a:endParaRPr lang="en-US" sz="1100" dirty="0"/>
          </a:p>
          <a:p>
            <a:pPr algn="ctr" indent="0" marL="0">
              <a:buNone/>
            </a:pPr>
            <a:r>
              <a:rPr lang="en-US" sz="1100" dirty="0">
                <a:solidFill>
                  <a:srgbClr val="5F6E71"/>
                </a:solidFill>
                <a:latin typeface="Calibri" pitchFamily="34" charset="0"/>
                <a:ea typeface="Calibri" pitchFamily="34" charset="-122"/>
                <a:cs typeface="Calibri" pitchFamily="34" charset="-120"/>
              </a:rPr>
              <a:t>one local_file resource</a:t>
            </a:r>
            <a:endParaRPr lang="en-US" sz="1100" dirty="0"/>
          </a:p>
        </p:txBody>
      </p:sp>
      <p:sp>
        <p:nvSpPr>
          <p:cNvPr id="21" name="02-architecture-repo-1.0:env"/>
          <p:cNvSpPr txBox="1"/>
          <p:nvPr/>
        </p:nvSpPr>
        <p:spPr>
          <a:xfrm>
            <a:off x="8477488" y="2728913"/>
            <a:ext cx="3253728" cy="564515"/>
          </a:xfrm>
          <a:prstGeom prst="roundRect">
            <a:avLst>
              <a:gd name="adj" fmla="val 9719"/>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00" b="1" dirty="0">
                <a:solidFill>
                  <a:srgbClr val="7B241C"/>
                </a:solidFill>
                <a:latin typeface="Calibri" pitchFamily="34" charset="0"/>
                <a:ea typeface="Calibri" pitchFamily="34" charset="-122"/>
                <a:cs typeface="Calibri" pitchFamily="34" charset="-120"/>
              </a:rPr>
              <a:t>.env.example</a:t>
            </a:r>
            <a:endParaRPr lang="en-US" sz="1100" dirty="0"/>
          </a:p>
          <a:p>
            <a:pPr algn="ctr" indent="0" marL="0">
              <a:buNone/>
            </a:pPr>
            <a:r>
              <a:rPr lang="en-US" sz="1100" dirty="0">
                <a:solidFill>
                  <a:srgbClr val="7B241C"/>
                </a:solidFill>
                <a:latin typeface="Calibri" pitchFamily="34" charset="0"/>
                <a:ea typeface="Calibri" pitchFamily="34" charset="-122"/>
                <a:cs typeface="Calibri" pitchFamily="34" charset="-120"/>
              </a:rPr>
              <a:t>credential-shaped values</a:t>
            </a:r>
            <a:endParaRPr lang="en-US" sz="1100" dirty="0"/>
          </a:p>
        </p:txBody>
      </p:sp>
      <p:sp>
        <p:nvSpPr>
          <p:cNvPr id="22" name="02-architecture-repo-1.0:ci"/>
          <p:cNvSpPr txBox="1"/>
          <p:nvPr/>
        </p:nvSpPr>
        <p:spPr>
          <a:xfrm>
            <a:off x="8477488" y="3414395"/>
            <a:ext cx="3253728" cy="645160"/>
          </a:xfrm>
          <a:prstGeom prst="roundRect">
            <a:avLst>
              <a:gd name="adj" fmla="val 8504"/>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00" b="1" dirty="0">
                <a:solidFill>
                  <a:srgbClr val="7B241C"/>
                </a:solidFill>
                <a:latin typeface="Calibri" pitchFamily="34" charset="0"/>
                <a:ea typeface="Calibri" pitchFamily="34" charset="-122"/>
                <a:cs typeface="Calibri" pitchFamily="34" charset="-120"/>
              </a:rPr>
              <a:t>CI and quick-start</a:t>
            </a:r>
            <a:endParaRPr lang="en-US" sz="1100" dirty="0"/>
          </a:p>
          <a:p>
            <a:pPr algn="ctr" indent="0" marL="0">
              <a:buNone/>
            </a:pPr>
            <a:r>
              <a:rPr lang="en-US" sz="1100" dirty="0">
                <a:solidFill>
                  <a:srgbClr val="7B241C"/>
                </a:solidFill>
                <a:latin typeface="Calibri" pitchFamily="34" charset="0"/>
                <a:ea typeface="Calibri" pitchFamily="34" charset="-122"/>
                <a:cs typeface="Calibri" pitchFamily="34" charset="-120"/>
              </a:rPr>
              <a:t>pytest only and never run; quick-start</a:t>
            </a:r>
            <a:endParaRPr lang="en-US" sz="1100" dirty="0"/>
          </a:p>
          <a:p>
            <a:pPr algn="ctr" indent="0" marL="0">
              <a:buNone/>
            </a:pPr>
            <a:r>
              <a:rPr lang="en-US" sz="1100" dirty="0">
                <a:solidFill>
                  <a:srgbClr val="7B241C"/>
                </a:solidFill>
                <a:latin typeface="Calibri" pitchFamily="34" charset="0"/>
                <a:ea typeface="Calibri" pitchFamily="34" charset="-122"/>
                <a:cs typeface="Calibri" pitchFamily="34" charset="-120"/>
              </a:rPr>
              <a:t>fails</a:t>
            </a:r>
            <a:endParaRPr lang="en-US" sz="1100" dirty="0"/>
          </a:p>
        </p:txBody>
      </p:sp>
      <p:sp>
        <p:nvSpPr>
          <p:cNvPr id="23" name="02-architecture-repo-1.0:docs"/>
          <p:cNvSpPr txBox="1"/>
          <p:nvPr/>
        </p:nvSpPr>
        <p:spPr>
          <a:xfrm>
            <a:off x="8477488" y="4180523"/>
            <a:ext cx="3253728" cy="645160"/>
          </a:xfrm>
          <a:prstGeom prst="roundRect">
            <a:avLst>
              <a:gd name="adj" fmla="val 8504"/>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100" b="1" dirty="0">
                <a:solidFill>
                  <a:srgbClr val="5F6E71"/>
                </a:solidFill>
                <a:latin typeface="Calibri" pitchFamily="34" charset="0"/>
                <a:ea typeface="Calibri" pitchFamily="34" charset="-122"/>
                <a:cs typeface="Calibri" pitchFamily="34" charset="-120"/>
              </a:rPr>
              <a:t>Docs promise ETA, routing, copilot</a:t>
            </a:r>
            <a:endParaRPr lang="en-US" sz="1100" dirty="0"/>
          </a:p>
          <a:p>
            <a:pPr algn="ctr" indent="0" marL="0">
              <a:buNone/>
            </a:pPr>
            <a:r>
              <a:rPr lang="en-US" sz="1100" dirty="0">
                <a:solidFill>
                  <a:srgbClr val="5F6E71"/>
                </a:solidFill>
                <a:latin typeface="Calibri" pitchFamily="34" charset="0"/>
                <a:ea typeface="Calibri" pitchFamily="34" charset="-122"/>
                <a:cs typeface="Calibri" pitchFamily="34" charset="-120"/>
              </a:rPr>
              <a:t>none of it exists in code</a:t>
            </a:r>
            <a:endParaRPr lang="en-US" sz="1100" dirty="0"/>
          </a:p>
        </p:txBody>
      </p:sp>
      <p:sp>
        <p:nvSpPr>
          <p:cNvPr id="24" name="02-architecture-repo-1.0:legend"/>
          <p:cNvSpPr txBox="1"/>
          <p:nvPr/>
        </p:nvSpPr>
        <p:spPr>
          <a:xfrm>
            <a:off x="8477488" y="4986973"/>
            <a:ext cx="3253728" cy="1491933"/>
          </a:xfrm>
          <a:prstGeom prst="roundRect">
            <a:avLst>
              <a:gd name="adj" fmla="val 3677"/>
            </a:avLst>
          </a:prstGeom>
          <a:solidFill>
            <a:srgbClr val="FFFFFF"/>
          </a:solidFill>
          <a:ln/>
        </p:spPr>
        <p:txBody>
          <a:bodyPr wrap="square" lIns="25400" tIns="50800" rIns="50800" bIns="25400" rtlCol="0" anchor="ctr"/>
          <a:lstStyle/>
          <a:p>
            <a:pPr algn="l" indent="0" marL="0">
              <a:buNone/>
            </a:pPr>
            <a:r>
              <a:rPr lang="en-US" sz="1020" dirty="0">
                <a:solidFill>
                  <a:srgbClr val="41545A"/>
                </a:solidFill>
                <a:latin typeface="Calibri" pitchFamily="34" charset="0"/>
                <a:ea typeface="Calibri" pitchFamily="34" charset="-122"/>
                <a:cs typeface="Calibri" pitchFamily="34" charset="-120"/>
              </a:rPr>
              <a:t>Scale</a:t>
            </a:r>
            <a:endParaRPr lang="en-US" sz="1020" dirty="0"/>
          </a:p>
          <a:p>
            <a:pPr algn="l" indent="0" marL="0">
              <a:buNone/>
            </a:pPr>
            <a:r>
              <a:rPr lang="en-US" sz="1020" dirty="0">
                <a:solidFill>
                  <a:srgbClr val="41545A"/>
                </a:solidFill>
                <a:latin typeface="Calibri" pitchFamily="34" charset="0"/>
                <a:ea typeface="Calibri" pitchFamily="34" charset="-122"/>
                <a:cs typeface="Calibri" pitchFamily="34" charset="-120"/>
              </a:rPr>
              <a:t>About 140 lines of application code and 3</a:t>
            </a:r>
            <a:endParaRPr lang="en-US" sz="1020" dirty="0"/>
          </a:p>
          <a:p>
            <a:pPr algn="l" indent="0" marL="0">
              <a:buNone/>
            </a:pPr>
            <a:r>
              <a:rPr lang="en-US" sz="1020" dirty="0">
                <a:solidFill>
                  <a:srgbClr val="41545A"/>
                </a:solidFill>
                <a:latin typeface="Calibri" pitchFamily="34" charset="0"/>
                <a:ea typeface="Calibri" pitchFamily="34" charset="-122"/>
                <a:cs typeface="Calibri" pitchFamily="34" charset="-120"/>
              </a:rPr>
              <a:t>tests.</a:t>
            </a:r>
            <a:endParaRPr lang="en-US" sz="1020" dirty="0"/>
          </a:p>
          <a:p>
            <a:pPr algn="l" indent="0" marL="0">
              <a:buNone/>
            </a:pPr>
            <a:r>
              <a:rPr lang="en-US" sz="1020" dirty="0">
                <a:solidFill>
                  <a:srgbClr val="41545A"/>
                </a:solidFill>
                <a:latin typeface="Calibri" pitchFamily="34" charset="0"/>
                <a:ea typeface="Calibri" pitchFamily="34" charset="-122"/>
                <a:cs typeface="Calibri" pitchFamily="34" charset="-120"/>
              </a:rPr>
              <a:t>Red: defect confirmed at baseline (62</a:t>
            </a:r>
            <a:endParaRPr lang="en-US" sz="1020" dirty="0"/>
          </a:p>
          <a:p>
            <a:pPr algn="l" indent="0" marL="0">
              <a:buNone/>
            </a:pPr>
            <a:r>
              <a:rPr lang="en-US" sz="1020" dirty="0">
                <a:solidFill>
                  <a:srgbClr val="41545A"/>
                </a:solidFill>
                <a:latin typeface="Calibri" pitchFamily="34" charset="0"/>
                <a:ea typeface="Calibri" pitchFamily="34" charset="-122"/>
                <a:cs typeface="Calibri" pitchFamily="34" charset="-120"/>
              </a:rPr>
              <a:t>findings in all).</a:t>
            </a:r>
            <a:endParaRPr lang="en-US" sz="1020" dirty="0"/>
          </a:p>
          <a:p>
            <a:pPr algn="l" indent="0" marL="0">
              <a:buNone/>
            </a:pPr>
            <a:r>
              <a:rPr lang="en-US" sz="1020" dirty="0">
                <a:solidFill>
                  <a:srgbClr val="41545A"/>
                </a:solidFill>
                <a:latin typeface="Calibri" pitchFamily="34" charset="0"/>
                <a:ea typeface="Calibri" pitchFamily="34" charset="-122"/>
                <a:cs typeface="Calibri" pitchFamily="34" charset="-120"/>
              </a:rPr>
              <a:t>Grey dashed: present, does nothing.</a:t>
            </a:r>
            <a:endParaRPr lang="en-US" sz="1020" dirty="0"/>
          </a:p>
        </p:txBody>
      </p:sp>
      <p:sp>
        <p:nvSpPr>
          <p:cNvPr id="25" name="02-architecture-repo-1.0:edge:caller-&gt;main"/>
          <p:cNvSpPr/>
          <p:nvPr/>
        </p:nvSpPr>
        <p:spPr>
          <a:xfrm flipV="1">
            <a:off x="1832550" y="1794237"/>
            <a:ext cx="458272" cy="19355"/>
          </a:xfrm>
          <a:prstGeom prst="line">
            <a:avLst/>
          </a:prstGeom>
          <a:noFill/>
          <a:ln w="19050">
            <a:solidFill>
              <a:srgbClr val="41545A"/>
            </a:solidFill>
            <a:prstDash val="solid"/>
            <a:tailEnd type="triangle"/>
          </a:ln>
        </p:spPr>
      </p:sp>
      <p:sp>
        <p:nvSpPr>
          <p:cNvPr id="26" name="02-architecture-repo-1.0:edge:portal-&gt;main"/>
          <p:cNvSpPr/>
          <p:nvPr/>
        </p:nvSpPr>
        <p:spPr>
          <a:xfrm flipV="1">
            <a:off x="1832550" y="2083752"/>
            <a:ext cx="1335403" cy="532257"/>
          </a:xfrm>
          <a:prstGeom prst="line">
            <a:avLst/>
          </a:prstGeom>
          <a:noFill/>
          <a:ln w="19050">
            <a:solidFill>
              <a:srgbClr val="41545A"/>
            </a:solidFill>
            <a:prstDash val="dash"/>
            <a:tailEnd type="triangle"/>
          </a:ln>
        </p:spPr>
      </p:sp>
      <p:sp>
        <p:nvSpPr>
          <p:cNvPr id="27" name="02-architecture-repo-1.0:edge:main-&gt;ai"/>
          <p:cNvSpPr/>
          <p:nvPr/>
        </p:nvSpPr>
        <p:spPr>
          <a:xfrm flipH="1">
            <a:off x="3390674" y="2083752"/>
            <a:ext cx="360201" cy="398386"/>
          </a:xfrm>
          <a:prstGeom prst="line">
            <a:avLst/>
          </a:prstGeom>
          <a:noFill/>
          <a:ln w="19050">
            <a:solidFill>
              <a:srgbClr val="41545A"/>
            </a:solidFill>
            <a:prstDash val="solid"/>
            <a:tailEnd type="triangle"/>
          </a:ln>
        </p:spPr>
      </p:sp>
      <p:sp>
        <p:nvSpPr>
          <p:cNvPr id="28" name="02-architecture-repo-1.0:edge:main-&gt;audit"/>
          <p:cNvSpPr/>
          <p:nvPr/>
        </p:nvSpPr>
        <p:spPr>
          <a:xfrm>
            <a:off x="4078081" y="2083752"/>
            <a:ext cx="914" cy="362903"/>
          </a:xfrm>
          <a:prstGeom prst="line">
            <a:avLst/>
          </a:prstGeom>
          <a:noFill/>
          <a:ln w="19050">
            <a:solidFill>
              <a:srgbClr val="41545A"/>
            </a:solidFill>
            <a:prstDash val="solid"/>
            <a:tailEnd type="triangle"/>
          </a:ln>
        </p:spPr>
      </p:sp>
      <p:sp>
        <p:nvSpPr>
          <p:cNvPr id="29" name="02-architecture-repo-1.0:edge:main-&gt;dom"/>
          <p:cNvSpPr/>
          <p:nvPr/>
        </p:nvSpPr>
        <p:spPr>
          <a:xfrm>
            <a:off x="4405287" y="2083752"/>
            <a:ext cx="360201" cy="398386"/>
          </a:xfrm>
          <a:prstGeom prst="line">
            <a:avLst/>
          </a:prstGeom>
          <a:noFill/>
          <a:ln w="19050">
            <a:solidFill>
              <a:srgbClr val="41545A"/>
            </a:solidFill>
            <a:prstDash val="solid"/>
            <a:tailEnd type="triangle"/>
          </a:ln>
        </p:spPr>
      </p:sp>
      <p:sp>
        <p:nvSpPr>
          <p:cNvPr id="30" name="02-architecture-repo-1.0:edge:dom-&gt;data"/>
          <p:cNvSpPr/>
          <p:nvPr/>
        </p:nvSpPr>
        <p:spPr>
          <a:xfrm flipV="1">
            <a:off x="5865340" y="2724074"/>
            <a:ext cx="458272" cy="166935"/>
          </a:xfrm>
          <a:prstGeom prst="line">
            <a:avLst/>
          </a:prstGeom>
          <a:noFill/>
          <a:ln w="19050">
            <a:solidFill>
              <a:srgbClr val="41545A"/>
            </a:solidFill>
            <a:prstDash val="solid"/>
            <a:tailEnd type="triangle"/>
          </a:ln>
        </p:spPr>
      </p:sp>
      <p:sp>
        <p:nvSpPr>
          <p:cNvPr id="31" name="02-architecture-repo-1.0:edge:l_leg-&gt;defects"/>
          <p:cNvSpPr/>
          <p:nvPr/>
        </p:nvSpPr>
        <p:spPr>
          <a:xfrm flipV="1">
            <a:off x="6048649" y="4736973"/>
            <a:ext cx="274963" cy="112097"/>
          </a:xfrm>
          <a:prstGeom prst="line">
            <a:avLst/>
          </a:prstGeom>
          <a:noFill/>
          <a:ln w="19050">
            <a:solidFill>
              <a:srgbClr val="41545A"/>
            </a:solidFill>
            <a:prstDash val="solid"/>
            <a:tailEnd type="triangle"/>
          </a:ln>
        </p:spPr>
      </p:sp>
      <p:sp>
        <p:nvSpPr>
          <p:cNvPr id="25" name="Slide Number Placeholder 0"/>
          <p:cNvSpPr>
            <a:spLocks noGrp="1"/>
          </p:cNvSpPr>
          <p:nvPr>
            <p:ph type="sldNum" sz="quarter" idx="4294967295"/>
          </p:nvPr>
        </p:nvSpPr>
        <p:spPr>
          <a:xfrm>
            <a:off x="11247120" y="3657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2800" b="1" dirty="0">
                <a:solidFill>
                  <a:schemeClr val="tx2"/>
                </a:solidFill>
              </a:rPr>
              <a:t>62 findings, five root causes</a:t>
            </a:r>
            <a:endParaRPr lang="en-US" sz="2800" dirty="0"/>
          </a:p>
        </p:txBody>
      </p:sp>
      <p:graphicFrame>
        <p:nvGraphicFramePr>
          <p:cNvPr id="4" name="Chart 0" descr=""/>
          <p:cNvGraphicFramePr/>
          <p:nvPr/>
        </p:nvGraphicFramePr>
        <p:xfrm>
          <a:off x="457200" y="1097280"/>
          <a:ext cx="5669280" cy="457200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6400800" y="1097280"/>
            <a:ext cx="5349240" cy="841248"/>
          </a:xfrm>
          <a:prstGeom prst="roundRect">
            <a:avLst>
              <a:gd name="adj" fmla="val 8696"/>
            </a:avLst>
          </a:prstGeom>
          <a:solidFill>
            <a:srgbClr val="E8F1F2"/>
          </a:solidFill>
          <a:ln/>
        </p:spPr>
      </p:sp>
      <p:sp>
        <p:nvSpPr>
          <p:cNvPr id="6" name="Text 2"/>
          <p:cNvSpPr txBox="1"/>
          <p:nvPr/>
        </p:nvSpPr>
        <p:spPr>
          <a:xfrm>
            <a:off x="6537960" y="1188720"/>
            <a:ext cx="5074920" cy="658368"/>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RC-1 No governance by design</a:t>
            </a:r>
            <a:endParaRPr lang="en-US" sz="1700" dirty="0"/>
          </a:p>
          <a:p>
            <a:pPr indent="0" marL="0">
              <a:spcAft>
                <a:spcPts val="400"/>
              </a:spcAft>
              <a:buNone/>
            </a:pPr>
            <a:r>
              <a:rPr lang="en-US" sz="1500" dirty="0">
                <a:solidFill>
                  <a:srgbClr val="1B2A2F"/>
                </a:solidFill>
              </a:rPr>
              <a:t>ADR-0001 kept legacy beside the API and was never revisited (plausible; owner not interviewed)</a:t>
            </a:r>
            <a:endParaRPr lang="en-US" sz="1700" dirty="0"/>
          </a:p>
        </p:txBody>
      </p:sp>
      <p:sp>
        <p:nvSpPr>
          <p:cNvPr id="7" name="Shape 3"/>
          <p:cNvSpPr/>
          <p:nvPr/>
        </p:nvSpPr>
        <p:spPr>
          <a:xfrm>
            <a:off x="6400800" y="2029968"/>
            <a:ext cx="5349240" cy="841248"/>
          </a:xfrm>
          <a:prstGeom prst="roundRect">
            <a:avLst>
              <a:gd name="adj" fmla="val 8696"/>
            </a:avLst>
          </a:prstGeom>
          <a:solidFill>
            <a:srgbClr val="E8F1F2"/>
          </a:solidFill>
          <a:ln/>
        </p:spPr>
      </p:sp>
      <p:sp>
        <p:nvSpPr>
          <p:cNvPr id="8" name="Text 4"/>
          <p:cNvSpPr txBox="1"/>
          <p:nvPr/>
        </p:nvSpPr>
        <p:spPr>
          <a:xfrm>
            <a:off x="6537960" y="2121408"/>
            <a:ext cx="5074920" cy="658368"/>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RC-2 Identity not modelled</a:t>
            </a:r>
            <a:endParaRPr lang="en-US" sz="1700" dirty="0"/>
          </a:p>
          <a:p>
            <a:pPr indent="0" marL="0">
              <a:spcAft>
                <a:spcPts val="400"/>
              </a:spcAft>
              <a:buNone/>
            </a:pPr>
            <a:r>
              <a:rPr lang="en-US" sz="1500" dirty="0">
                <a:solidFill>
                  <a:srgbClr val="1B2A2F"/>
                </a:solidFill>
              </a:rPr>
              <a:t>role from a header; lookup by any column</a:t>
            </a:r>
            <a:endParaRPr lang="en-US" sz="1700" dirty="0"/>
          </a:p>
        </p:txBody>
      </p:sp>
      <p:sp>
        <p:nvSpPr>
          <p:cNvPr id="9" name="Shape 5"/>
          <p:cNvSpPr/>
          <p:nvPr/>
        </p:nvSpPr>
        <p:spPr>
          <a:xfrm>
            <a:off x="6400800" y="2962656"/>
            <a:ext cx="5349240" cy="841248"/>
          </a:xfrm>
          <a:prstGeom prst="roundRect">
            <a:avLst>
              <a:gd name="adj" fmla="val 8696"/>
            </a:avLst>
          </a:prstGeom>
          <a:solidFill>
            <a:srgbClr val="E8F1F2"/>
          </a:solidFill>
          <a:ln/>
        </p:spPr>
      </p:sp>
      <p:sp>
        <p:nvSpPr>
          <p:cNvPr id="10" name="Text 6"/>
          <p:cNvSpPr txBox="1"/>
          <p:nvPr/>
        </p:nvSpPr>
        <p:spPr>
          <a:xfrm>
            <a:off x="6537960" y="3054096"/>
            <a:ext cx="5074920" cy="658368"/>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RC-3 No data contracts</a:t>
            </a:r>
            <a:endParaRPr lang="en-US" sz="1700" dirty="0"/>
          </a:p>
          <a:p>
            <a:pPr indent="0" marL="0">
              <a:spcAft>
                <a:spcPts val="400"/>
              </a:spcAft>
              <a:buNone/>
            </a:pPr>
            <a:r>
              <a:rPr lang="en-US" sz="1500" dirty="0">
                <a:solidFill>
                  <a:srgbClr val="1B2A2F"/>
                </a:solidFill>
              </a:rPr>
              <a:t>defects in all six datasets, counted and discarded</a:t>
            </a:r>
            <a:endParaRPr lang="en-US" sz="1700" dirty="0"/>
          </a:p>
        </p:txBody>
      </p:sp>
      <p:sp>
        <p:nvSpPr>
          <p:cNvPr id="11" name="Shape 7"/>
          <p:cNvSpPr/>
          <p:nvPr/>
        </p:nvSpPr>
        <p:spPr>
          <a:xfrm>
            <a:off x="6400800" y="3895344"/>
            <a:ext cx="5349240" cy="841248"/>
          </a:xfrm>
          <a:prstGeom prst="roundRect">
            <a:avLst>
              <a:gd name="adj" fmla="val 8696"/>
            </a:avLst>
          </a:prstGeom>
          <a:solidFill>
            <a:srgbClr val="E8F1F2"/>
          </a:solidFill>
          <a:ln/>
        </p:spPr>
      </p:sp>
      <p:sp>
        <p:nvSpPr>
          <p:cNvPr id="12" name="Text 8"/>
          <p:cNvSpPr txBox="1"/>
          <p:nvPr/>
        </p:nvSpPr>
        <p:spPr>
          <a:xfrm>
            <a:off x="6537960" y="3986784"/>
            <a:ext cx="5074920" cy="658368"/>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RC-4 AI unguarded by design</a:t>
            </a:r>
            <a:endParaRPr lang="en-US" sz="1700" dirty="0"/>
          </a:p>
          <a:p>
            <a:pPr indent="0" marL="0">
              <a:spcAft>
                <a:spcPts val="400"/>
              </a:spcAft>
              <a:buNone/>
            </a:pPr>
            <a:r>
              <a:rPr lang="en-US" sz="1500" dirty="0">
                <a:solidFill>
                  <a:srgbClr val="1B2A2F"/>
                </a:solidFill>
              </a:rPr>
              <a:t>no auth, no schema, guardrail not enforced</a:t>
            </a:r>
            <a:endParaRPr lang="en-US" sz="1700" dirty="0"/>
          </a:p>
        </p:txBody>
      </p:sp>
      <p:sp>
        <p:nvSpPr>
          <p:cNvPr id="13" name="Shape 9"/>
          <p:cNvSpPr/>
          <p:nvPr/>
        </p:nvSpPr>
        <p:spPr>
          <a:xfrm>
            <a:off x="6400800" y="4828032"/>
            <a:ext cx="5349240" cy="841248"/>
          </a:xfrm>
          <a:prstGeom prst="roundRect">
            <a:avLst>
              <a:gd name="adj" fmla="val 8696"/>
            </a:avLst>
          </a:prstGeom>
          <a:solidFill>
            <a:srgbClr val="E8F1F2"/>
          </a:solidFill>
          <a:ln/>
        </p:spPr>
      </p:sp>
      <p:sp>
        <p:nvSpPr>
          <p:cNvPr id="14" name="Text 10"/>
          <p:cNvSpPr txBox="1"/>
          <p:nvPr/>
        </p:nvSpPr>
        <p:spPr>
          <a:xfrm>
            <a:off x="6537960" y="4919472"/>
            <a:ext cx="5074920" cy="658368"/>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RC-5 No evidence by-product</a:t>
            </a:r>
            <a:endParaRPr lang="en-US" sz="1700" dirty="0"/>
          </a:p>
          <a:p>
            <a:pPr indent="0" marL="0">
              <a:spcAft>
                <a:spcPts val="400"/>
              </a:spcAft>
              <a:buNone/>
            </a:pPr>
            <a:r>
              <a:rPr lang="en-US" sz="1500" dirty="0">
                <a:solidFill>
                  <a:srgbClr val="1B2A2F"/>
                </a:solidFill>
              </a:rPr>
              <a:t>CI ran nothing useful; quick-start failed</a:t>
            </a:r>
            <a:endParaRPr lang="en-US" sz="17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0607040" cy="594360"/>
          </a:xfrm>
          <a:prstGeom prst="rect">
            <a:avLst/>
          </a:prstGeom>
          <a:noFill/>
          <a:ln/>
        </p:spPr>
        <p:txBody>
          <a:bodyPr wrap="square" lIns="0" tIns="0" rIns="0" bIns="0" rtlCol="0" anchor="ctr"/>
          <a:lstStyle/>
          <a:p>
            <a:pPr algn="l" indent="0" marL="0">
              <a:buNone/>
            </a:pPr>
            <a:r>
              <a:rPr lang="en-US" sz="2600" b="1" dirty="0">
                <a:solidFill>
                  <a:schemeClr val="tx2"/>
                </a:solidFill>
              </a:rPr>
              <a:t>Repo 2.0: one control point, ports, and AI behind a gateway</a:t>
            </a:r>
            <a:endParaRPr lang="en-US" sz="2600" dirty="0"/>
          </a:p>
        </p:txBody>
      </p:sp>
      <p:sp>
        <p:nvSpPr>
          <p:cNvPr id="4" name="03-architecture-repo-2.0:l_call"/>
          <p:cNvSpPr txBox="1"/>
          <p:nvPr/>
        </p:nvSpPr>
        <p:spPr>
          <a:xfrm>
            <a:off x="320254" y="995045"/>
            <a:ext cx="1374815" cy="3790315"/>
          </a:xfrm>
          <a:prstGeom prst="roundRect">
            <a:avLst>
              <a:gd name="adj" fmla="val 1995"/>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Callers</a:t>
            </a:r>
            <a:endParaRPr lang="en-US" sz="1170" dirty="0"/>
          </a:p>
        </p:txBody>
      </p:sp>
      <p:sp>
        <p:nvSpPr>
          <p:cNvPr id="5" name="03-architecture-repo-2.0:ops"/>
          <p:cNvSpPr txBox="1"/>
          <p:nvPr/>
        </p:nvSpPr>
        <p:spPr>
          <a:xfrm>
            <a:off x="430239" y="1398270"/>
            <a:ext cx="1154844" cy="806450"/>
          </a:xfrm>
          <a:prstGeom prst="roundRect">
            <a:avLst>
              <a:gd name="adj" fmla="val 6803"/>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0B3C49"/>
                </a:solidFill>
                <a:latin typeface="Calibri" pitchFamily="34" charset="0"/>
                <a:ea typeface="Calibri" pitchFamily="34" charset="-122"/>
                <a:cs typeface="Calibri" pitchFamily="34" charset="-120"/>
              </a:rPr>
              <a:t>Operations</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view</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/ops,</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read-only</a:t>
            </a:r>
            <a:endParaRPr lang="en-US" sz="1020" dirty="0"/>
          </a:p>
        </p:txBody>
      </p:sp>
      <p:sp>
        <p:nvSpPr>
          <p:cNvPr id="6" name="03-architecture-repo-2.0:cli"/>
          <p:cNvSpPr txBox="1"/>
          <p:nvPr/>
        </p:nvSpPr>
        <p:spPr>
          <a:xfrm>
            <a:off x="430239" y="2527300"/>
            <a:ext cx="1154844" cy="887095"/>
          </a:xfrm>
          <a:prstGeom prst="roundRect">
            <a:avLst>
              <a:gd name="adj" fmla="val 6185"/>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0B3C49"/>
                </a:solidFill>
                <a:latin typeface="Calibri" pitchFamily="34" charset="0"/>
                <a:ea typeface="Calibri" pitchFamily="34" charset="-122"/>
                <a:cs typeface="Calibri" pitchFamily="34" charset="-120"/>
              </a:rPr>
              <a:t>API client</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bearer token:</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who, role,</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purpose</a:t>
            </a:r>
            <a:endParaRPr lang="en-US" sz="1020" dirty="0"/>
          </a:p>
        </p:txBody>
      </p:sp>
      <p:sp>
        <p:nvSpPr>
          <p:cNvPr id="7" name="03-architecture-repo-2.0:l_api"/>
          <p:cNvSpPr txBox="1"/>
          <p:nvPr/>
        </p:nvSpPr>
        <p:spPr>
          <a:xfrm>
            <a:off x="1805054" y="995045"/>
            <a:ext cx="1833086" cy="3790315"/>
          </a:xfrm>
          <a:prstGeom prst="roundRect">
            <a:avLst>
              <a:gd name="adj" fmla="val 1496"/>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API layer</a:t>
            </a:r>
            <a:endParaRPr lang="en-US" sz="1170" dirty="0"/>
          </a:p>
        </p:txBody>
      </p:sp>
      <p:sp>
        <p:nvSpPr>
          <p:cNvPr id="8" name="03-architecture-repo-2.0:corr"/>
          <p:cNvSpPr txBox="1"/>
          <p:nvPr/>
        </p:nvSpPr>
        <p:spPr>
          <a:xfrm>
            <a:off x="1924205" y="2849880"/>
            <a:ext cx="1594785" cy="645160"/>
          </a:xfrm>
          <a:prstGeom prst="roundRect">
            <a:avLst>
              <a:gd name="adj" fmla="val 850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0B3C49"/>
                </a:solidFill>
                <a:latin typeface="Calibri" pitchFamily="34" charset="0"/>
                <a:ea typeface="Calibri" pitchFamily="34" charset="-122"/>
                <a:cs typeface="Calibri" pitchFamily="34" charset="-120"/>
              </a:rPr>
              <a:t>Correlation id</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on every request</a:t>
            </a:r>
            <a:endParaRPr lang="en-US" sz="1020" dirty="0"/>
          </a:p>
        </p:txBody>
      </p:sp>
      <p:sp>
        <p:nvSpPr>
          <p:cNvPr id="9" name="03-architecture-repo-2.0:tok"/>
          <p:cNvSpPr txBox="1"/>
          <p:nvPr/>
        </p:nvSpPr>
        <p:spPr>
          <a:xfrm>
            <a:off x="1924205" y="2083752"/>
            <a:ext cx="1594785" cy="645160"/>
          </a:xfrm>
          <a:prstGeom prst="roundRect">
            <a:avLst>
              <a:gd name="adj" fmla="val 850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0B3C49"/>
                </a:solidFill>
                <a:latin typeface="Calibri" pitchFamily="34" charset="0"/>
                <a:ea typeface="Calibri" pitchFamily="34" charset="-122"/>
                <a:cs typeface="Calibri" pitchFamily="34" charset="-120"/>
              </a:rPr>
              <a:t>Token check</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HS256; JWKS stub</a:t>
            </a:r>
            <a:endParaRPr lang="en-US" sz="1020" dirty="0"/>
          </a:p>
        </p:txBody>
      </p:sp>
      <p:sp>
        <p:nvSpPr>
          <p:cNvPr id="10" name="03-architecture-repo-2.0:routes"/>
          <p:cNvSpPr txBox="1"/>
          <p:nvPr/>
        </p:nvSpPr>
        <p:spPr>
          <a:xfrm>
            <a:off x="1924205" y="1317625"/>
            <a:ext cx="1594785" cy="645160"/>
          </a:xfrm>
          <a:prstGeom prst="roundRect">
            <a:avLst>
              <a:gd name="adj" fmla="val 850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0B3C49"/>
                </a:solidFill>
                <a:latin typeface="Calibri" pitchFamily="34" charset="0"/>
                <a:ea typeface="Calibri" pitchFamily="34" charset="-122"/>
                <a:cs typeface="Calibri" pitchFamily="34" charset="-120"/>
              </a:rPr>
              <a:t>Routes</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10 operations</a:t>
            </a:r>
            <a:endParaRPr lang="en-US" sz="1020" dirty="0"/>
          </a:p>
        </p:txBody>
      </p:sp>
      <p:sp>
        <p:nvSpPr>
          <p:cNvPr id="11" name="03-architecture-repo-2.0:err"/>
          <p:cNvSpPr txBox="1"/>
          <p:nvPr/>
        </p:nvSpPr>
        <p:spPr>
          <a:xfrm>
            <a:off x="1924205" y="3616008"/>
            <a:ext cx="1594785" cy="645160"/>
          </a:xfrm>
          <a:prstGeom prst="roundRect">
            <a:avLst>
              <a:gd name="adj" fmla="val 850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0B3C49"/>
                </a:solidFill>
                <a:latin typeface="Calibri" pitchFamily="34" charset="0"/>
                <a:ea typeface="Calibri" pitchFamily="34" charset="-122"/>
                <a:cs typeface="Calibri" pitchFamily="34" charset="-120"/>
              </a:rPr>
              <a:t>Error shape</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no internals leak</a:t>
            </a:r>
            <a:endParaRPr lang="en-US" sz="1020" dirty="0"/>
          </a:p>
        </p:txBody>
      </p:sp>
      <p:sp>
        <p:nvSpPr>
          <p:cNvPr id="12" name="03-architecture-repo-2.0:l_ctl"/>
          <p:cNvSpPr txBox="1"/>
          <p:nvPr/>
        </p:nvSpPr>
        <p:spPr>
          <a:xfrm>
            <a:off x="3748126" y="995045"/>
            <a:ext cx="2016395" cy="3790315"/>
          </a:xfrm>
          <a:prstGeom prst="roundRect">
            <a:avLst>
              <a:gd name="adj" fmla="val 1360"/>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Control point</a:t>
            </a:r>
            <a:endParaRPr lang="en-US" sz="1170" dirty="0"/>
          </a:p>
        </p:txBody>
      </p:sp>
      <p:sp>
        <p:nvSpPr>
          <p:cNvPr id="13" name="03-architecture-repo-2.0:appr"/>
          <p:cNvSpPr txBox="1"/>
          <p:nvPr/>
        </p:nvSpPr>
        <p:spPr>
          <a:xfrm>
            <a:off x="3867276" y="3898265"/>
            <a:ext cx="1778094" cy="645160"/>
          </a:xfrm>
          <a:prstGeom prst="roundRect">
            <a:avLst>
              <a:gd name="adj" fmla="val 850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0B3C49"/>
                </a:solidFill>
                <a:latin typeface="Calibri" pitchFamily="34" charset="0"/>
                <a:ea typeface="Calibri" pitchFamily="34" charset="-122"/>
                <a:cs typeface="Calibri" pitchFamily="34" charset="-120"/>
              </a:rPr>
              <a:t>Approvals</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approve or reject, once</a:t>
            </a:r>
            <a:endParaRPr lang="en-US" sz="1020" dirty="0"/>
          </a:p>
        </p:txBody>
      </p:sp>
      <p:sp>
        <p:nvSpPr>
          <p:cNvPr id="14" name="03-architecture-repo-2.0:key"/>
          <p:cNvSpPr txBox="1"/>
          <p:nvPr/>
        </p:nvSpPr>
        <p:spPr>
          <a:xfrm>
            <a:off x="3867276" y="2527300"/>
            <a:ext cx="1778094" cy="564515"/>
          </a:xfrm>
          <a:prstGeom prst="roundRect">
            <a:avLst>
              <a:gd name="adj" fmla="val 971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0B3C49"/>
                </a:solidFill>
                <a:latin typeface="Calibri" pitchFamily="34" charset="0"/>
                <a:ea typeface="Calibri" pitchFamily="34" charset="-122"/>
                <a:cs typeface="Calibri" pitchFamily="34" charset="-120"/>
              </a:rPr>
              <a:t>Key pattern check</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else 422</a:t>
            </a:r>
            <a:endParaRPr lang="en-US" sz="1020" dirty="0"/>
          </a:p>
        </p:txBody>
      </p:sp>
      <p:sp>
        <p:nvSpPr>
          <p:cNvPr id="15" name="03-architecture-repo-2.0:rate"/>
          <p:cNvSpPr txBox="1"/>
          <p:nvPr/>
        </p:nvSpPr>
        <p:spPr>
          <a:xfrm>
            <a:off x="3867276" y="3212782"/>
            <a:ext cx="1778094" cy="564515"/>
          </a:xfrm>
          <a:prstGeom prst="roundRect">
            <a:avLst>
              <a:gd name="adj" fmla="val 971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0B3C49"/>
                </a:solidFill>
                <a:latin typeface="Calibri" pitchFamily="34" charset="0"/>
                <a:ea typeface="Calibri" pitchFamily="34" charset="-122"/>
                <a:cs typeface="Calibri" pitchFamily="34" charset="-120"/>
              </a:rPr>
              <a:t>Rate limit</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else 429</a:t>
            </a:r>
            <a:endParaRPr lang="en-US" sz="1020" dirty="0"/>
          </a:p>
        </p:txBody>
      </p:sp>
      <p:sp>
        <p:nvSpPr>
          <p:cNvPr id="16" name="03-architecture-repo-2.0:pol"/>
          <p:cNvSpPr txBox="1"/>
          <p:nvPr/>
        </p:nvSpPr>
        <p:spPr>
          <a:xfrm>
            <a:off x="3867276" y="1317625"/>
            <a:ext cx="1778094" cy="1088708"/>
          </a:xfrm>
          <a:prstGeom prst="roundRect">
            <a:avLst>
              <a:gd name="adj" fmla="val 5039"/>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Policy engine</a:t>
            </a:r>
            <a:endParaRPr lang="en-US" sz="1020" dirty="0"/>
          </a:p>
          <a:p>
            <a:pPr algn="ctr" indent="0" marL="0">
              <a:buNone/>
            </a:pPr>
            <a:r>
              <a:rPr lang="en-US" sz="1020" dirty="0">
                <a:solidFill>
                  <a:srgbClr val="FFFFFF"/>
                </a:solidFill>
                <a:latin typeface="Calibri" pitchFamily="34" charset="0"/>
                <a:ea typeface="Calibri" pitchFamily="34" charset="-122"/>
                <a:cs typeface="Calibri" pitchFamily="34" charset="-120"/>
              </a:rPr>
              <a:t>deny by default;</a:t>
            </a:r>
            <a:endParaRPr lang="en-US" sz="1020" dirty="0"/>
          </a:p>
          <a:p>
            <a:pPr algn="ctr" indent="0" marL="0">
              <a:buNone/>
            </a:pPr>
            <a:r>
              <a:rPr lang="en-US" sz="1020" dirty="0">
                <a:solidFill>
                  <a:srgbClr val="FFFFFF"/>
                </a:solidFill>
                <a:latin typeface="Calibri" pitchFamily="34" charset="0"/>
                <a:ea typeface="Calibri" pitchFamily="34" charset="-122"/>
                <a:cs typeface="Calibri" pitchFamily="34" charset="-120"/>
              </a:rPr>
              <a:t>persona, entity,</a:t>
            </a:r>
            <a:endParaRPr lang="en-US" sz="1020" dirty="0"/>
          </a:p>
          <a:p>
            <a:pPr algn="ctr" indent="0" marL="0">
              <a:buNone/>
            </a:pPr>
            <a:r>
              <a:rPr lang="en-US" sz="1020" dirty="0">
                <a:solidFill>
                  <a:srgbClr val="FFFFFF"/>
                </a:solidFill>
                <a:latin typeface="Calibri" pitchFamily="34" charset="0"/>
                <a:ea typeface="Calibri" pitchFamily="34" charset="-122"/>
                <a:cs typeface="Calibri" pitchFamily="34" charset="-120"/>
              </a:rPr>
              <a:t>purpose; rules from the</a:t>
            </a:r>
            <a:endParaRPr lang="en-US" sz="1020" dirty="0"/>
          </a:p>
          <a:p>
            <a:pPr algn="ctr" indent="0" marL="0">
              <a:buNone/>
            </a:pPr>
            <a:r>
              <a:rPr lang="en-US" sz="1020" dirty="0">
                <a:solidFill>
                  <a:srgbClr val="FFFFFF"/>
                </a:solidFill>
                <a:latin typeface="Calibri" pitchFamily="34" charset="0"/>
                <a:ea typeface="Calibri" pitchFamily="34" charset="-122"/>
                <a:cs typeface="Calibri" pitchFamily="34" charset="-120"/>
              </a:rPr>
              <a:t>semantic layer</a:t>
            </a:r>
            <a:endParaRPr lang="en-US" sz="1020" dirty="0"/>
          </a:p>
        </p:txBody>
      </p:sp>
      <p:sp>
        <p:nvSpPr>
          <p:cNvPr id="17" name="03-architecture-repo-2.0:l_ai"/>
          <p:cNvSpPr txBox="1"/>
          <p:nvPr/>
        </p:nvSpPr>
        <p:spPr>
          <a:xfrm>
            <a:off x="5874506" y="995045"/>
            <a:ext cx="2199703" cy="3790315"/>
          </a:xfrm>
          <a:prstGeom prst="roundRect">
            <a:avLst>
              <a:gd name="adj" fmla="val 1247"/>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AI gateway (suggest-only)</a:t>
            </a:r>
            <a:endParaRPr lang="en-US" sz="1170" dirty="0"/>
          </a:p>
        </p:txBody>
      </p:sp>
      <p:sp>
        <p:nvSpPr>
          <p:cNvPr id="18" name="03-architecture-repo-2.0:ctx"/>
          <p:cNvSpPr txBox="1"/>
          <p:nvPr/>
        </p:nvSpPr>
        <p:spPr>
          <a:xfrm>
            <a:off x="5993656" y="1317625"/>
            <a:ext cx="1961402" cy="725805"/>
          </a:xfrm>
          <a:prstGeom prst="roundRect">
            <a:avLst>
              <a:gd name="adj" fmla="val 755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0B3C49"/>
                </a:solidFill>
                <a:latin typeface="Calibri" pitchFamily="34" charset="0"/>
                <a:ea typeface="Calibri" pitchFamily="34" charset="-122"/>
                <a:cs typeface="Calibri" pitchFamily="34" charset="-120"/>
              </a:rPr>
              <a:t>Context</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allowed fields only; text</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sanitised</a:t>
            </a:r>
            <a:endParaRPr lang="en-US" sz="1020" dirty="0"/>
          </a:p>
        </p:txBody>
      </p:sp>
      <p:sp>
        <p:nvSpPr>
          <p:cNvPr id="19" name="03-architecture-repo-2.0:prod"/>
          <p:cNvSpPr txBox="1"/>
          <p:nvPr/>
        </p:nvSpPr>
        <p:spPr>
          <a:xfrm>
            <a:off x="5993656" y="2164398"/>
            <a:ext cx="1961402" cy="725805"/>
          </a:xfrm>
          <a:prstGeom prst="roundRect">
            <a:avLst>
              <a:gd name="adj" fmla="val 755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0B3C49"/>
                </a:solidFill>
                <a:latin typeface="Calibri" pitchFamily="34" charset="0"/>
                <a:ea typeface="Calibri" pitchFamily="34" charset="-122"/>
                <a:cs typeface="Calibri" pitchFamily="34" charset="-120"/>
              </a:rPr>
              <a:t>Producer</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deterministic; model slot</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empty</a:t>
            </a:r>
            <a:endParaRPr lang="en-US" sz="1020" dirty="0"/>
          </a:p>
        </p:txBody>
      </p:sp>
      <p:sp>
        <p:nvSpPr>
          <p:cNvPr id="20" name="03-architecture-repo-2.0:chk"/>
          <p:cNvSpPr txBox="1"/>
          <p:nvPr/>
        </p:nvSpPr>
        <p:spPr>
          <a:xfrm>
            <a:off x="5993656" y="3011170"/>
            <a:ext cx="1961402" cy="645160"/>
          </a:xfrm>
          <a:prstGeom prst="roundRect">
            <a:avLst>
              <a:gd name="adj" fmla="val 850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0B3C49"/>
                </a:solidFill>
                <a:latin typeface="Calibri" pitchFamily="34" charset="0"/>
                <a:ea typeface="Calibri" pitchFamily="34" charset="-122"/>
                <a:cs typeface="Calibri" pitchFamily="34" charset="-120"/>
              </a:rPr>
              <a:t>Output checks</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schema, leaks, confidence</a:t>
            </a:r>
            <a:endParaRPr lang="en-US" sz="1020" dirty="0"/>
          </a:p>
        </p:txBody>
      </p:sp>
      <p:sp>
        <p:nvSpPr>
          <p:cNvPr id="21" name="03-architecture-repo-2.0:fb"/>
          <p:cNvSpPr txBox="1"/>
          <p:nvPr/>
        </p:nvSpPr>
        <p:spPr>
          <a:xfrm>
            <a:off x="5993656" y="3777297"/>
            <a:ext cx="1961402" cy="766128"/>
          </a:xfrm>
          <a:prstGeom prst="roundRect">
            <a:avLst>
              <a:gd name="adj" fmla="val 716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0B3C49"/>
                </a:solidFill>
                <a:latin typeface="Calibri" pitchFamily="34" charset="0"/>
                <a:ea typeface="Calibri" pitchFamily="34" charset="-122"/>
                <a:cs typeface="Calibri" pitchFamily="34" charset="-120"/>
              </a:rPr>
              <a:t>Fallback, then abstain</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never an invalid answer</a:t>
            </a:r>
            <a:endParaRPr lang="en-US" sz="1020" dirty="0"/>
          </a:p>
        </p:txBody>
      </p:sp>
      <p:sp>
        <p:nvSpPr>
          <p:cNvPr id="22" name="03-architecture-repo-2.0:l_port"/>
          <p:cNvSpPr txBox="1"/>
          <p:nvPr/>
        </p:nvSpPr>
        <p:spPr>
          <a:xfrm>
            <a:off x="8184194" y="995045"/>
            <a:ext cx="3684503" cy="3790315"/>
          </a:xfrm>
          <a:prstGeom prst="roundRect">
            <a:avLst>
              <a:gd name="adj" fmla="val 745"/>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Ports and adapters</a:t>
            </a:r>
            <a:endParaRPr lang="en-US" sz="1170" dirty="0"/>
          </a:p>
        </p:txBody>
      </p:sp>
      <p:sp>
        <p:nvSpPr>
          <p:cNvPr id="23" name="03-architecture-repo-2.0:cur"/>
          <p:cNvSpPr txBox="1"/>
          <p:nvPr/>
        </p:nvSpPr>
        <p:spPr>
          <a:xfrm>
            <a:off x="8303345" y="1317625"/>
            <a:ext cx="1668108" cy="766128"/>
          </a:xfrm>
          <a:prstGeom prst="roundRect">
            <a:avLst>
              <a:gd name="adj" fmla="val 716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0B3C49"/>
                </a:solidFill>
                <a:latin typeface="Calibri" pitchFamily="34" charset="0"/>
                <a:ea typeface="Calibri" pitchFamily="34" charset="-122"/>
                <a:cs typeface="Calibri" pitchFamily="34" charset="-120"/>
              </a:rPr>
              <a:t>Curated data</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validated; fixture</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untouched</a:t>
            </a:r>
            <a:endParaRPr lang="en-US" sz="1020" dirty="0"/>
          </a:p>
        </p:txBody>
      </p:sp>
      <p:sp>
        <p:nvSpPr>
          <p:cNvPr id="24" name="03-architecture-repo-2.0:aud"/>
          <p:cNvSpPr txBox="1"/>
          <p:nvPr/>
        </p:nvSpPr>
        <p:spPr>
          <a:xfrm>
            <a:off x="10081439" y="1317625"/>
            <a:ext cx="1668108" cy="766128"/>
          </a:xfrm>
          <a:prstGeom prst="roundRect">
            <a:avLst>
              <a:gd name="adj" fmla="val 716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0B3C49"/>
                </a:solidFill>
                <a:latin typeface="Calibri" pitchFamily="34" charset="0"/>
                <a:ea typeface="Calibri" pitchFamily="34" charset="-122"/>
                <a:cs typeface="Calibri" pitchFamily="34" charset="-120"/>
              </a:rPr>
              <a:t>Audit chain</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hash-linked; verify</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endpoint</a:t>
            </a:r>
            <a:endParaRPr lang="en-US" sz="1020" dirty="0"/>
          </a:p>
        </p:txBody>
      </p:sp>
      <p:sp>
        <p:nvSpPr>
          <p:cNvPr id="25" name="03-architecture-repo-2.0:met"/>
          <p:cNvSpPr txBox="1"/>
          <p:nvPr/>
        </p:nvSpPr>
        <p:spPr>
          <a:xfrm>
            <a:off x="8303345" y="2204720"/>
            <a:ext cx="1668108" cy="645160"/>
          </a:xfrm>
          <a:prstGeom prst="roundRect">
            <a:avLst>
              <a:gd name="adj" fmla="val 850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0B3C49"/>
                </a:solidFill>
                <a:latin typeface="Calibri" pitchFamily="34" charset="0"/>
                <a:ea typeface="Calibri" pitchFamily="34" charset="-122"/>
                <a:cs typeface="Calibri" pitchFamily="34" charset="-120"/>
              </a:rPr>
              <a:t>Metrics, KPIs</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K1 to K10</a:t>
            </a:r>
            <a:endParaRPr lang="en-US" sz="1020" dirty="0"/>
          </a:p>
        </p:txBody>
      </p:sp>
      <p:sp>
        <p:nvSpPr>
          <p:cNvPr id="26" name="03-architecture-repo-2.0:saga"/>
          <p:cNvSpPr txBox="1"/>
          <p:nvPr/>
        </p:nvSpPr>
        <p:spPr>
          <a:xfrm>
            <a:off x="10081439" y="2204720"/>
            <a:ext cx="1668108" cy="645160"/>
          </a:xfrm>
          <a:prstGeom prst="roundRect">
            <a:avLst>
              <a:gd name="adj" fmla="val 850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0B3C49"/>
                </a:solidFill>
                <a:latin typeface="Calibri" pitchFamily="34" charset="0"/>
                <a:ea typeface="Calibri" pitchFamily="34" charset="-122"/>
                <a:cs typeface="Calibri" pitchFamily="34" charset="-120"/>
              </a:rPr>
              <a:t>Carrier saga</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book, confirm,</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compensate</a:t>
            </a:r>
            <a:endParaRPr lang="en-US" sz="1020" dirty="0"/>
          </a:p>
        </p:txBody>
      </p:sp>
      <p:sp>
        <p:nvSpPr>
          <p:cNvPr id="27" name="03-architecture-repo-2.0:idp"/>
          <p:cNvSpPr txBox="1"/>
          <p:nvPr/>
        </p:nvSpPr>
        <p:spPr>
          <a:xfrm>
            <a:off x="8303345" y="2970848"/>
            <a:ext cx="1668108" cy="483870"/>
          </a:xfrm>
          <a:prstGeom prst="roundRect">
            <a:avLst>
              <a:gd name="adj" fmla="val 11339"/>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020" b="1" dirty="0">
                <a:solidFill>
                  <a:srgbClr val="5F6E71"/>
                </a:solidFill>
                <a:latin typeface="Calibri" pitchFamily="34" charset="0"/>
                <a:ea typeface="Calibri" pitchFamily="34" charset="-122"/>
                <a:cs typeface="Calibri" pitchFamily="34" charset="-120"/>
              </a:rPr>
              <a:t>Identity provider</a:t>
            </a:r>
            <a:endParaRPr lang="en-US" sz="1020" dirty="0"/>
          </a:p>
        </p:txBody>
      </p:sp>
      <p:sp>
        <p:nvSpPr>
          <p:cNvPr id="28" name="03-architecture-repo-2.0:mdl"/>
          <p:cNvSpPr txBox="1"/>
          <p:nvPr/>
        </p:nvSpPr>
        <p:spPr>
          <a:xfrm>
            <a:off x="10081439" y="2970848"/>
            <a:ext cx="1668108" cy="483870"/>
          </a:xfrm>
          <a:prstGeom prst="roundRect">
            <a:avLst>
              <a:gd name="adj" fmla="val 11339"/>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020" b="1" dirty="0">
                <a:solidFill>
                  <a:srgbClr val="5F6E71"/>
                </a:solidFill>
                <a:latin typeface="Calibri" pitchFamily="34" charset="0"/>
                <a:ea typeface="Calibri" pitchFamily="34" charset="-122"/>
                <a:cs typeface="Calibri" pitchFamily="34" charset="-120"/>
              </a:rPr>
              <a:t>Real AI model</a:t>
            </a:r>
            <a:endParaRPr lang="en-US" sz="1020" dirty="0"/>
          </a:p>
        </p:txBody>
      </p:sp>
      <p:sp>
        <p:nvSpPr>
          <p:cNvPr id="29" name="03-architecture-repo-2.0:plat"/>
          <p:cNvSpPr txBox="1"/>
          <p:nvPr/>
        </p:nvSpPr>
        <p:spPr>
          <a:xfrm>
            <a:off x="8303345" y="3575685"/>
            <a:ext cx="1668108" cy="483870"/>
          </a:xfrm>
          <a:prstGeom prst="roundRect">
            <a:avLst>
              <a:gd name="adj" fmla="val 11339"/>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020" b="1" dirty="0">
                <a:solidFill>
                  <a:srgbClr val="5F6E71"/>
                </a:solidFill>
                <a:latin typeface="Calibri" pitchFamily="34" charset="0"/>
                <a:ea typeface="Calibri" pitchFamily="34" charset="-122"/>
                <a:cs typeface="Calibri" pitchFamily="34" charset="-120"/>
              </a:rPr>
              <a:t>Platform, IaC</a:t>
            </a:r>
            <a:endParaRPr lang="en-US" sz="1020" dirty="0"/>
          </a:p>
        </p:txBody>
      </p:sp>
      <p:sp>
        <p:nvSpPr>
          <p:cNvPr id="30" name="03-architecture-repo-2.0:trc"/>
          <p:cNvSpPr txBox="1"/>
          <p:nvPr/>
        </p:nvSpPr>
        <p:spPr>
          <a:xfrm>
            <a:off x="10081439" y="3575685"/>
            <a:ext cx="1668108" cy="483870"/>
          </a:xfrm>
          <a:prstGeom prst="roundRect">
            <a:avLst>
              <a:gd name="adj" fmla="val 11339"/>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020" b="1" dirty="0">
                <a:solidFill>
                  <a:srgbClr val="5F6E71"/>
                </a:solidFill>
                <a:latin typeface="Calibri" pitchFamily="34" charset="0"/>
                <a:ea typeface="Calibri" pitchFamily="34" charset="-122"/>
                <a:cs typeface="Calibri" pitchFamily="34" charset="-120"/>
              </a:rPr>
              <a:t>Tracing collector</a:t>
            </a:r>
            <a:endParaRPr lang="en-US" sz="1020" dirty="0"/>
          </a:p>
        </p:txBody>
      </p:sp>
      <p:sp>
        <p:nvSpPr>
          <p:cNvPr id="31" name="03-architecture-repo-2.0:leg"/>
          <p:cNvSpPr txBox="1"/>
          <p:nvPr/>
        </p:nvSpPr>
        <p:spPr>
          <a:xfrm>
            <a:off x="8303345" y="4140200"/>
            <a:ext cx="3446202" cy="483870"/>
          </a:xfrm>
          <a:prstGeom prst="roundRect">
            <a:avLst>
              <a:gd name="adj" fmla="val 11339"/>
            </a:avLst>
          </a:prstGeom>
          <a:solidFill>
            <a:srgbClr val="FFFFFF"/>
          </a:solidFill>
          <a:ln/>
        </p:spPr>
        <p:txBody>
          <a:bodyPr wrap="square" lIns="25400" tIns="50800" rIns="50800" bIns="25400" rtlCol="0" anchor="ctr"/>
          <a:lstStyle/>
          <a:p>
            <a:pPr algn="ctr" indent="0" marL="0">
              <a:buNone/>
            </a:pPr>
            <a:r>
              <a:rPr lang="en-US" sz="950" dirty="0">
                <a:solidFill>
                  <a:srgbClr val="41545A"/>
                </a:solidFill>
                <a:latin typeface="Calibri" pitchFamily="34" charset="0"/>
                <a:ea typeface="Calibri" pitchFamily="34" charset="-122"/>
                <a:cs typeface="Calibri" pitchFamily="34" charset="-120"/>
              </a:rPr>
              <a:t>Grey dashed: not built (owner decisions)</a:t>
            </a:r>
            <a:endParaRPr lang="en-US" sz="950" dirty="0"/>
          </a:p>
        </p:txBody>
      </p:sp>
      <p:sp>
        <p:nvSpPr>
          <p:cNvPr id="32" name="03-architecture-repo-2.0:l_low"/>
          <p:cNvSpPr txBox="1"/>
          <p:nvPr/>
        </p:nvSpPr>
        <p:spPr>
          <a:xfrm>
            <a:off x="320254" y="4906328"/>
            <a:ext cx="11548443" cy="1733868"/>
          </a:xfrm>
          <a:prstGeom prst="roundRect">
            <a:avLst>
              <a:gd name="adj" fmla="val 1582"/>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Batch, definitions and gates</a:t>
            </a:r>
            <a:endParaRPr lang="en-US" sz="1170" dirty="0"/>
          </a:p>
        </p:txBody>
      </p:sp>
      <p:sp>
        <p:nvSpPr>
          <p:cNvPr id="33" name="03-architecture-repo-2.0:etl"/>
          <p:cNvSpPr txBox="1"/>
          <p:nvPr/>
        </p:nvSpPr>
        <p:spPr>
          <a:xfrm>
            <a:off x="457736" y="5309553"/>
            <a:ext cx="1512296" cy="967740"/>
          </a:xfrm>
          <a:prstGeom prst="roundRect">
            <a:avLst>
              <a:gd name="adj" fmla="val 566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0B3C49"/>
                </a:solidFill>
                <a:latin typeface="Calibri" pitchFamily="34" charset="0"/>
                <a:ea typeface="Calibri" pitchFamily="34" charset="-122"/>
                <a:cs typeface="Calibri" pitchFamily="34" charset="-120"/>
              </a:rPr>
              <a:t>ETL intake</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same rules as the</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API</a:t>
            </a:r>
            <a:endParaRPr lang="en-US" sz="1020" dirty="0"/>
          </a:p>
        </p:txBody>
      </p:sp>
      <p:sp>
        <p:nvSpPr>
          <p:cNvPr id="34" name="03-architecture-repo-2.0:qua"/>
          <p:cNvSpPr txBox="1"/>
          <p:nvPr/>
        </p:nvSpPr>
        <p:spPr>
          <a:xfrm>
            <a:off x="2107513" y="5309553"/>
            <a:ext cx="1558123" cy="967740"/>
          </a:xfrm>
          <a:prstGeom prst="roundRect">
            <a:avLst>
              <a:gd name="adj" fmla="val 566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0B3C49"/>
                </a:solidFill>
                <a:latin typeface="Calibri" pitchFamily="34" charset="0"/>
                <a:ea typeface="Calibri" pitchFamily="34" charset="-122"/>
                <a:cs typeface="Calibri" pitchFamily="34" charset="-120"/>
              </a:rPr>
              <a:t>Curated layer +</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quarantine</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bad rows kept, never</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silently fixed</a:t>
            </a:r>
            <a:endParaRPr lang="en-US" sz="1020" dirty="0"/>
          </a:p>
        </p:txBody>
      </p:sp>
      <p:sp>
        <p:nvSpPr>
          <p:cNvPr id="35" name="03-architecture-repo-2.0:sem"/>
          <p:cNvSpPr txBox="1"/>
          <p:nvPr/>
        </p:nvSpPr>
        <p:spPr>
          <a:xfrm>
            <a:off x="3867276" y="5309553"/>
            <a:ext cx="1778094" cy="967740"/>
          </a:xfrm>
          <a:prstGeom prst="roundRect">
            <a:avLst>
              <a:gd name="adj" fmla="val 5669"/>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020" b="1" dirty="0">
                <a:solidFill>
                  <a:srgbClr val="1B1B1B"/>
                </a:solidFill>
                <a:latin typeface="Calibri" pitchFamily="34" charset="0"/>
                <a:ea typeface="Calibri" pitchFamily="34" charset="-122"/>
                <a:cs typeface="Calibri" pitchFamily="34" charset="-120"/>
              </a:rPr>
              <a:t>Semantic layer v2.0</a:t>
            </a:r>
            <a:endParaRPr lang="en-US" sz="1020" dirty="0"/>
          </a:p>
          <a:p>
            <a:pPr algn="ctr" indent="0" marL="0">
              <a:buNone/>
            </a:pPr>
            <a:r>
              <a:rPr lang="en-US" sz="1020" dirty="0">
                <a:solidFill>
                  <a:srgbClr val="1B1B1B"/>
                </a:solidFill>
                <a:latin typeface="Calibri" pitchFamily="34" charset="0"/>
                <a:ea typeface="Calibri" pitchFamily="34" charset="-122"/>
                <a:cs typeface="Calibri" pitchFamily="34" charset="-120"/>
              </a:rPr>
              <a:t>feeds policy, ETL rules</a:t>
            </a:r>
            <a:endParaRPr lang="en-US" sz="1020" dirty="0"/>
          </a:p>
          <a:p>
            <a:pPr algn="ctr" indent="0" marL="0">
              <a:buNone/>
            </a:pPr>
            <a:r>
              <a:rPr lang="en-US" sz="1020" dirty="0">
                <a:solidFill>
                  <a:srgbClr val="1B1B1B"/>
                </a:solidFill>
                <a:latin typeface="Calibri" pitchFamily="34" charset="0"/>
                <a:ea typeface="Calibri" pitchFamily="34" charset="-122"/>
                <a:cs typeface="Calibri" pitchFamily="34" charset="-120"/>
              </a:rPr>
              <a:t>and AI rules</a:t>
            </a:r>
            <a:endParaRPr lang="en-US" sz="1020" dirty="0"/>
          </a:p>
        </p:txBody>
      </p:sp>
      <p:sp>
        <p:nvSpPr>
          <p:cNvPr id="36" name="03-architecture-repo-2.0:rego"/>
          <p:cNvSpPr txBox="1"/>
          <p:nvPr/>
        </p:nvSpPr>
        <p:spPr>
          <a:xfrm>
            <a:off x="5993656" y="5309553"/>
            <a:ext cx="1961402" cy="967740"/>
          </a:xfrm>
          <a:prstGeom prst="roundRect">
            <a:avLst>
              <a:gd name="adj" fmla="val 566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0B3C49"/>
                </a:solidFill>
                <a:latin typeface="Calibri" pitchFamily="34" charset="0"/>
                <a:ea typeface="Calibri" pitchFamily="34" charset="-122"/>
                <a:cs typeface="Calibri" pitchFamily="34" charset="-120"/>
              </a:rPr>
              <a:t>Generated policy (Rego)</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built from the layer,</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tested in CI</a:t>
            </a:r>
            <a:endParaRPr lang="en-US" sz="1020" dirty="0"/>
          </a:p>
        </p:txBody>
      </p:sp>
      <p:sp>
        <p:nvSpPr>
          <p:cNvPr id="37" name="03-architecture-repo-2.0:ci"/>
          <p:cNvSpPr txBox="1"/>
          <p:nvPr/>
        </p:nvSpPr>
        <p:spPr>
          <a:xfrm>
            <a:off x="8303345" y="5309553"/>
            <a:ext cx="3446202" cy="967740"/>
          </a:xfrm>
          <a:prstGeom prst="roundRect">
            <a:avLst>
              <a:gd name="adj" fmla="val 5669"/>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020" b="1" dirty="0">
                <a:solidFill>
                  <a:srgbClr val="1E5631"/>
                </a:solidFill>
                <a:latin typeface="Calibri" pitchFamily="34" charset="0"/>
                <a:ea typeface="Calibri" pitchFamily="34" charset="-122"/>
                <a:cs typeface="Calibri" pitchFamily="34" charset="-120"/>
              </a:rPr>
              <a:t>CI gates</a:t>
            </a:r>
            <a:endParaRPr lang="en-US" sz="1020" dirty="0"/>
          </a:p>
          <a:p>
            <a:pPr algn="ctr" indent="0" marL="0">
              <a:buNone/>
            </a:pPr>
            <a:r>
              <a:rPr lang="en-US" sz="1020" dirty="0">
                <a:solidFill>
                  <a:srgbClr val="1E5631"/>
                </a:solidFill>
                <a:latin typeface="Calibri" pitchFamily="34" charset="0"/>
                <a:ea typeface="Calibri" pitchFamily="34" charset="-122"/>
                <a:cs typeface="Calibri" pitchFamily="34" charset="-120"/>
              </a:rPr>
              <a:t>lint, types, 181 tests, 97% coverage, secret</a:t>
            </a:r>
            <a:endParaRPr lang="en-US" sz="1020" dirty="0"/>
          </a:p>
          <a:p>
            <a:pPr algn="ctr" indent="0" marL="0">
              <a:buNone/>
            </a:pPr>
            <a:r>
              <a:rPr lang="en-US" sz="1020" dirty="0">
                <a:solidFill>
                  <a:srgbClr val="1E5631"/>
                </a:solidFill>
                <a:latin typeface="Calibri" pitchFamily="34" charset="0"/>
                <a:ea typeface="Calibri" pitchFamily="34" charset="-122"/>
                <a:cs typeface="Calibri" pitchFamily="34" charset="-120"/>
              </a:rPr>
              <a:t>scan, policy and semantic tests</a:t>
            </a:r>
            <a:endParaRPr lang="en-US" sz="1020" dirty="0"/>
          </a:p>
        </p:txBody>
      </p:sp>
      <p:sp>
        <p:nvSpPr>
          <p:cNvPr id="38" name="03-architecture-repo-2.0:edge:ops-&gt;routes"/>
          <p:cNvSpPr/>
          <p:nvPr/>
        </p:nvSpPr>
        <p:spPr>
          <a:xfrm flipV="1">
            <a:off x="1585084" y="1715205"/>
            <a:ext cx="339121" cy="32258"/>
          </a:xfrm>
          <a:prstGeom prst="line">
            <a:avLst/>
          </a:prstGeom>
          <a:noFill/>
          <a:ln w="19050">
            <a:solidFill>
              <a:srgbClr val="41545A"/>
            </a:solidFill>
            <a:prstDash val="solid"/>
            <a:tailEnd type="triangle"/>
          </a:ln>
        </p:spPr>
      </p:sp>
      <p:sp>
        <p:nvSpPr>
          <p:cNvPr id="39" name="03-architecture-repo-2.0:edge:cli-&gt;tok"/>
          <p:cNvSpPr/>
          <p:nvPr/>
        </p:nvSpPr>
        <p:spPr>
          <a:xfrm flipV="1">
            <a:off x="1585084" y="2669235"/>
            <a:ext cx="339121" cy="111290"/>
          </a:xfrm>
          <a:prstGeom prst="line">
            <a:avLst/>
          </a:prstGeom>
          <a:noFill/>
          <a:ln w="19050">
            <a:solidFill>
              <a:srgbClr val="41545A"/>
            </a:solidFill>
            <a:prstDash val="solid"/>
            <a:tailEnd type="triangle"/>
          </a:ln>
        </p:spPr>
      </p:sp>
      <p:sp>
        <p:nvSpPr>
          <p:cNvPr id="40" name="03-architecture-repo-2.0:edge:tok-&gt;pol"/>
          <p:cNvSpPr/>
          <p:nvPr/>
        </p:nvSpPr>
        <p:spPr>
          <a:xfrm flipV="1">
            <a:off x="3518990" y="2099882"/>
            <a:ext cx="348286" cy="92742"/>
          </a:xfrm>
          <a:prstGeom prst="line">
            <a:avLst/>
          </a:prstGeom>
          <a:noFill/>
          <a:ln w="19050">
            <a:solidFill>
              <a:srgbClr val="41545A"/>
            </a:solidFill>
            <a:prstDash val="solid"/>
            <a:tailEnd type="triangle"/>
          </a:ln>
        </p:spPr>
      </p:sp>
      <p:sp>
        <p:nvSpPr>
          <p:cNvPr id="41" name="03-architecture-repo-2.0:edge:pol-&gt;ctx"/>
          <p:cNvSpPr/>
          <p:nvPr/>
        </p:nvSpPr>
        <p:spPr>
          <a:xfrm flipV="1">
            <a:off x="5645370" y="1760366"/>
            <a:ext cx="348286" cy="29032"/>
          </a:xfrm>
          <a:prstGeom prst="line">
            <a:avLst/>
          </a:prstGeom>
          <a:noFill/>
          <a:ln w="19050">
            <a:solidFill>
              <a:srgbClr val="41545A"/>
            </a:solidFill>
            <a:prstDash val="solid"/>
            <a:tailEnd type="triangle"/>
          </a:ln>
        </p:spPr>
      </p:sp>
      <p:sp>
        <p:nvSpPr>
          <p:cNvPr id="42" name="03-architecture-repo-2.0:edge:ctx-&gt;prod"/>
          <p:cNvSpPr/>
          <p:nvPr/>
        </p:nvSpPr>
        <p:spPr>
          <a:xfrm>
            <a:off x="6974357" y="2043430"/>
            <a:ext cx="914" cy="120968"/>
          </a:xfrm>
          <a:prstGeom prst="line">
            <a:avLst/>
          </a:prstGeom>
          <a:noFill/>
          <a:ln w="19050">
            <a:solidFill>
              <a:srgbClr val="41545A"/>
            </a:solidFill>
            <a:prstDash val="solid"/>
            <a:tailEnd type="triangle"/>
          </a:ln>
        </p:spPr>
      </p:sp>
      <p:sp>
        <p:nvSpPr>
          <p:cNvPr id="43" name="03-architecture-repo-2.0:edge:prod-&gt;chk"/>
          <p:cNvSpPr/>
          <p:nvPr/>
        </p:nvSpPr>
        <p:spPr>
          <a:xfrm>
            <a:off x="6974357" y="2890203"/>
            <a:ext cx="914" cy="120968"/>
          </a:xfrm>
          <a:prstGeom prst="line">
            <a:avLst/>
          </a:prstGeom>
          <a:noFill/>
          <a:ln w="19050">
            <a:solidFill>
              <a:srgbClr val="41545A"/>
            </a:solidFill>
            <a:prstDash val="solid"/>
            <a:tailEnd type="triangle"/>
          </a:ln>
        </p:spPr>
      </p:sp>
      <p:sp>
        <p:nvSpPr>
          <p:cNvPr id="44" name="03-architecture-repo-2.0:edge:chk-&gt;fb"/>
          <p:cNvSpPr/>
          <p:nvPr/>
        </p:nvSpPr>
        <p:spPr>
          <a:xfrm>
            <a:off x="6974357" y="3656330"/>
            <a:ext cx="914" cy="120967"/>
          </a:xfrm>
          <a:prstGeom prst="line">
            <a:avLst/>
          </a:prstGeom>
          <a:noFill/>
          <a:ln w="19050">
            <a:solidFill>
              <a:srgbClr val="41545A"/>
            </a:solidFill>
            <a:prstDash val="solid"/>
            <a:tailEnd type="triangle"/>
          </a:ln>
        </p:spPr>
      </p:sp>
      <p:sp>
        <p:nvSpPr>
          <p:cNvPr id="45" name="03-architecture-repo-2.0:edge:etl-&gt;qua"/>
          <p:cNvSpPr/>
          <p:nvPr/>
        </p:nvSpPr>
        <p:spPr>
          <a:xfrm>
            <a:off x="1970032" y="5793423"/>
            <a:ext cx="137481" cy="914"/>
          </a:xfrm>
          <a:prstGeom prst="line">
            <a:avLst/>
          </a:prstGeom>
          <a:noFill/>
          <a:ln w="19050">
            <a:solidFill>
              <a:srgbClr val="41545A"/>
            </a:solidFill>
            <a:prstDash val="solid"/>
            <a:tailEnd type="triangle"/>
          </a:ln>
        </p:spPr>
      </p:sp>
      <p:sp>
        <p:nvSpPr>
          <p:cNvPr id="46" name="03-architecture-repo-2.0:edge:sem-&gt;rego"/>
          <p:cNvSpPr/>
          <p:nvPr/>
        </p:nvSpPr>
        <p:spPr>
          <a:xfrm>
            <a:off x="5645370" y="5793423"/>
            <a:ext cx="348286" cy="914"/>
          </a:xfrm>
          <a:prstGeom prst="line">
            <a:avLst/>
          </a:prstGeom>
          <a:noFill/>
          <a:ln w="19050">
            <a:solidFill>
              <a:srgbClr val="41545A"/>
            </a:solidFill>
            <a:prstDash val="solid"/>
            <a:tailEnd type="triangle"/>
          </a:ln>
        </p:spPr>
      </p:sp>
      <p:sp>
        <p:nvSpPr>
          <p:cNvPr id="25" name="Slide Number Placeholder 0"/>
          <p:cNvSpPr>
            <a:spLocks noGrp="1"/>
          </p:cNvSpPr>
          <p:nvPr>
            <p:ph type="sldNum" sz="quarter" idx="4294967295"/>
          </p:nvPr>
        </p:nvSpPr>
        <p:spPr>
          <a:xfrm>
            <a:off x="11247120" y="3657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2800" b="1" dirty="0">
                <a:solidFill>
                  <a:schemeClr val="tx2"/>
                </a:solidFill>
              </a:rPr>
              <a:t>Repo 1.0 vs Repo 2.0 at a glance</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11274552" cy="914400"/>
        </p:xfrm>
        <a:graphic>
          <a:graphicData uri="http://schemas.openxmlformats.org/drawingml/2006/table">
            <a:tbl>
              <a:tblPr/>
              <a:tblGrid>
                <a:gridCol w="1920240"/>
                <a:gridCol w="3108960"/>
                <a:gridCol w="4690872"/>
                <a:gridCol w="155448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Area</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Repo 1.0 (as delivered)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Repo 2.0 (as built)</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r>
              <a:tr h="45720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Quick-start and tests</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Test command fails; 3 tests; 45% coverage</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Works; 181 tests; 97% coverage; CI green on 3.11 and 3.14</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b="1" dirty="0">
                          <a:solidFill>
                            <a:srgbClr val="1B2A2F"/>
                          </a:solidFill>
                          <a:latin typeface="Calibri" pitchFamily="34" charset="0"/>
                          <a:ea typeface="Calibri" pitchFamily="34" charset="-122"/>
                          <a:cs typeface="Calibri" pitchFamily="34" charset="-120"/>
                        </a:rPr>
                        <a:t>Fixed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45720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Role taken from a request header</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Signed token; forged tokens rejected; no identity provider yet</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b="1" dirty="0">
                          <a:solidFill>
                            <a:srgbClr val="1B2A2F"/>
                          </a:solidFill>
                          <a:latin typeface="Calibri" pitchFamily="34" charset="0"/>
                          <a:ea typeface="Calibri" pitchFamily="34" charset="-122"/>
                          <a:cs typeface="Calibri" pitchFamily="34" charset="-120"/>
                        </a:rPr>
                        <a:t>Fixed (interim)</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45720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Authorisation</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Flat allow-list; policy file unused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Deny by default; persona, entity, purpose; policy generated and tested; scope not narrowed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b="1" dirty="0">
                          <a:solidFill>
                            <a:srgbClr val="1B2A2F"/>
                          </a:solidFill>
                          <a:latin typeface="Calibri" pitchFamily="34" charset="0"/>
                          <a:ea typeface="Calibri" pitchFamily="34" charset="-122"/>
                          <a:cs typeface="Calibri" pitchFamily="34" charset="-120"/>
                        </a:rPr>
                        <a:t>Fixed (scope partial)</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45720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Record lookup</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Any column; wrong record on a miss</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Key pattern enforced; 404 on a miss; collisions quarantined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b="1" dirty="0">
                          <a:solidFill>
                            <a:srgbClr val="1B2A2F"/>
                          </a:solidFill>
                          <a:latin typeface="Calibri" pitchFamily="34" charset="0"/>
                          <a:ea typeface="Calibri" pitchFamily="34" charset="-122"/>
                          <a:cs typeface="Calibri" pitchFamily="34" charset="-120"/>
                        </a:rPr>
                        <a:t>Fixed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45720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AI endpoint</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No auth; guardrail off; no schema</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Authorised, rate-limited, allow-listed context, checked output, suggest-only</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b="1" dirty="0">
                          <a:solidFill>
                            <a:srgbClr val="1B2A2F"/>
                          </a:solidFill>
                          <a:latin typeface="Calibri" pitchFamily="34" charset="0"/>
                          <a:ea typeface="Calibri" pitchFamily="34" charset="-122"/>
                          <a:cs typeface="Calibri" pitchFamily="34" charset="-120"/>
                        </a:rPr>
                        <a:t>Fixed (no model)</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45720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Human approval</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Approve or reject once; self-approval still possible</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b="1" dirty="0">
                          <a:solidFill>
                            <a:srgbClr val="1B2A2F"/>
                          </a:solidFill>
                          <a:latin typeface="Calibri" pitchFamily="34" charset="0"/>
                          <a:ea typeface="Calibri" pitchFamily="34" charset="-122"/>
                          <a:cs typeface="Calibri" pitchFamily="34" charset="-120"/>
                        </a:rPr>
                        <a:t>Fixed (no four-eyes)</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45720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Audit</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Time and action only</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Hash-chained: who, purpose, decision; tampering detected; local file</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b="1" dirty="0">
                          <a:solidFill>
                            <a:srgbClr val="1B2A2F"/>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tr>
              <a:tr h="45720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Data quality</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Defects counted, then discarded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Validated, quarantined, curated layer; raw fixture untouched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b="1" dirty="0">
                          <a:solidFill>
                            <a:srgbClr val="1B2A2F"/>
                          </a:solidFill>
                          <a:latin typeface="Calibri" pitchFamily="34" charset="0"/>
                          <a:ea typeface="Calibri" pitchFamily="34" charset="-122"/>
                          <a:cs typeface="Calibri" pitchFamily="34" charset="-120"/>
                        </a:rPr>
                        <a:t>Fixed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45720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Infrastructure</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Terraform writes one local file</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Container recipe; nothing provisioned; platform-neutral by decision</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b="1" dirty="0">
                          <a:solidFill>
                            <a:srgbClr val="1B2A2F"/>
                          </a:solidFill>
                          <a:latin typeface="Calibri" pitchFamily="34" charset="0"/>
                          <a:ea typeface="Calibri" pitchFamily="34" charset="-122"/>
                          <a:cs typeface="Calibri" pitchFamily="34" charset="-120"/>
                        </a:rPr>
                        <a:t>Deferred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2800" b="1" dirty="0">
                <a:solidFill>
                  <a:schemeClr val="tx2"/>
                </a:solidFill>
              </a:rPr>
              <a:t>Proof: the same 12 attacks, before and after</a:t>
            </a:r>
            <a:endParaRPr lang="en-US" sz="2800" dirty="0"/>
          </a:p>
        </p:txBody>
      </p:sp>
      <p:sp>
        <p:nvSpPr>
          <p:cNvPr id="4" name="Text 1"/>
          <p:cNvSpPr txBox="1"/>
          <p:nvPr/>
        </p:nvSpPr>
        <p:spPr>
          <a:xfrm>
            <a:off x="548640" y="1280160"/>
            <a:ext cx="3291840" cy="822960"/>
          </a:xfrm>
          <a:prstGeom prst="rect">
            <a:avLst/>
          </a:prstGeom>
          <a:noFill/>
          <a:ln/>
        </p:spPr>
        <p:txBody>
          <a:bodyPr wrap="square" lIns="0" tIns="0" rIns="0" bIns="0" rtlCol="0" anchor="ctr"/>
          <a:lstStyle/>
          <a:p>
            <a:pPr indent="0" marL="0">
              <a:buNone/>
            </a:pPr>
            <a:r>
              <a:rPr lang="en-US" sz="4400" b="1" dirty="0">
                <a:solidFill>
                  <a:srgbClr val="C0392B"/>
                </a:solidFill>
              </a:rPr>
              <a:t>10 of 12</a:t>
            </a:r>
            <a:endParaRPr lang="en-US" sz="4400" dirty="0"/>
          </a:p>
        </p:txBody>
      </p:sp>
      <p:sp>
        <p:nvSpPr>
          <p:cNvPr id="5" name="Text 2"/>
          <p:cNvSpPr txBox="1"/>
          <p:nvPr/>
        </p:nvSpPr>
        <p:spPr>
          <a:xfrm>
            <a:off x="548640" y="2103120"/>
            <a:ext cx="3291840" cy="457200"/>
          </a:xfrm>
          <a:prstGeom prst="rect">
            <a:avLst/>
          </a:prstGeom>
          <a:noFill/>
          <a:ln/>
        </p:spPr>
        <p:txBody>
          <a:bodyPr wrap="square" lIns="0" tIns="0" rIns="0" bIns="0" rtlCol="0" anchor="ctr"/>
          <a:lstStyle/>
          <a:p>
            <a:pPr indent="0" marL="0">
              <a:buNone/>
            </a:pPr>
            <a:r>
              <a:rPr lang="en-US" sz="1500" dirty="0">
                <a:solidFill>
                  <a:srgbClr val="1B2A2F"/>
                </a:solidFill>
              </a:rPr>
              <a:t>succeeded against Repo 1.0</a:t>
            </a:r>
            <a:endParaRPr lang="en-US" sz="1500" dirty="0"/>
          </a:p>
        </p:txBody>
      </p:sp>
      <p:sp>
        <p:nvSpPr>
          <p:cNvPr id="6" name="Text 3"/>
          <p:cNvSpPr txBox="1"/>
          <p:nvPr/>
        </p:nvSpPr>
        <p:spPr>
          <a:xfrm>
            <a:off x="548640" y="2926080"/>
            <a:ext cx="3291840" cy="822960"/>
          </a:xfrm>
          <a:prstGeom prst="rect">
            <a:avLst/>
          </a:prstGeom>
          <a:noFill/>
          <a:ln/>
        </p:spPr>
        <p:txBody>
          <a:bodyPr wrap="square" lIns="0" tIns="0" rIns="0" bIns="0" rtlCol="0" anchor="ctr"/>
          <a:lstStyle/>
          <a:p>
            <a:pPr indent="0" marL="0">
              <a:buNone/>
            </a:pPr>
            <a:r>
              <a:rPr lang="en-US" sz="4400" b="1" dirty="0">
                <a:solidFill>
                  <a:srgbClr val="2E8B57"/>
                </a:solidFill>
              </a:rPr>
              <a:t>0 of 12</a:t>
            </a:r>
            <a:endParaRPr lang="en-US" sz="4400" dirty="0"/>
          </a:p>
        </p:txBody>
      </p:sp>
      <p:sp>
        <p:nvSpPr>
          <p:cNvPr id="7" name="Text 4"/>
          <p:cNvSpPr txBox="1"/>
          <p:nvPr/>
        </p:nvSpPr>
        <p:spPr>
          <a:xfrm>
            <a:off x="548640" y="3749040"/>
            <a:ext cx="3291840" cy="457200"/>
          </a:xfrm>
          <a:prstGeom prst="rect">
            <a:avLst/>
          </a:prstGeom>
          <a:noFill/>
          <a:ln/>
        </p:spPr>
        <p:txBody>
          <a:bodyPr wrap="square" lIns="0" tIns="0" rIns="0" bIns="0" rtlCol="0" anchor="ctr"/>
          <a:lstStyle/>
          <a:p>
            <a:pPr indent="0" marL="0">
              <a:buNone/>
            </a:pPr>
            <a:r>
              <a:rPr lang="en-US" sz="1500" dirty="0">
                <a:solidFill>
                  <a:srgbClr val="1B2A2F"/>
                </a:solidFill>
              </a:rPr>
              <a:t>succeed against Repo 2.0</a:t>
            </a:r>
            <a:endParaRPr lang="en-US" sz="1500" dirty="0"/>
          </a:p>
        </p:txBody>
      </p:sp>
      <p:sp>
        <p:nvSpPr>
          <p:cNvPr id="8" name="Text 5"/>
          <p:cNvSpPr txBox="1"/>
          <p:nvPr/>
        </p:nvSpPr>
        <p:spPr>
          <a:xfrm>
            <a:off x="548640" y="4572000"/>
            <a:ext cx="3291840" cy="914400"/>
          </a:xfrm>
          <a:prstGeom prst="rect">
            <a:avLst/>
          </a:prstGeom>
          <a:noFill/>
          <a:ln/>
        </p:spPr>
        <p:txBody>
          <a:bodyPr wrap="square" lIns="0" tIns="0" rIns="0" bIns="0" rtlCol="0" anchor="t"/>
          <a:lstStyle/>
          <a:p>
            <a:pPr indent="0" marL="0">
              <a:buNone/>
            </a:pPr>
            <a:r>
              <a:rPr lang="en-US" sz="1100" dirty="0">
                <a:solidFill>
                  <a:srgbClr val="5F6E71"/>
                </a:solidFill>
              </a:rPr>
              <a:t>Run by the builder, not an independent team. Source: evidence/26-tevv/EVD-L-03-redteam-*.json</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0" y="1051560"/>
          <a:ext cx="7616952" cy="914400"/>
        </p:xfrm>
        <a:graphic>
          <a:graphicData uri="http://schemas.openxmlformats.org/drawingml/2006/table">
            <a:tbl>
              <a:tblPr/>
              <a:tblGrid>
                <a:gridCol w="731520"/>
                <a:gridCol w="3227832"/>
                <a:gridCol w="868680"/>
                <a:gridCol w="1005840"/>
                <a:gridCol w="868680"/>
                <a:gridCol w="914400"/>
              </a:tblGrid>
              <a:tr h="35661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Attack</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Goal</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Repo 1.0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Repo 2.0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Call the AI endpoint with no identity</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Claim admin with a header</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RT-03</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Use a persona from another domain</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RT-04</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Look up a record by a non-key column</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422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RT-05</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Ask for a record that does not exist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422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RT-06</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Reach the planted colliding key</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422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RT-07</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Reflect attacker text through the AI</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422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RT-08</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Smuggle text via a category field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RT-09</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Find the guardrail switched off</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RT-10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Action a suggestion without approval</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404</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RT-11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Forge a token (alg none, admin)</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RT-12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Exhaust the AI endpoint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429</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2800" b="1" dirty="0">
                <a:solidFill>
                  <a:schemeClr val="tx2"/>
                </a:solidFill>
              </a:rPr>
              <a:t>Readiness: six gates pass; production gates need people and a platform</a:t>
            </a:r>
            <a:endParaRPr lang="en-US" sz="2800" dirty="0"/>
          </a:p>
        </p:txBody>
      </p:sp>
      <p:sp>
        <p:nvSpPr>
          <p:cNvPr id="4" name="Shape 1"/>
          <p:cNvSpPr/>
          <p:nvPr/>
        </p:nvSpPr>
        <p:spPr>
          <a:xfrm>
            <a:off x="457200" y="1097280"/>
            <a:ext cx="3611880" cy="1078992"/>
          </a:xfrm>
          <a:prstGeom prst="roundRect">
            <a:avLst>
              <a:gd name="adj" fmla="val 6780"/>
            </a:avLst>
          </a:prstGeom>
          <a:solidFill>
            <a:srgbClr val="E5F3EB"/>
          </a:solidFill>
          <a:ln/>
        </p:spPr>
      </p:sp>
      <p:sp>
        <p:nvSpPr>
          <p:cNvPr id="5" name="Text 2"/>
          <p:cNvSpPr txBox="1"/>
          <p:nvPr/>
        </p:nvSpPr>
        <p:spPr>
          <a:xfrm>
            <a:off x="594360" y="1170432"/>
            <a:ext cx="3337560" cy="932688"/>
          </a:xfrm>
          <a:prstGeom prst="rect">
            <a:avLst/>
          </a:prstGeom>
          <a:noFill/>
          <a:ln/>
        </p:spPr>
        <p:txBody>
          <a:bodyPr wrap="square" lIns="0" tIns="0" rIns="0" bIns="0" rtlCol="0" anchor="t"/>
          <a:lstStyle/>
          <a:p>
            <a:pPr indent="0" marL="0">
              <a:buNone/>
            </a:pPr>
            <a:r>
              <a:rPr lang="en-US" sz="1600" b="1" dirty="0">
                <a:solidFill>
                  <a:srgbClr val="2E8B57"/>
                </a:solidFill>
              </a:rPr>
              <a:t>G1  PASS</a:t>
            </a:r>
            <a:endParaRPr lang="en-US" sz="1600" dirty="0"/>
          </a:p>
          <a:p>
            <a:pPr indent="0" marL="0">
              <a:buNone/>
            </a:pPr>
            <a:r>
              <a:rPr lang="en-US" sz="1500" dirty="0">
                <a:solidFill>
                  <a:srgbClr val="1B2A2F"/>
                </a:solidFill>
              </a:rPr>
              <a:t>Tests and coverage</a:t>
            </a:r>
            <a:endParaRPr lang="en-US" sz="1600" dirty="0"/>
          </a:p>
        </p:txBody>
      </p:sp>
      <p:sp>
        <p:nvSpPr>
          <p:cNvPr id="6" name="Shape 3"/>
          <p:cNvSpPr/>
          <p:nvPr/>
        </p:nvSpPr>
        <p:spPr>
          <a:xfrm>
            <a:off x="4251960" y="1097280"/>
            <a:ext cx="3611880" cy="1078992"/>
          </a:xfrm>
          <a:prstGeom prst="roundRect">
            <a:avLst>
              <a:gd name="adj" fmla="val 6780"/>
            </a:avLst>
          </a:prstGeom>
          <a:solidFill>
            <a:srgbClr val="E5F3EB"/>
          </a:solidFill>
          <a:ln/>
        </p:spPr>
      </p:sp>
      <p:sp>
        <p:nvSpPr>
          <p:cNvPr id="7" name="Text 4"/>
          <p:cNvSpPr txBox="1"/>
          <p:nvPr/>
        </p:nvSpPr>
        <p:spPr>
          <a:xfrm>
            <a:off x="4389120" y="1170432"/>
            <a:ext cx="3337560" cy="932688"/>
          </a:xfrm>
          <a:prstGeom prst="rect">
            <a:avLst/>
          </a:prstGeom>
          <a:noFill/>
          <a:ln/>
        </p:spPr>
        <p:txBody>
          <a:bodyPr wrap="square" lIns="0" tIns="0" rIns="0" bIns="0" rtlCol="0" anchor="t"/>
          <a:lstStyle/>
          <a:p>
            <a:pPr indent="0" marL="0">
              <a:buNone/>
            </a:pPr>
            <a:r>
              <a:rPr lang="en-US" sz="1600" b="1" dirty="0">
                <a:solidFill>
                  <a:srgbClr val="2E8B57"/>
                </a:solidFill>
              </a:rPr>
              <a:t>G2  PASS</a:t>
            </a:r>
            <a:endParaRPr lang="en-US" sz="1600" dirty="0"/>
          </a:p>
          <a:p>
            <a:pPr indent="0" marL="0">
              <a:buNone/>
            </a:pPr>
            <a:r>
              <a:rPr lang="en-US" sz="1500" dirty="0">
                <a:solidFill>
                  <a:srgbClr val="1B2A2F"/>
                </a:solidFill>
              </a:rPr>
              <a:t>Evaluation (deterministic provider only)</a:t>
            </a:r>
            <a:endParaRPr lang="en-US" sz="1600" dirty="0"/>
          </a:p>
        </p:txBody>
      </p:sp>
      <p:sp>
        <p:nvSpPr>
          <p:cNvPr id="8" name="Shape 5"/>
          <p:cNvSpPr/>
          <p:nvPr/>
        </p:nvSpPr>
        <p:spPr>
          <a:xfrm>
            <a:off x="8046720" y="1097280"/>
            <a:ext cx="3611880" cy="1078992"/>
          </a:xfrm>
          <a:prstGeom prst="roundRect">
            <a:avLst>
              <a:gd name="adj" fmla="val 6780"/>
            </a:avLst>
          </a:prstGeom>
          <a:solidFill>
            <a:srgbClr val="E5F3EB"/>
          </a:solidFill>
          <a:ln/>
        </p:spPr>
      </p:sp>
      <p:sp>
        <p:nvSpPr>
          <p:cNvPr id="9" name="Text 6"/>
          <p:cNvSpPr txBox="1"/>
          <p:nvPr/>
        </p:nvSpPr>
        <p:spPr>
          <a:xfrm>
            <a:off x="8183880" y="1170432"/>
            <a:ext cx="3337560" cy="932688"/>
          </a:xfrm>
          <a:prstGeom prst="rect">
            <a:avLst/>
          </a:prstGeom>
          <a:noFill/>
          <a:ln/>
        </p:spPr>
        <p:txBody>
          <a:bodyPr wrap="square" lIns="0" tIns="0" rIns="0" bIns="0" rtlCol="0" anchor="t"/>
          <a:lstStyle/>
          <a:p>
            <a:pPr indent="0" marL="0">
              <a:buNone/>
            </a:pPr>
            <a:r>
              <a:rPr lang="en-US" sz="1600" b="1" dirty="0">
                <a:solidFill>
                  <a:srgbClr val="2E8B57"/>
                </a:solidFill>
              </a:rPr>
              <a:t>G3  PASS</a:t>
            </a:r>
            <a:endParaRPr lang="en-US" sz="1600" dirty="0"/>
          </a:p>
          <a:p>
            <a:pPr indent="0" marL="0">
              <a:buNone/>
            </a:pPr>
            <a:r>
              <a:rPr lang="en-US" sz="1500" dirty="0">
                <a:solidFill>
                  <a:srgbClr val="1B2A2F"/>
                </a:solidFill>
              </a:rPr>
              <a:t>No original defect re-exploitable</a:t>
            </a:r>
            <a:endParaRPr lang="en-US" sz="1600" dirty="0"/>
          </a:p>
        </p:txBody>
      </p:sp>
      <p:sp>
        <p:nvSpPr>
          <p:cNvPr id="10" name="Shape 7"/>
          <p:cNvSpPr/>
          <p:nvPr/>
        </p:nvSpPr>
        <p:spPr>
          <a:xfrm>
            <a:off x="457200" y="2331720"/>
            <a:ext cx="3611880" cy="1078992"/>
          </a:xfrm>
          <a:prstGeom prst="roundRect">
            <a:avLst>
              <a:gd name="adj" fmla="val 6780"/>
            </a:avLst>
          </a:prstGeom>
          <a:solidFill>
            <a:srgbClr val="E5F3EB"/>
          </a:solidFill>
          <a:ln/>
        </p:spPr>
      </p:sp>
      <p:sp>
        <p:nvSpPr>
          <p:cNvPr id="11" name="Text 8"/>
          <p:cNvSpPr txBox="1"/>
          <p:nvPr/>
        </p:nvSpPr>
        <p:spPr>
          <a:xfrm>
            <a:off x="594360" y="2404872"/>
            <a:ext cx="3337560" cy="932688"/>
          </a:xfrm>
          <a:prstGeom prst="rect">
            <a:avLst/>
          </a:prstGeom>
          <a:noFill/>
          <a:ln/>
        </p:spPr>
        <p:txBody>
          <a:bodyPr wrap="square" lIns="0" tIns="0" rIns="0" bIns="0" rtlCol="0" anchor="t"/>
          <a:lstStyle/>
          <a:p>
            <a:pPr indent="0" marL="0">
              <a:buNone/>
            </a:pPr>
            <a:r>
              <a:rPr lang="en-US" sz="1600" b="1" dirty="0">
                <a:solidFill>
                  <a:srgbClr val="2E8B57"/>
                </a:solidFill>
              </a:rPr>
              <a:t>G4  PASS</a:t>
            </a:r>
            <a:endParaRPr lang="en-US" sz="1600" dirty="0"/>
          </a:p>
          <a:p>
            <a:pPr indent="0" marL="0">
              <a:buNone/>
            </a:pPr>
            <a:r>
              <a:rPr lang="en-US" sz="1500" dirty="0">
                <a:solidFill>
                  <a:srgbClr val="1B2A2F"/>
                </a:solidFill>
              </a:rPr>
              <a:t>No critical or high dependency vulnerability</a:t>
            </a:r>
            <a:endParaRPr lang="en-US" sz="1600" dirty="0"/>
          </a:p>
        </p:txBody>
      </p:sp>
      <p:sp>
        <p:nvSpPr>
          <p:cNvPr id="12" name="Shape 9"/>
          <p:cNvSpPr/>
          <p:nvPr/>
        </p:nvSpPr>
        <p:spPr>
          <a:xfrm>
            <a:off x="4251960" y="2331720"/>
            <a:ext cx="3611880" cy="1078992"/>
          </a:xfrm>
          <a:prstGeom prst="roundRect">
            <a:avLst>
              <a:gd name="adj" fmla="val 6780"/>
            </a:avLst>
          </a:prstGeom>
          <a:solidFill>
            <a:srgbClr val="E5F3EB"/>
          </a:solidFill>
          <a:ln/>
        </p:spPr>
      </p:sp>
      <p:sp>
        <p:nvSpPr>
          <p:cNvPr id="13" name="Text 10"/>
          <p:cNvSpPr txBox="1"/>
          <p:nvPr/>
        </p:nvSpPr>
        <p:spPr>
          <a:xfrm>
            <a:off x="4389120" y="2404872"/>
            <a:ext cx="3337560" cy="932688"/>
          </a:xfrm>
          <a:prstGeom prst="rect">
            <a:avLst/>
          </a:prstGeom>
          <a:noFill/>
          <a:ln/>
        </p:spPr>
        <p:txBody>
          <a:bodyPr wrap="square" lIns="0" tIns="0" rIns="0" bIns="0" rtlCol="0" anchor="t"/>
          <a:lstStyle/>
          <a:p>
            <a:pPr indent="0" marL="0">
              <a:buNone/>
            </a:pPr>
            <a:r>
              <a:rPr lang="en-US" sz="1600" b="1" dirty="0">
                <a:solidFill>
                  <a:srgbClr val="2E8B57"/>
                </a:solidFill>
              </a:rPr>
              <a:t>G5  PASS</a:t>
            </a:r>
            <a:endParaRPr lang="en-US" sz="1600" dirty="0"/>
          </a:p>
          <a:p>
            <a:pPr indent="0" marL="0">
              <a:buNone/>
            </a:pPr>
            <a:r>
              <a:rPr lang="en-US" sz="1500" dirty="0">
                <a:solidFill>
                  <a:srgbClr val="1B2A2F"/>
                </a:solidFill>
              </a:rPr>
              <a:t>Audit tamper-evident, reconstruction shown</a:t>
            </a:r>
            <a:endParaRPr lang="en-US" sz="1600" dirty="0"/>
          </a:p>
        </p:txBody>
      </p:sp>
      <p:sp>
        <p:nvSpPr>
          <p:cNvPr id="14" name="Shape 11"/>
          <p:cNvSpPr/>
          <p:nvPr/>
        </p:nvSpPr>
        <p:spPr>
          <a:xfrm>
            <a:off x="8046720" y="2331720"/>
            <a:ext cx="3611880" cy="1078992"/>
          </a:xfrm>
          <a:prstGeom prst="roundRect">
            <a:avLst>
              <a:gd name="adj" fmla="val 6780"/>
            </a:avLst>
          </a:prstGeom>
          <a:solidFill>
            <a:srgbClr val="E5F3EB"/>
          </a:solidFill>
          <a:ln/>
        </p:spPr>
      </p:sp>
      <p:sp>
        <p:nvSpPr>
          <p:cNvPr id="15" name="Text 12"/>
          <p:cNvSpPr txBox="1"/>
          <p:nvPr/>
        </p:nvSpPr>
        <p:spPr>
          <a:xfrm>
            <a:off x="8183880" y="2404872"/>
            <a:ext cx="3337560" cy="932688"/>
          </a:xfrm>
          <a:prstGeom prst="rect">
            <a:avLst/>
          </a:prstGeom>
          <a:noFill/>
          <a:ln/>
        </p:spPr>
        <p:txBody>
          <a:bodyPr wrap="square" lIns="0" tIns="0" rIns="0" bIns="0" rtlCol="0" anchor="t"/>
          <a:lstStyle/>
          <a:p>
            <a:pPr indent="0" marL="0">
              <a:buNone/>
            </a:pPr>
            <a:r>
              <a:rPr lang="en-US" sz="1600" b="1" dirty="0">
                <a:solidFill>
                  <a:srgbClr val="2E8B57"/>
                </a:solidFill>
              </a:rPr>
              <a:t>G6  PASS</a:t>
            </a:r>
            <a:endParaRPr lang="en-US" sz="1600" dirty="0"/>
          </a:p>
          <a:p>
            <a:pPr indent="0" marL="0">
              <a:buNone/>
            </a:pPr>
            <a:r>
              <a:rPr lang="en-US" sz="1500" dirty="0">
                <a:solidFill>
                  <a:srgbClr val="1B2A2F"/>
                </a:solidFill>
              </a:rPr>
              <a:t>Backup restore shown</a:t>
            </a:r>
            <a:endParaRPr lang="en-US" sz="1600" dirty="0"/>
          </a:p>
        </p:txBody>
      </p:sp>
      <p:sp>
        <p:nvSpPr>
          <p:cNvPr id="16" name="Shape 13"/>
          <p:cNvSpPr/>
          <p:nvPr/>
        </p:nvSpPr>
        <p:spPr>
          <a:xfrm>
            <a:off x="457200" y="3566160"/>
            <a:ext cx="3611880" cy="1078992"/>
          </a:xfrm>
          <a:prstGeom prst="roundRect">
            <a:avLst>
              <a:gd name="adj" fmla="val 6780"/>
            </a:avLst>
          </a:prstGeom>
          <a:solidFill>
            <a:srgbClr val="FFF4E0"/>
          </a:solidFill>
          <a:ln/>
        </p:spPr>
      </p:sp>
      <p:sp>
        <p:nvSpPr>
          <p:cNvPr id="17" name="Text 14"/>
          <p:cNvSpPr txBox="1"/>
          <p:nvPr/>
        </p:nvSpPr>
        <p:spPr>
          <a:xfrm>
            <a:off x="594360" y="3639312"/>
            <a:ext cx="3337560" cy="932688"/>
          </a:xfrm>
          <a:prstGeom prst="rect">
            <a:avLst/>
          </a:prstGeom>
          <a:noFill/>
          <a:ln/>
        </p:spPr>
        <p:txBody>
          <a:bodyPr wrap="square" lIns="0" tIns="0" rIns="0" bIns="0" rtlCol="0" anchor="t"/>
          <a:lstStyle/>
          <a:p>
            <a:pPr indent="0" marL="0">
              <a:buNone/>
            </a:pPr>
            <a:r>
              <a:rPr lang="en-US" sz="1600" b="1" dirty="0">
                <a:solidFill>
                  <a:srgbClr val="B9770E"/>
                </a:solidFill>
              </a:rPr>
              <a:t>G7  PARTIAL</a:t>
            </a:r>
            <a:endParaRPr lang="en-US" sz="1600" dirty="0"/>
          </a:p>
          <a:p>
            <a:pPr indent="0" marL="0">
              <a:buNone/>
            </a:pPr>
            <a:r>
              <a:rPr lang="en-US" sz="1500" dirty="0">
                <a:solidFill>
                  <a:srgbClr val="1B2A2F"/>
                </a:solidFill>
              </a:rPr>
              <a:t>Rollback defined and rehearsed</a:t>
            </a:r>
            <a:endParaRPr lang="en-US" sz="1600" dirty="0"/>
          </a:p>
        </p:txBody>
      </p:sp>
      <p:sp>
        <p:nvSpPr>
          <p:cNvPr id="18" name="Shape 15"/>
          <p:cNvSpPr/>
          <p:nvPr/>
        </p:nvSpPr>
        <p:spPr>
          <a:xfrm>
            <a:off x="4251960" y="3566160"/>
            <a:ext cx="3611880" cy="1078992"/>
          </a:xfrm>
          <a:prstGeom prst="roundRect">
            <a:avLst>
              <a:gd name="adj" fmla="val 6780"/>
            </a:avLst>
          </a:prstGeom>
          <a:solidFill>
            <a:srgbClr val="FCEBEA"/>
          </a:solidFill>
          <a:ln/>
        </p:spPr>
      </p:sp>
      <p:sp>
        <p:nvSpPr>
          <p:cNvPr id="19" name="Text 16"/>
          <p:cNvSpPr txBox="1"/>
          <p:nvPr/>
        </p:nvSpPr>
        <p:spPr>
          <a:xfrm>
            <a:off x="4389120" y="3639312"/>
            <a:ext cx="3337560" cy="932688"/>
          </a:xfrm>
          <a:prstGeom prst="rect">
            <a:avLst/>
          </a:prstGeom>
          <a:noFill/>
          <a:ln/>
        </p:spPr>
        <p:txBody>
          <a:bodyPr wrap="square" lIns="0" tIns="0" rIns="0" bIns="0" rtlCol="0" anchor="t"/>
          <a:lstStyle/>
          <a:p>
            <a:pPr indent="0" marL="0">
              <a:buNone/>
            </a:pPr>
            <a:r>
              <a:rPr lang="en-US" sz="1600" b="1" dirty="0">
                <a:solidFill>
                  <a:srgbClr val="C0392B"/>
                </a:solidFill>
              </a:rPr>
              <a:t>G8  FAIL</a:t>
            </a:r>
            <a:endParaRPr lang="en-US" sz="1600" dirty="0"/>
          </a:p>
          <a:p>
            <a:pPr indent="0" marL="0">
              <a:buNone/>
            </a:pPr>
            <a:r>
              <a:rPr lang="en-US" sz="1500" dirty="0">
                <a:solidFill>
                  <a:srgbClr val="1B2A2F"/>
                </a:solidFill>
              </a:rPr>
              <a:t>Alerts routed to named people</a:t>
            </a:r>
            <a:endParaRPr lang="en-US" sz="1600" dirty="0"/>
          </a:p>
        </p:txBody>
      </p:sp>
      <p:sp>
        <p:nvSpPr>
          <p:cNvPr id="20" name="Shape 17"/>
          <p:cNvSpPr/>
          <p:nvPr/>
        </p:nvSpPr>
        <p:spPr>
          <a:xfrm>
            <a:off x="8046720" y="3566160"/>
            <a:ext cx="3611880" cy="1078992"/>
          </a:xfrm>
          <a:prstGeom prst="roundRect">
            <a:avLst>
              <a:gd name="adj" fmla="val 6780"/>
            </a:avLst>
          </a:prstGeom>
          <a:solidFill>
            <a:srgbClr val="FCEBEA"/>
          </a:solidFill>
          <a:ln/>
        </p:spPr>
      </p:sp>
      <p:sp>
        <p:nvSpPr>
          <p:cNvPr id="21" name="Text 18"/>
          <p:cNvSpPr txBox="1"/>
          <p:nvPr/>
        </p:nvSpPr>
        <p:spPr>
          <a:xfrm>
            <a:off x="8183880" y="3639312"/>
            <a:ext cx="3337560" cy="932688"/>
          </a:xfrm>
          <a:prstGeom prst="rect">
            <a:avLst/>
          </a:prstGeom>
          <a:noFill/>
          <a:ln/>
        </p:spPr>
        <p:txBody>
          <a:bodyPr wrap="square" lIns="0" tIns="0" rIns="0" bIns="0" rtlCol="0" anchor="t"/>
          <a:lstStyle/>
          <a:p>
            <a:pPr indent="0" marL="0">
              <a:buNone/>
            </a:pPr>
            <a:r>
              <a:rPr lang="en-US" sz="1600" b="1" dirty="0">
                <a:solidFill>
                  <a:srgbClr val="C0392B"/>
                </a:solidFill>
              </a:rPr>
              <a:t>G9  FAIL</a:t>
            </a:r>
            <a:endParaRPr lang="en-US" sz="1600" dirty="0"/>
          </a:p>
          <a:p>
            <a:pPr indent="0" marL="0">
              <a:buNone/>
            </a:pPr>
            <a:r>
              <a:rPr lang="en-US" sz="1500" dirty="0">
                <a:solidFill>
                  <a:srgbClr val="1B2A2F"/>
                </a:solidFill>
              </a:rPr>
              <a:t>Named approver and risk owners</a:t>
            </a:r>
            <a:endParaRPr lang="en-US" sz="1600" dirty="0"/>
          </a:p>
        </p:txBody>
      </p:sp>
      <p:sp>
        <p:nvSpPr>
          <p:cNvPr id="22" name="Shape 19"/>
          <p:cNvSpPr/>
          <p:nvPr/>
        </p:nvSpPr>
        <p:spPr>
          <a:xfrm>
            <a:off x="457200" y="4800600"/>
            <a:ext cx="3611880" cy="1078992"/>
          </a:xfrm>
          <a:prstGeom prst="roundRect">
            <a:avLst>
              <a:gd name="adj" fmla="val 6780"/>
            </a:avLst>
          </a:prstGeom>
          <a:solidFill>
            <a:srgbClr val="FCEBEA"/>
          </a:solidFill>
          <a:ln/>
        </p:spPr>
      </p:sp>
      <p:sp>
        <p:nvSpPr>
          <p:cNvPr id="23" name="Text 20"/>
          <p:cNvSpPr txBox="1"/>
          <p:nvPr/>
        </p:nvSpPr>
        <p:spPr>
          <a:xfrm>
            <a:off x="594360" y="4873752"/>
            <a:ext cx="3337560" cy="932688"/>
          </a:xfrm>
          <a:prstGeom prst="rect">
            <a:avLst/>
          </a:prstGeom>
          <a:noFill/>
          <a:ln/>
        </p:spPr>
        <p:txBody>
          <a:bodyPr wrap="square" lIns="0" tIns="0" rIns="0" bIns="0" rtlCol="0" anchor="t"/>
          <a:lstStyle/>
          <a:p>
            <a:pPr indent="0" marL="0">
              <a:buNone/>
            </a:pPr>
            <a:r>
              <a:rPr lang="en-US" sz="1600" b="1" dirty="0">
                <a:solidFill>
                  <a:srgbClr val="C0392B"/>
                </a:solidFill>
              </a:rPr>
              <a:t>G10  FAIL</a:t>
            </a:r>
            <a:endParaRPr lang="en-US" sz="1600" dirty="0"/>
          </a:p>
          <a:p>
            <a:pPr indent="0" marL="0">
              <a:buNone/>
            </a:pPr>
            <a:r>
              <a:rPr lang="en-US" sz="1500" dirty="0">
                <a:solidFill>
                  <a:srgbClr val="1B2A2F"/>
                </a:solidFill>
              </a:rPr>
              <a:t>Platform and identity provider exist</a:t>
            </a:r>
            <a:endParaRPr lang="en-US" sz="1600" dirty="0"/>
          </a:p>
        </p:txBody>
      </p:sp>
      <p:sp>
        <p:nvSpPr>
          <p:cNvPr id="24" name="Shape 21"/>
          <p:cNvSpPr/>
          <p:nvPr/>
        </p:nvSpPr>
        <p:spPr>
          <a:xfrm>
            <a:off x="4251960" y="4800600"/>
            <a:ext cx="3611880" cy="1078992"/>
          </a:xfrm>
          <a:prstGeom prst="roundRect">
            <a:avLst>
              <a:gd name="adj" fmla="val 6780"/>
            </a:avLst>
          </a:prstGeom>
          <a:solidFill>
            <a:srgbClr val="FCEBEA"/>
          </a:solidFill>
          <a:ln/>
        </p:spPr>
      </p:sp>
      <p:sp>
        <p:nvSpPr>
          <p:cNvPr id="25" name="Text 22"/>
          <p:cNvSpPr txBox="1"/>
          <p:nvPr/>
        </p:nvSpPr>
        <p:spPr>
          <a:xfrm>
            <a:off x="4389120" y="4873752"/>
            <a:ext cx="3337560" cy="932688"/>
          </a:xfrm>
          <a:prstGeom prst="rect">
            <a:avLst/>
          </a:prstGeom>
          <a:noFill/>
          <a:ln/>
        </p:spPr>
        <p:txBody>
          <a:bodyPr wrap="square" lIns="0" tIns="0" rIns="0" bIns="0" rtlCol="0" anchor="t"/>
          <a:lstStyle/>
          <a:p>
            <a:pPr indent="0" marL="0">
              <a:buNone/>
            </a:pPr>
            <a:r>
              <a:rPr lang="en-US" sz="1600" b="1" dirty="0">
                <a:solidFill>
                  <a:srgbClr val="C0392B"/>
                </a:solidFill>
              </a:rPr>
              <a:t>G11  FAIL</a:t>
            </a:r>
            <a:endParaRPr lang="en-US" sz="1600" dirty="0"/>
          </a:p>
          <a:p>
            <a:pPr indent="0" marL="0">
              <a:buNone/>
            </a:pPr>
            <a:r>
              <a:rPr lang="en-US" sz="1500" dirty="0">
                <a:solidFill>
                  <a:srgbClr val="1B2A2F"/>
                </a:solidFill>
              </a:rPr>
              <a:t>Independent evidence review</a:t>
            </a:r>
            <a:endParaRPr lang="en-US" sz="1600" dirty="0"/>
          </a:p>
        </p:txBody>
      </p:sp>
      <p:sp>
        <p:nvSpPr>
          <p:cNvPr id="26" name="Shape 23"/>
          <p:cNvSpPr/>
          <p:nvPr/>
        </p:nvSpPr>
        <p:spPr>
          <a:xfrm>
            <a:off x="8046720" y="4800600"/>
            <a:ext cx="3611880" cy="1078992"/>
          </a:xfrm>
          <a:prstGeom prst="roundRect">
            <a:avLst>
              <a:gd name="adj" fmla="val 6780"/>
            </a:avLst>
          </a:prstGeom>
          <a:solidFill>
            <a:srgbClr val="FCEBEA"/>
          </a:solidFill>
          <a:ln/>
        </p:spPr>
      </p:sp>
      <p:sp>
        <p:nvSpPr>
          <p:cNvPr id="27" name="Text 24"/>
          <p:cNvSpPr txBox="1"/>
          <p:nvPr/>
        </p:nvSpPr>
        <p:spPr>
          <a:xfrm>
            <a:off x="8183880" y="4873752"/>
            <a:ext cx="3337560" cy="932688"/>
          </a:xfrm>
          <a:prstGeom prst="rect">
            <a:avLst/>
          </a:prstGeom>
          <a:noFill/>
          <a:ln/>
        </p:spPr>
        <p:txBody>
          <a:bodyPr wrap="square" lIns="0" tIns="0" rIns="0" bIns="0" rtlCol="0" anchor="t"/>
          <a:lstStyle/>
          <a:p>
            <a:pPr indent="0" marL="0">
              <a:buNone/>
            </a:pPr>
            <a:r>
              <a:rPr lang="en-US" sz="1600" b="1" dirty="0">
                <a:solidFill>
                  <a:srgbClr val="C0392B"/>
                </a:solidFill>
              </a:rPr>
              <a:t>G12  FAIL</a:t>
            </a:r>
            <a:endParaRPr lang="en-US" sz="1600" dirty="0"/>
          </a:p>
          <a:p>
            <a:pPr indent="0" marL="0">
              <a:buNone/>
            </a:pPr>
            <a:r>
              <a:rPr lang="en-US" sz="1500" dirty="0">
                <a:solidFill>
                  <a:srgbClr val="1B2A2F"/>
                </a:solidFill>
              </a:rPr>
              <a:t>Compliance resolved for real data</a:t>
            </a:r>
            <a:endParaRPr lang="en-US" sz="1600" dirty="0"/>
          </a:p>
        </p:txBody>
      </p:sp>
      <p:sp>
        <p:nvSpPr>
          <p:cNvPr id="28" name="Text 25"/>
          <p:cNvSpPr txBox="1"/>
          <p:nvPr/>
        </p:nvSpPr>
        <p:spPr>
          <a:xfrm>
            <a:off x="457200" y="6080760"/>
            <a:ext cx="11247120" cy="320040"/>
          </a:xfrm>
          <a:prstGeom prst="rect">
            <a:avLst/>
          </a:prstGeom>
          <a:noFill/>
          <a:ln/>
        </p:spPr>
        <p:txBody>
          <a:bodyPr wrap="square" lIns="0" tIns="0" rIns="0" bIns="0" rtlCol="0" anchor="ctr"/>
          <a:lstStyle/>
          <a:p>
            <a:pPr indent="0" marL="0">
              <a:buNone/>
            </a:pPr>
            <a:r>
              <a:rPr lang="en-US" sz="1300" i="1" dirty="0">
                <a:solidFill>
                  <a:srgbClr val="5F6E71"/>
                </a:solidFill>
              </a:rPr>
              <a:t>Pilot needs G1 to G7 plus five conditions (sponsor, credentials, branch protection, no real data, one reviewer). Production needs all twelve.</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2800" b="1" dirty="0">
                <a:solidFill>
                  <a:schemeClr val="tx2"/>
                </a:solidFill>
              </a:rPr>
              <a:t>What is not proven, stated before anyone asks</a:t>
            </a:r>
            <a:endParaRPr lang="en-US" sz="2800" dirty="0"/>
          </a:p>
        </p:txBody>
      </p:sp>
      <p:sp>
        <p:nvSpPr>
          <p:cNvPr id="4" name="Shape 1"/>
          <p:cNvSpPr/>
          <p:nvPr/>
        </p:nvSpPr>
        <p:spPr>
          <a:xfrm>
            <a:off x="457200" y="1097280"/>
            <a:ext cx="5440680" cy="1508760"/>
          </a:xfrm>
          <a:prstGeom prst="roundRect">
            <a:avLst>
              <a:gd name="adj" fmla="val 4848"/>
            </a:avLst>
          </a:prstGeom>
          <a:solidFill>
            <a:srgbClr val="FCEBEA"/>
          </a:solidFill>
          <a:ln/>
        </p:spPr>
      </p:sp>
      <p:sp>
        <p:nvSpPr>
          <p:cNvPr id="5" name="Text 2"/>
          <p:cNvSpPr txBox="1"/>
          <p:nvPr/>
        </p:nvSpPr>
        <p:spPr>
          <a:xfrm>
            <a:off x="594360" y="1188720"/>
            <a:ext cx="5166360" cy="1325880"/>
          </a:xfrm>
          <a:prstGeom prst="rect">
            <a:avLst/>
          </a:prstGeom>
          <a:noFill/>
          <a:ln/>
        </p:spPr>
        <p:txBody>
          <a:bodyPr wrap="square" lIns="0" tIns="0" rIns="0" bIns="0" rtlCol="0" anchor="t"/>
          <a:lstStyle/>
          <a:p>
            <a:pPr indent="0" marL="0">
              <a:spcAft>
                <a:spcPts val="400"/>
              </a:spcAft>
              <a:buNone/>
            </a:pPr>
            <a:r>
              <a:rPr lang="en-US" sz="1700" b="1" dirty="0">
                <a:solidFill>
                  <a:srgbClr val="C0392B"/>
                </a:solidFill>
              </a:rPr>
              <a:t>No real AI model</a:t>
            </a:r>
            <a:endParaRPr lang="en-US" sz="1700" dirty="0"/>
          </a:p>
          <a:p>
            <a:pPr indent="0" marL="0">
              <a:spcAft>
                <a:spcPts val="400"/>
              </a:spcAft>
              <a:buNone/>
            </a:pPr>
            <a:r>
              <a:rPr lang="en-US" sz="1500" dirty="0">
                <a:solidFill>
                  <a:srgbClr val="1B2A2F"/>
                </a:solidFill>
              </a:rPr>
              <a:t>All AI evidence uses the deterministic provider. No model by decision (OQ-02); thresholds are valid only for that provider.</a:t>
            </a:r>
            <a:endParaRPr lang="en-US" sz="1700" dirty="0"/>
          </a:p>
        </p:txBody>
      </p:sp>
      <p:sp>
        <p:nvSpPr>
          <p:cNvPr id="6" name="Shape 3"/>
          <p:cNvSpPr/>
          <p:nvPr/>
        </p:nvSpPr>
        <p:spPr>
          <a:xfrm>
            <a:off x="6126480" y="1097280"/>
            <a:ext cx="5440680" cy="1508760"/>
          </a:xfrm>
          <a:prstGeom prst="roundRect">
            <a:avLst>
              <a:gd name="adj" fmla="val 4848"/>
            </a:avLst>
          </a:prstGeom>
          <a:solidFill>
            <a:srgbClr val="FCEBEA"/>
          </a:solidFill>
          <a:ln/>
        </p:spPr>
      </p:sp>
      <p:sp>
        <p:nvSpPr>
          <p:cNvPr id="7" name="Text 4"/>
          <p:cNvSpPr txBox="1"/>
          <p:nvPr/>
        </p:nvSpPr>
        <p:spPr>
          <a:xfrm>
            <a:off x="6263640" y="1188720"/>
            <a:ext cx="5166360" cy="1325880"/>
          </a:xfrm>
          <a:prstGeom prst="rect">
            <a:avLst/>
          </a:prstGeom>
          <a:noFill/>
          <a:ln/>
        </p:spPr>
        <p:txBody>
          <a:bodyPr wrap="square" lIns="0" tIns="0" rIns="0" bIns="0" rtlCol="0" anchor="t"/>
          <a:lstStyle/>
          <a:p>
            <a:pPr indent="0" marL="0">
              <a:spcAft>
                <a:spcPts val="400"/>
              </a:spcAft>
              <a:buNone/>
            </a:pPr>
            <a:r>
              <a:rPr lang="en-US" sz="1700" b="1" dirty="0">
                <a:solidFill>
                  <a:srgbClr val="C0392B"/>
                </a:solidFill>
              </a:rPr>
              <a:t>Nothing deployed</a:t>
            </a:r>
            <a:endParaRPr lang="en-US" sz="1700" dirty="0"/>
          </a:p>
          <a:p>
            <a:pPr indent="0" marL="0">
              <a:spcAft>
                <a:spcPts val="400"/>
              </a:spcAft>
              <a:buNone/>
            </a:pPr>
            <a:r>
              <a:rPr lang="en-US" sz="1500" dirty="0">
                <a:solidFill>
                  <a:srgbClr val="1B2A2F"/>
                </a:solidFill>
              </a:rPr>
              <a:t>Platform-neutral by decision (OQ-01). Terraform provisions nothing; the container image was never built.</a:t>
            </a:r>
            <a:endParaRPr lang="en-US" sz="1700" dirty="0"/>
          </a:p>
        </p:txBody>
      </p:sp>
      <p:sp>
        <p:nvSpPr>
          <p:cNvPr id="8" name="Shape 5"/>
          <p:cNvSpPr/>
          <p:nvPr/>
        </p:nvSpPr>
        <p:spPr>
          <a:xfrm>
            <a:off x="457200" y="2788920"/>
            <a:ext cx="5440680" cy="1508760"/>
          </a:xfrm>
          <a:prstGeom prst="roundRect">
            <a:avLst>
              <a:gd name="adj" fmla="val 4848"/>
            </a:avLst>
          </a:prstGeom>
          <a:solidFill>
            <a:srgbClr val="FCEBEA"/>
          </a:solidFill>
          <a:ln/>
        </p:spPr>
      </p:sp>
      <p:sp>
        <p:nvSpPr>
          <p:cNvPr id="9" name="Text 6"/>
          <p:cNvSpPr txBox="1"/>
          <p:nvPr/>
        </p:nvSpPr>
        <p:spPr>
          <a:xfrm>
            <a:off x="594360" y="2880360"/>
            <a:ext cx="5166360" cy="1325880"/>
          </a:xfrm>
          <a:prstGeom prst="rect">
            <a:avLst/>
          </a:prstGeom>
          <a:noFill/>
          <a:ln/>
        </p:spPr>
        <p:txBody>
          <a:bodyPr wrap="square" lIns="0" tIns="0" rIns="0" bIns="0" rtlCol="0" anchor="t"/>
          <a:lstStyle/>
          <a:p>
            <a:pPr indent="0" marL="0">
              <a:spcAft>
                <a:spcPts val="400"/>
              </a:spcAft>
              <a:buNone/>
            </a:pPr>
            <a:r>
              <a:rPr lang="en-US" sz="1700" b="1" dirty="0">
                <a:solidFill>
                  <a:srgbClr val="C0392B"/>
                </a:solidFill>
              </a:rPr>
              <a:t>No business value measured</a:t>
            </a:r>
            <a:endParaRPr lang="en-US" sz="1700" dirty="0"/>
          </a:p>
          <a:p>
            <a:pPr indent="0" marL="0">
              <a:spcAft>
                <a:spcPts val="400"/>
              </a:spcAft>
              <a:buNone/>
            </a:pPr>
            <a:r>
              <a:rPr lang="en-US" sz="1500" dirty="0">
                <a:solidFill>
                  <a:srgbClr val="1B2A2F"/>
                </a:solidFill>
              </a:rPr>
              <a:t>K1 to K8 come from a static synthetic fixture, so they cannot move. No monetary benefit is verified.</a:t>
            </a:r>
            <a:endParaRPr lang="en-US" sz="1700" dirty="0"/>
          </a:p>
        </p:txBody>
      </p:sp>
      <p:sp>
        <p:nvSpPr>
          <p:cNvPr id="10" name="Shape 7"/>
          <p:cNvSpPr/>
          <p:nvPr/>
        </p:nvSpPr>
        <p:spPr>
          <a:xfrm>
            <a:off x="6126480" y="2788920"/>
            <a:ext cx="5440680" cy="1508760"/>
          </a:xfrm>
          <a:prstGeom prst="roundRect">
            <a:avLst>
              <a:gd name="adj" fmla="val 4848"/>
            </a:avLst>
          </a:prstGeom>
          <a:solidFill>
            <a:srgbClr val="FCEBEA"/>
          </a:solidFill>
          <a:ln/>
        </p:spPr>
      </p:sp>
      <p:sp>
        <p:nvSpPr>
          <p:cNvPr id="11" name="Text 8"/>
          <p:cNvSpPr txBox="1"/>
          <p:nvPr/>
        </p:nvSpPr>
        <p:spPr>
          <a:xfrm>
            <a:off x="6263640" y="2880360"/>
            <a:ext cx="5166360" cy="1325880"/>
          </a:xfrm>
          <a:prstGeom prst="rect">
            <a:avLst/>
          </a:prstGeom>
          <a:noFill/>
          <a:ln/>
        </p:spPr>
        <p:txBody>
          <a:bodyPr wrap="square" lIns="0" tIns="0" rIns="0" bIns="0" rtlCol="0" anchor="t"/>
          <a:lstStyle/>
          <a:p>
            <a:pPr indent="0" marL="0">
              <a:spcAft>
                <a:spcPts val="400"/>
              </a:spcAft>
              <a:buNone/>
            </a:pPr>
            <a:r>
              <a:rPr lang="en-US" sz="1700" b="1" dirty="0">
                <a:solidFill>
                  <a:srgbClr val="C0392B"/>
                </a:solidFill>
              </a:rPr>
              <a:t>No independent review</a:t>
            </a:r>
            <a:endParaRPr lang="en-US" sz="1700" dirty="0"/>
          </a:p>
          <a:p>
            <a:pPr indent="0" marL="0">
              <a:spcAft>
                <a:spcPts val="400"/>
              </a:spcAft>
              <a:buNone/>
            </a:pPr>
            <a:r>
              <a:rPr lang="en-US" sz="1500" dirty="0">
                <a:solidFill>
                  <a:srgbClr val="1B2A2F"/>
                </a:solidFill>
              </a:rPr>
              <a:t>One operator and one agent built, tested and graded everything. Red team and gates are self-run.</a:t>
            </a:r>
            <a:endParaRPr lang="en-US" sz="1700" dirty="0"/>
          </a:p>
        </p:txBody>
      </p:sp>
      <p:sp>
        <p:nvSpPr>
          <p:cNvPr id="12" name="Shape 9"/>
          <p:cNvSpPr/>
          <p:nvPr/>
        </p:nvSpPr>
        <p:spPr>
          <a:xfrm>
            <a:off x="457200" y="4480560"/>
            <a:ext cx="5440680" cy="1508760"/>
          </a:xfrm>
          <a:prstGeom prst="roundRect">
            <a:avLst>
              <a:gd name="adj" fmla="val 4848"/>
            </a:avLst>
          </a:prstGeom>
          <a:solidFill>
            <a:srgbClr val="FFF4E0"/>
          </a:solidFill>
          <a:ln/>
        </p:spPr>
      </p:sp>
      <p:sp>
        <p:nvSpPr>
          <p:cNvPr id="13" name="Text 10"/>
          <p:cNvSpPr txBox="1"/>
          <p:nvPr/>
        </p:nvSpPr>
        <p:spPr>
          <a:xfrm>
            <a:off x="594360" y="4572000"/>
            <a:ext cx="5166360" cy="1325880"/>
          </a:xfrm>
          <a:prstGeom prst="rect">
            <a:avLst/>
          </a:prstGeom>
          <a:noFill/>
          <a:ln/>
        </p:spPr>
        <p:txBody>
          <a:bodyPr wrap="square" lIns="0" tIns="0" rIns="0" bIns="0" rtlCol="0" anchor="t"/>
          <a:lstStyle/>
          <a:p>
            <a:pPr indent="0" marL="0">
              <a:spcAft>
                <a:spcPts val="400"/>
              </a:spcAft>
              <a:buNone/>
            </a:pPr>
            <a:r>
              <a:rPr lang="en-US" sz="1700" b="1" dirty="0">
                <a:solidFill>
                  <a:srgbClr val="C0392B"/>
                </a:solidFill>
              </a:rPr>
              <a:t>Portability partly shown</a:t>
            </a:r>
            <a:endParaRPr lang="en-US" sz="1700" dirty="0"/>
          </a:p>
          <a:p>
            <a:pPr indent="0" marL="0">
              <a:spcAft>
                <a:spcPts val="400"/>
              </a:spcAft>
              <a:buNone/>
            </a:pPr>
            <a:r>
              <a:rPr lang="en-US" sz="1500" dirty="0">
                <a:solidFill>
                  <a:srgbClr val="1B2A2F"/>
                </a:solidFill>
              </a:rPr>
              <a:t>A second model rebuilt a subset once: safety held (5 of 5), AI-output fidelity did not (0 of 2). Gaps now specified, not re-tested.</a:t>
            </a:r>
            <a:endParaRPr lang="en-US" sz="1700" dirty="0"/>
          </a:p>
        </p:txBody>
      </p:sp>
      <p:sp>
        <p:nvSpPr>
          <p:cNvPr id="14" name="Shape 11"/>
          <p:cNvSpPr/>
          <p:nvPr/>
        </p:nvSpPr>
        <p:spPr>
          <a:xfrm>
            <a:off x="6126480" y="4480560"/>
            <a:ext cx="5440680" cy="1508760"/>
          </a:xfrm>
          <a:prstGeom prst="roundRect">
            <a:avLst>
              <a:gd name="adj" fmla="val 4848"/>
            </a:avLst>
          </a:prstGeom>
          <a:solidFill>
            <a:srgbClr val="FFF4E0"/>
          </a:solidFill>
          <a:ln/>
        </p:spPr>
      </p:sp>
      <p:sp>
        <p:nvSpPr>
          <p:cNvPr id="15" name="Text 12"/>
          <p:cNvSpPr txBox="1"/>
          <p:nvPr/>
        </p:nvSpPr>
        <p:spPr>
          <a:xfrm>
            <a:off x="6263640" y="4572000"/>
            <a:ext cx="5166360" cy="1325880"/>
          </a:xfrm>
          <a:prstGeom prst="rect">
            <a:avLst/>
          </a:prstGeom>
          <a:noFill/>
          <a:ln/>
        </p:spPr>
        <p:txBody>
          <a:bodyPr wrap="square" lIns="0" tIns="0" rIns="0" bIns="0" rtlCol="0" anchor="t"/>
          <a:lstStyle/>
          <a:p>
            <a:pPr indent="0" marL="0">
              <a:spcAft>
                <a:spcPts val="400"/>
              </a:spcAft>
              <a:buNone/>
            </a:pPr>
            <a:r>
              <a:rPr lang="en-US" sz="1700" b="1" dirty="0">
                <a:solidFill>
                  <a:srgbClr val="C0392B"/>
                </a:solidFill>
              </a:rPr>
              <a:t>Secrets in history</a:t>
            </a:r>
            <a:endParaRPr lang="en-US" sz="1700" dirty="0"/>
          </a:p>
          <a:p>
            <a:pPr indent="0" marL="0">
              <a:spcAft>
                <a:spcPts val="400"/>
              </a:spcAft>
              <a:buNone/>
            </a:pPr>
            <a:r>
              <a:rPr lang="en-US" sz="1500" dirty="0">
                <a:solidFill>
                  <a:srgbClr val="1B2A2F"/>
                </a:solidFill>
              </a:rPr>
              <a:t>Removed from the tree; history kept; repository private; values treated as compromised (OQ-19).</a:t>
            </a:r>
            <a:endParaRPr lang="en-US" sz="17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2800" b="1" dirty="0">
                <a:solidFill>
                  <a:schemeClr val="tx2"/>
                </a:solidFill>
              </a:rPr>
              <a:t>Six asks of the CTO</a:t>
            </a:r>
            <a:endParaRPr lang="en-US" sz="2800" dirty="0"/>
          </a:p>
        </p:txBody>
      </p:sp>
      <p:sp>
        <p:nvSpPr>
          <p:cNvPr id="4" name="Shape 1"/>
          <p:cNvSpPr/>
          <p:nvPr/>
        </p:nvSpPr>
        <p:spPr>
          <a:xfrm>
            <a:off x="457200" y="1097280"/>
            <a:ext cx="5440680" cy="1508760"/>
          </a:xfrm>
          <a:prstGeom prst="roundRect">
            <a:avLst>
              <a:gd name="adj" fmla="val 4848"/>
            </a:avLst>
          </a:prstGeom>
          <a:solidFill>
            <a:srgbClr val="E8F1F2"/>
          </a:solidFill>
          <a:ln/>
        </p:spPr>
      </p:sp>
      <p:sp>
        <p:nvSpPr>
          <p:cNvPr id="5" name="Text 2"/>
          <p:cNvSpPr txBox="1"/>
          <p:nvPr/>
        </p:nvSpPr>
        <p:spPr>
          <a:xfrm>
            <a:off x="594360" y="1188720"/>
            <a:ext cx="5166360" cy="132588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1  Ratify the write authorisation</a:t>
            </a:r>
            <a:endParaRPr lang="en-US" sz="1700" dirty="0"/>
          </a:p>
          <a:p>
            <a:pPr indent="0" marL="0">
              <a:spcAft>
                <a:spcPts val="400"/>
              </a:spcAft>
              <a:buNone/>
            </a:pPr>
            <a:r>
              <a:rPr lang="en-US" sz="1500" dirty="0">
                <a:solidFill>
                  <a:srgbClr val="1B2A2F"/>
                </a:solidFill>
              </a:rPr>
              <a:t>Given by the operator to themselves (OQ-11). Minutes.</a:t>
            </a:r>
            <a:endParaRPr lang="en-US" sz="1700" dirty="0"/>
          </a:p>
        </p:txBody>
      </p:sp>
      <p:sp>
        <p:nvSpPr>
          <p:cNvPr id="6" name="Shape 3"/>
          <p:cNvSpPr/>
          <p:nvPr/>
        </p:nvSpPr>
        <p:spPr>
          <a:xfrm>
            <a:off x="6126480" y="1097280"/>
            <a:ext cx="5440680" cy="1508760"/>
          </a:xfrm>
          <a:prstGeom prst="roundRect">
            <a:avLst>
              <a:gd name="adj" fmla="val 4848"/>
            </a:avLst>
          </a:prstGeom>
          <a:solidFill>
            <a:srgbClr val="E8F1F2"/>
          </a:solidFill>
          <a:ln/>
        </p:spPr>
      </p:sp>
      <p:sp>
        <p:nvSpPr>
          <p:cNvPr id="7" name="Text 4"/>
          <p:cNvSpPr txBox="1"/>
          <p:nvPr/>
        </p:nvSpPr>
        <p:spPr>
          <a:xfrm>
            <a:off x="6263640" y="1188720"/>
            <a:ext cx="5166360" cy="132588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2  Name approvers; sign or reject 12 risk acceptances</a:t>
            </a:r>
            <a:endParaRPr lang="en-US" sz="1700" dirty="0"/>
          </a:p>
          <a:p>
            <a:pPr indent="0" marL="0">
              <a:spcAft>
                <a:spcPts val="400"/>
              </a:spcAft>
              <a:buNone/>
            </a:pPr>
            <a:r>
              <a:rPr lang="en-US" sz="1500" dirty="0">
                <a:solidFill>
                  <a:srgbClr val="1B2A2F"/>
                </a:solidFill>
              </a:rPr>
              <a:t>0 of 12 signed; the only NOT MET rubric row (OQ-05). About an hour.</a:t>
            </a:r>
            <a:endParaRPr lang="en-US" sz="1700" dirty="0"/>
          </a:p>
        </p:txBody>
      </p:sp>
      <p:sp>
        <p:nvSpPr>
          <p:cNvPr id="8" name="Shape 5"/>
          <p:cNvSpPr/>
          <p:nvPr/>
        </p:nvSpPr>
        <p:spPr>
          <a:xfrm>
            <a:off x="457200" y="2788920"/>
            <a:ext cx="5440680" cy="1508760"/>
          </a:xfrm>
          <a:prstGeom prst="roundRect">
            <a:avLst>
              <a:gd name="adj" fmla="val 4848"/>
            </a:avLst>
          </a:prstGeom>
          <a:solidFill>
            <a:srgbClr val="E8F1F2"/>
          </a:solidFill>
          <a:ln/>
        </p:spPr>
      </p:sp>
      <p:sp>
        <p:nvSpPr>
          <p:cNvPr id="9" name="Text 6"/>
          <p:cNvSpPr txBox="1"/>
          <p:nvPr/>
        </p:nvSpPr>
        <p:spPr>
          <a:xfrm>
            <a:off x="594360" y="2880360"/>
            <a:ext cx="5166360" cy="132588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3  Confirm platform, model and egress decisions</a:t>
            </a:r>
            <a:endParaRPr lang="en-US" sz="1700" dirty="0"/>
          </a:p>
          <a:p>
            <a:pPr indent="0" marL="0">
              <a:spcAft>
                <a:spcPts val="400"/>
              </a:spcAft>
              <a:buNone/>
            </a:pPr>
            <a:r>
              <a:rPr lang="en-US" sz="1500" dirty="0">
                <a:solidFill>
                  <a:srgbClr val="1B2A2F"/>
                </a:solidFill>
              </a:rPr>
              <a:t>Decide whether IaC and a working AI model can ever be met (OQ-01 to 03). A conversation.</a:t>
            </a:r>
            <a:endParaRPr lang="en-US" sz="1700" dirty="0"/>
          </a:p>
        </p:txBody>
      </p:sp>
      <p:sp>
        <p:nvSpPr>
          <p:cNvPr id="10" name="Shape 7"/>
          <p:cNvSpPr/>
          <p:nvPr/>
        </p:nvSpPr>
        <p:spPr>
          <a:xfrm>
            <a:off x="6126480" y="2788920"/>
            <a:ext cx="5440680" cy="1508760"/>
          </a:xfrm>
          <a:prstGeom prst="roundRect">
            <a:avLst>
              <a:gd name="adj" fmla="val 4848"/>
            </a:avLst>
          </a:prstGeom>
          <a:solidFill>
            <a:srgbClr val="E8F1F2"/>
          </a:solidFill>
          <a:ln/>
        </p:spPr>
      </p:sp>
      <p:sp>
        <p:nvSpPr>
          <p:cNvPr id="11" name="Text 8"/>
          <p:cNvSpPr txBox="1"/>
          <p:nvPr/>
        </p:nvSpPr>
        <p:spPr>
          <a:xfrm>
            <a:off x="6263640" y="2880360"/>
            <a:ext cx="5166360" cy="132588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4  Name a regulatory regime, or confirm none</a:t>
            </a:r>
            <a:endParaRPr lang="en-US" sz="1700" dirty="0"/>
          </a:p>
          <a:p>
            <a:pPr indent="0" marL="0">
              <a:spcAft>
                <a:spcPts val="400"/>
              </a:spcAft>
              <a:buNone/>
            </a:pPr>
            <a:r>
              <a:rPr lang="en-US" sz="1500" dirty="0">
                <a:solidFill>
                  <a:srgbClr val="1B2A2F"/>
                </a:solidFill>
              </a:rPr>
              <a:t>Validates the candidate obligations (OQ-04, OQ-21). A day of review.</a:t>
            </a:r>
            <a:endParaRPr lang="en-US" sz="1700" dirty="0"/>
          </a:p>
        </p:txBody>
      </p:sp>
      <p:sp>
        <p:nvSpPr>
          <p:cNvPr id="12" name="Shape 9"/>
          <p:cNvSpPr/>
          <p:nvPr/>
        </p:nvSpPr>
        <p:spPr>
          <a:xfrm>
            <a:off x="457200" y="4480560"/>
            <a:ext cx="5440680" cy="1508760"/>
          </a:xfrm>
          <a:prstGeom prst="roundRect">
            <a:avLst>
              <a:gd name="adj" fmla="val 4848"/>
            </a:avLst>
          </a:prstGeom>
          <a:solidFill>
            <a:srgbClr val="E8F1F2"/>
          </a:solidFill>
          <a:ln/>
        </p:spPr>
      </p:sp>
      <p:sp>
        <p:nvSpPr>
          <p:cNvPr id="13" name="Text 10"/>
          <p:cNvSpPr txBox="1"/>
          <p:nvPr/>
        </p:nvSpPr>
        <p:spPr>
          <a:xfrm>
            <a:off x="594360" y="4572000"/>
            <a:ext cx="5166360" cy="132588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5  Confirm proxy KPIs; say if real figures exist</a:t>
            </a:r>
            <a:endParaRPr lang="en-US" sz="1700" dirty="0"/>
          </a:p>
          <a:p>
            <a:pPr indent="0" marL="0">
              <a:spcAft>
                <a:spcPts val="400"/>
              </a:spcAft>
              <a:buNone/>
            </a:pPr>
            <a:r>
              <a:rPr lang="en-US" sz="1500" dirty="0">
                <a:solidFill>
                  <a:srgbClr val="1B2A2F"/>
                </a:solidFill>
              </a:rPr>
              <a:t>The sponsor owns the value argument (OQ-08, OQ-09). Minutes.</a:t>
            </a:r>
            <a:endParaRPr lang="en-US" sz="1700" dirty="0"/>
          </a:p>
        </p:txBody>
      </p:sp>
      <p:sp>
        <p:nvSpPr>
          <p:cNvPr id="14" name="Shape 11"/>
          <p:cNvSpPr/>
          <p:nvPr/>
        </p:nvSpPr>
        <p:spPr>
          <a:xfrm>
            <a:off x="6126480" y="4480560"/>
            <a:ext cx="5440680" cy="1508760"/>
          </a:xfrm>
          <a:prstGeom prst="roundRect">
            <a:avLst>
              <a:gd name="adj" fmla="val 4848"/>
            </a:avLst>
          </a:prstGeom>
          <a:solidFill>
            <a:srgbClr val="E8F1F2"/>
          </a:solidFill>
          <a:ln/>
        </p:spPr>
      </p:sp>
      <p:sp>
        <p:nvSpPr>
          <p:cNvPr id="15" name="Text 12"/>
          <p:cNvSpPr txBox="1"/>
          <p:nvPr/>
        </p:nvSpPr>
        <p:spPr>
          <a:xfrm>
            <a:off x="6263640" y="4572000"/>
            <a:ext cx="5166360" cy="132588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6  Appoint one independent reviewer</a:t>
            </a:r>
            <a:endParaRPr lang="en-US" sz="1700" dirty="0"/>
          </a:p>
          <a:p>
            <a:pPr indent="0" marL="0">
              <a:spcAft>
                <a:spcPts val="400"/>
              </a:spcAft>
              <a:buNone/>
            </a:pPr>
            <a:r>
              <a:rPr lang="en-US" sz="1500" dirty="0">
                <a:solidFill>
                  <a:srgbClr val="1B2A2F"/>
                </a:solidFill>
              </a:rPr>
              <a:t>Every gate and grade was self-run (GOV-10). A few hours.</a:t>
            </a:r>
            <a:endParaRPr lang="en-US" sz="17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371600"/>
          </a:xfrm>
          <a:prstGeom prst="rect">
            <a:avLst/>
          </a:prstGeom>
          <a:noFill/>
          <a:ln/>
        </p:spPr>
        <p:txBody>
          <a:bodyPr wrap="square" lIns="0" tIns="0" rIns="0" bIns="0" rtlCol="0" anchor="b"/>
          <a:lstStyle/>
          <a:p>
            <a:pPr algn="l" indent="0" marL="0">
              <a:buNone/>
            </a:pPr>
            <a:r>
              <a:rPr lang="en-US" sz="4400" b="1" dirty="0">
                <a:solidFill>
                  <a:schemeClr val="bg1"/>
                </a:solidFill>
              </a:rPr>
              <a:t>Appendix</a:t>
            </a:r>
            <a:endParaRPr lang="en-US" sz="4400" dirty="0"/>
          </a:p>
        </p:txBody>
      </p:sp>
      <p:sp>
        <p:nvSpPr>
          <p:cNvPr id="3" name="Text 0"/>
          <p:cNvSpPr/>
          <p:nvPr>
            <p:ph idx="101" type="body" hasCustomPrompt="1"/>
          </p:nvPr>
        </p:nvSpPr>
        <p:spPr>
          <a:xfrm>
            <a:off x="731520" y="3474720"/>
            <a:ext cx="10698480" cy="1463040"/>
          </a:xfrm>
          <a:prstGeom prst="rect">
            <a:avLst/>
          </a:prstGeom>
          <a:noFill/>
          <a:ln/>
        </p:spPr>
        <p:txBody>
          <a:bodyPr wrap="square" lIns="0" tIns="0" rIns="0" bIns="0" rtlCol="0" anchor="t"/>
          <a:lstStyle/>
          <a:p>
            <a:pPr algn="l" indent="0" marL="0">
              <a:buNone/>
            </a:pPr>
            <a:r>
              <a:rPr lang="en-US" sz="2000" dirty="0">
                <a:solidFill>
                  <a:schemeClr val="bg2"/>
                </a:solidFill>
              </a:rPr>
              <a:t>Detail for questions: the AI request path, engineering health and KPIs, the semantic layer, the second-model test, the evidence chain, rubric coverage, and where everything lives.</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0607040" cy="594360"/>
          </a:xfrm>
          <a:prstGeom prst="rect">
            <a:avLst/>
          </a:prstGeom>
          <a:noFill/>
          <a:ln/>
        </p:spPr>
        <p:txBody>
          <a:bodyPr wrap="square" lIns="0" tIns="0" rIns="0" bIns="0" rtlCol="0" anchor="ctr"/>
          <a:lstStyle/>
          <a:p>
            <a:pPr algn="l" indent="0" marL="0">
              <a:buNone/>
            </a:pPr>
            <a:r>
              <a:rPr lang="en-US" sz="2600" b="1" dirty="0">
                <a:solidFill>
                  <a:schemeClr val="tx2"/>
                </a:solidFill>
              </a:rPr>
              <a:t>One AI summary request, before and after</a:t>
            </a:r>
            <a:endParaRPr lang="en-US" sz="2600" dirty="0"/>
          </a:p>
        </p:txBody>
      </p:sp>
      <p:sp>
        <p:nvSpPr>
          <p:cNvPr id="4" name="04-ai-request-path-v1-vs-v2:l1"/>
          <p:cNvSpPr txBox="1"/>
          <p:nvPr/>
        </p:nvSpPr>
        <p:spPr>
          <a:xfrm>
            <a:off x="320254" y="995045"/>
            <a:ext cx="11548443" cy="1330643"/>
          </a:xfrm>
          <a:prstGeom prst="roundRect">
            <a:avLst>
              <a:gd name="adj" fmla="val 2062"/>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Repo 1.0</a:t>
            </a:r>
            <a:endParaRPr lang="en-US" sz="1170" dirty="0"/>
          </a:p>
        </p:txBody>
      </p:sp>
      <p:sp>
        <p:nvSpPr>
          <p:cNvPr id="5" name="04-ai-request-path-v1-vs-v2:a0"/>
          <p:cNvSpPr txBox="1"/>
          <p:nvPr/>
        </p:nvSpPr>
        <p:spPr>
          <a:xfrm>
            <a:off x="503563" y="1317625"/>
            <a:ext cx="2071387" cy="806450"/>
          </a:xfrm>
          <a:prstGeom prst="roundRect">
            <a:avLst>
              <a:gd name="adj" fmla="val 6803"/>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70" b="1" dirty="0">
                <a:solidFill>
                  <a:srgbClr val="7B241C"/>
                </a:solidFill>
                <a:latin typeface="Calibri" pitchFamily="34" charset="0"/>
                <a:ea typeface="Calibri" pitchFamily="34" charset="-122"/>
                <a:cs typeface="Calibri" pitchFamily="34" charset="-120"/>
              </a:rPr>
              <a:t>Request</a:t>
            </a:r>
            <a:endParaRPr lang="en-US" sz="1170" dirty="0"/>
          </a:p>
          <a:p>
            <a:pPr algn="ctr" indent="0" marL="0">
              <a:buNone/>
            </a:pPr>
            <a:r>
              <a:rPr lang="en-US" sz="1170" dirty="0">
                <a:solidFill>
                  <a:srgbClr val="7B241C"/>
                </a:solidFill>
                <a:latin typeface="Calibri" pitchFamily="34" charset="0"/>
                <a:ea typeface="Calibri" pitchFamily="34" charset="-122"/>
                <a:cs typeface="Calibri" pitchFamily="34" charset="-120"/>
              </a:rPr>
              <a:t>no identity needed</a:t>
            </a:r>
            <a:endParaRPr lang="en-US" sz="1170" dirty="0"/>
          </a:p>
        </p:txBody>
      </p:sp>
      <p:sp>
        <p:nvSpPr>
          <p:cNvPr id="6" name="04-ai-request-path-v1-vs-v2:a1"/>
          <p:cNvSpPr txBox="1"/>
          <p:nvPr/>
        </p:nvSpPr>
        <p:spPr>
          <a:xfrm>
            <a:off x="2758259" y="1317625"/>
            <a:ext cx="2071387" cy="806450"/>
          </a:xfrm>
          <a:prstGeom prst="roundRect">
            <a:avLst>
              <a:gd name="adj" fmla="val 6803"/>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70" b="1" dirty="0">
                <a:solidFill>
                  <a:srgbClr val="7B241C"/>
                </a:solidFill>
                <a:latin typeface="Calibri" pitchFamily="34" charset="0"/>
                <a:ea typeface="Calibri" pitchFamily="34" charset="-122"/>
                <a:cs typeface="Calibri" pitchFamily="34" charset="-120"/>
              </a:rPr>
              <a:t>Summary</a:t>
            </a:r>
            <a:endParaRPr lang="en-US" sz="1170" dirty="0"/>
          </a:p>
          <a:p>
            <a:pPr algn="ctr" indent="0" marL="0">
              <a:buNone/>
            </a:pPr>
            <a:r>
              <a:rPr lang="en-US" sz="1170" dirty="0">
                <a:solidFill>
                  <a:srgbClr val="7B241C"/>
                </a:solidFill>
                <a:latin typeface="Calibri" pitchFamily="34" charset="0"/>
                <a:ea typeface="Calibri" pitchFamily="34" charset="-122"/>
                <a:cs typeface="Calibri" pitchFamily="34" charset="-120"/>
              </a:rPr>
              <a:t>echo of the first column</a:t>
            </a:r>
            <a:endParaRPr lang="en-US" sz="1170" dirty="0"/>
          </a:p>
        </p:txBody>
      </p:sp>
      <p:sp>
        <p:nvSpPr>
          <p:cNvPr id="7" name="04-ai-request-path-v1-vs-v2:a2"/>
          <p:cNvSpPr txBox="1"/>
          <p:nvPr/>
        </p:nvSpPr>
        <p:spPr>
          <a:xfrm>
            <a:off x="5012955" y="1317625"/>
            <a:ext cx="2071387" cy="806450"/>
          </a:xfrm>
          <a:prstGeom prst="roundRect">
            <a:avLst>
              <a:gd name="adj" fmla="val 6803"/>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70" b="1" dirty="0">
                <a:solidFill>
                  <a:srgbClr val="7B241C"/>
                </a:solidFill>
                <a:latin typeface="Calibri" pitchFamily="34" charset="0"/>
                <a:ea typeface="Calibri" pitchFamily="34" charset="-122"/>
                <a:cs typeface="Calibri" pitchFamily="34" charset="-120"/>
              </a:rPr>
              <a:t>Guardrail</a:t>
            </a:r>
            <a:endParaRPr lang="en-US" sz="1170" dirty="0"/>
          </a:p>
          <a:p>
            <a:pPr algn="ctr" indent="0" marL="0">
              <a:buNone/>
            </a:pPr>
            <a:r>
              <a:rPr lang="en-US" sz="1170" dirty="0">
                <a:solidFill>
                  <a:srgbClr val="7B241C"/>
                </a:solidFill>
                <a:latin typeface="Calibri" pitchFamily="34" charset="0"/>
                <a:ea typeface="Calibri" pitchFamily="34" charset="-122"/>
                <a:cs typeface="Calibri" pitchFamily="34" charset="-120"/>
              </a:rPr>
              <a:t>not_enforced</a:t>
            </a:r>
            <a:endParaRPr lang="en-US" sz="1170" dirty="0"/>
          </a:p>
        </p:txBody>
      </p:sp>
      <p:sp>
        <p:nvSpPr>
          <p:cNvPr id="8" name="04-ai-request-path-v1-vs-v2:a3"/>
          <p:cNvSpPr txBox="1"/>
          <p:nvPr/>
        </p:nvSpPr>
        <p:spPr>
          <a:xfrm>
            <a:off x="7267651" y="1317625"/>
            <a:ext cx="2071387" cy="806450"/>
          </a:xfrm>
          <a:prstGeom prst="roundRect">
            <a:avLst>
              <a:gd name="adj" fmla="val 6803"/>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70" b="1" dirty="0">
                <a:solidFill>
                  <a:srgbClr val="7B241C"/>
                </a:solidFill>
                <a:latin typeface="Calibri" pitchFamily="34" charset="0"/>
                <a:ea typeface="Calibri" pitchFamily="34" charset="-122"/>
                <a:cs typeface="Calibri" pitchFamily="34" charset="-120"/>
              </a:rPr>
              <a:t>Audit line</a:t>
            </a:r>
            <a:endParaRPr lang="en-US" sz="1170" dirty="0"/>
          </a:p>
          <a:p>
            <a:pPr algn="ctr" indent="0" marL="0">
              <a:buNone/>
            </a:pPr>
            <a:r>
              <a:rPr lang="en-US" sz="1170" dirty="0">
                <a:solidFill>
                  <a:srgbClr val="7B241C"/>
                </a:solidFill>
                <a:latin typeface="Calibri" pitchFamily="34" charset="0"/>
                <a:ea typeface="Calibri" pitchFamily="34" charset="-122"/>
                <a:cs typeface="Calibri" pitchFamily="34" charset="-120"/>
              </a:rPr>
              <a:t>no actor, no correlation</a:t>
            </a:r>
            <a:endParaRPr lang="en-US" sz="1170" dirty="0"/>
          </a:p>
          <a:p>
            <a:pPr algn="ctr" indent="0" marL="0">
              <a:buNone/>
            </a:pPr>
            <a:r>
              <a:rPr lang="en-US" sz="1170" dirty="0">
                <a:solidFill>
                  <a:srgbClr val="7B241C"/>
                </a:solidFill>
                <a:latin typeface="Calibri" pitchFamily="34" charset="0"/>
                <a:ea typeface="Calibri" pitchFamily="34" charset="-122"/>
                <a:cs typeface="Calibri" pitchFamily="34" charset="-120"/>
              </a:rPr>
              <a:t>id</a:t>
            </a:r>
            <a:endParaRPr lang="en-US" sz="1170" dirty="0"/>
          </a:p>
        </p:txBody>
      </p:sp>
      <p:sp>
        <p:nvSpPr>
          <p:cNvPr id="9" name="04-ai-request-path-v1-vs-v2:a4"/>
          <p:cNvSpPr txBox="1"/>
          <p:nvPr/>
        </p:nvSpPr>
        <p:spPr>
          <a:xfrm>
            <a:off x="9522347" y="1317625"/>
            <a:ext cx="2071387" cy="806450"/>
          </a:xfrm>
          <a:prstGeom prst="roundRect">
            <a:avLst>
              <a:gd name="adj" fmla="val 6803"/>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70" b="1" dirty="0">
                <a:solidFill>
                  <a:srgbClr val="7B241C"/>
                </a:solidFill>
                <a:latin typeface="Calibri" pitchFamily="34" charset="0"/>
                <a:ea typeface="Calibri" pitchFamily="34" charset="-122"/>
                <a:cs typeface="Calibri" pitchFamily="34" charset="-120"/>
              </a:rPr>
              <a:t>Response used</a:t>
            </a:r>
            <a:endParaRPr lang="en-US" sz="1170" dirty="0"/>
          </a:p>
          <a:p>
            <a:pPr algn="ctr" indent="0" marL="0">
              <a:buNone/>
            </a:pPr>
            <a:r>
              <a:rPr lang="en-US" sz="1170" dirty="0">
                <a:solidFill>
                  <a:srgbClr val="7B241C"/>
                </a:solidFill>
                <a:latin typeface="Calibri" pitchFamily="34" charset="0"/>
                <a:ea typeface="Calibri" pitchFamily="34" charset="-122"/>
                <a:cs typeface="Calibri" pitchFamily="34" charset="-120"/>
              </a:rPr>
              <a:t>no approval step</a:t>
            </a:r>
            <a:endParaRPr lang="en-US" sz="1170" dirty="0"/>
          </a:p>
        </p:txBody>
      </p:sp>
      <p:sp>
        <p:nvSpPr>
          <p:cNvPr id="10" name="04-ai-request-path-v1-vs-v2:l2"/>
          <p:cNvSpPr txBox="1"/>
          <p:nvPr/>
        </p:nvSpPr>
        <p:spPr>
          <a:xfrm>
            <a:off x="320254" y="2446655"/>
            <a:ext cx="11548443" cy="4193540"/>
          </a:xfrm>
          <a:prstGeom prst="roundRect">
            <a:avLst>
              <a:gd name="adj" fmla="val 654"/>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Repo 2.0</a:t>
            </a:r>
            <a:endParaRPr lang="en-US" sz="1170" dirty="0"/>
          </a:p>
        </p:txBody>
      </p:sp>
      <p:sp>
        <p:nvSpPr>
          <p:cNvPr id="11" name="04-ai-request-path-v1-vs-v2:b0"/>
          <p:cNvSpPr txBox="1"/>
          <p:nvPr/>
        </p:nvSpPr>
        <p:spPr>
          <a:xfrm>
            <a:off x="503563" y="2769235"/>
            <a:ext cx="2071387" cy="806450"/>
          </a:xfrm>
          <a:prstGeom prst="roundRect">
            <a:avLst>
              <a:gd name="adj" fmla="val 6803"/>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70" b="1" dirty="0">
                <a:solidFill>
                  <a:srgbClr val="0B3C49"/>
                </a:solidFill>
                <a:latin typeface="Calibri" pitchFamily="34" charset="0"/>
                <a:ea typeface="Calibri" pitchFamily="34" charset="-122"/>
                <a:cs typeface="Calibri" pitchFamily="34" charset="-120"/>
              </a:rPr>
              <a:t>Request</a:t>
            </a:r>
            <a:endParaRPr lang="en-US" sz="1170" dirty="0"/>
          </a:p>
          <a:p>
            <a:pPr algn="ctr" indent="0" marL="0">
              <a:buNone/>
            </a:pPr>
            <a:r>
              <a:rPr lang="en-US" sz="1170" dirty="0">
                <a:solidFill>
                  <a:srgbClr val="0B3C49"/>
                </a:solidFill>
                <a:latin typeface="Calibri" pitchFamily="34" charset="0"/>
                <a:ea typeface="Calibri" pitchFamily="34" charset="-122"/>
                <a:cs typeface="Calibri" pitchFamily="34" charset="-120"/>
              </a:rPr>
              <a:t>with a bearer token</a:t>
            </a:r>
            <a:endParaRPr lang="en-US" sz="1170" dirty="0"/>
          </a:p>
        </p:txBody>
      </p:sp>
      <p:sp>
        <p:nvSpPr>
          <p:cNvPr id="12" name="04-ai-request-path-v1-vs-v2:b1"/>
          <p:cNvSpPr txBox="1"/>
          <p:nvPr/>
        </p:nvSpPr>
        <p:spPr>
          <a:xfrm>
            <a:off x="2758259" y="2769235"/>
            <a:ext cx="2071387" cy="806450"/>
          </a:xfrm>
          <a:prstGeom prst="roundRect">
            <a:avLst>
              <a:gd name="adj" fmla="val 6803"/>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70" b="1" dirty="0">
                <a:solidFill>
                  <a:srgbClr val="0B3C49"/>
                </a:solidFill>
                <a:latin typeface="Calibri" pitchFamily="34" charset="0"/>
                <a:ea typeface="Calibri" pitchFamily="34" charset="-122"/>
                <a:cs typeface="Calibri" pitchFamily="34" charset="-120"/>
              </a:rPr>
              <a:t>Verify token</a:t>
            </a:r>
            <a:endParaRPr lang="en-US" sz="1170" dirty="0"/>
          </a:p>
          <a:p>
            <a:pPr algn="ctr" indent="0" marL="0">
              <a:buNone/>
            </a:pPr>
            <a:r>
              <a:rPr lang="en-US" sz="1170" dirty="0">
                <a:solidFill>
                  <a:srgbClr val="0B3C49"/>
                </a:solidFill>
                <a:latin typeface="Calibri" pitchFamily="34" charset="0"/>
                <a:ea typeface="Calibri" pitchFamily="34" charset="-122"/>
                <a:cs typeface="Calibri" pitchFamily="34" charset="-120"/>
              </a:rPr>
              <a:t>else 401</a:t>
            </a:r>
            <a:endParaRPr lang="en-US" sz="1170" dirty="0"/>
          </a:p>
        </p:txBody>
      </p:sp>
      <p:sp>
        <p:nvSpPr>
          <p:cNvPr id="13" name="04-ai-request-path-v1-vs-v2:b2"/>
          <p:cNvSpPr txBox="1"/>
          <p:nvPr/>
        </p:nvSpPr>
        <p:spPr>
          <a:xfrm>
            <a:off x="5012955" y="2769235"/>
            <a:ext cx="2071387" cy="806450"/>
          </a:xfrm>
          <a:prstGeom prst="roundRect">
            <a:avLst>
              <a:gd name="adj" fmla="val 6803"/>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70" b="1" dirty="0">
                <a:solidFill>
                  <a:srgbClr val="0B3C49"/>
                </a:solidFill>
                <a:latin typeface="Calibri" pitchFamily="34" charset="0"/>
                <a:ea typeface="Calibri" pitchFamily="34" charset="-122"/>
                <a:cs typeface="Calibri" pitchFamily="34" charset="-120"/>
              </a:rPr>
              <a:t>Policy check</a:t>
            </a:r>
            <a:endParaRPr lang="en-US" sz="1170" dirty="0"/>
          </a:p>
          <a:p>
            <a:pPr algn="ctr" indent="0" marL="0">
              <a:buNone/>
            </a:pPr>
            <a:r>
              <a:rPr lang="en-US" sz="1170" dirty="0">
                <a:solidFill>
                  <a:srgbClr val="0B3C49"/>
                </a:solidFill>
                <a:latin typeface="Calibri" pitchFamily="34" charset="0"/>
                <a:ea typeface="Calibri" pitchFamily="34" charset="-122"/>
                <a:cs typeface="Calibri" pitchFamily="34" charset="-120"/>
              </a:rPr>
              <a:t>persona, entity,</a:t>
            </a:r>
            <a:endParaRPr lang="en-US" sz="1170" dirty="0"/>
          </a:p>
          <a:p>
            <a:pPr algn="ctr" indent="0" marL="0">
              <a:buNone/>
            </a:pPr>
            <a:r>
              <a:rPr lang="en-US" sz="1170" dirty="0">
                <a:solidFill>
                  <a:srgbClr val="0B3C49"/>
                </a:solidFill>
                <a:latin typeface="Calibri" pitchFamily="34" charset="0"/>
                <a:ea typeface="Calibri" pitchFamily="34" charset="-122"/>
                <a:cs typeface="Calibri" pitchFamily="34" charset="-120"/>
              </a:rPr>
              <a:t>purpose; else 403</a:t>
            </a:r>
            <a:endParaRPr lang="en-US" sz="1170" dirty="0"/>
          </a:p>
        </p:txBody>
      </p:sp>
      <p:sp>
        <p:nvSpPr>
          <p:cNvPr id="14" name="04-ai-request-path-v1-vs-v2:b3"/>
          <p:cNvSpPr txBox="1"/>
          <p:nvPr/>
        </p:nvSpPr>
        <p:spPr>
          <a:xfrm>
            <a:off x="7267651" y="2769235"/>
            <a:ext cx="2071387" cy="806450"/>
          </a:xfrm>
          <a:prstGeom prst="roundRect">
            <a:avLst>
              <a:gd name="adj" fmla="val 6803"/>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70" b="1" dirty="0">
                <a:solidFill>
                  <a:srgbClr val="0B3C49"/>
                </a:solidFill>
                <a:latin typeface="Calibri" pitchFamily="34" charset="0"/>
                <a:ea typeface="Calibri" pitchFamily="34" charset="-122"/>
                <a:cs typeface="Calibri" pitchFamily="34" charset="-120"/>
              </a:rPr>
              <a:t>Key pattern</a:t>
            </a:r>
            <a:endParaRPr lang="en-US" sz="1170" dirty="0"/>
          </a:p>
          <a:p>
            <a:pPr algn="ctr" indent="0" marL="0">
              <a:buNone/>
            </a:pPr>
            <a:r>
              <a:rPr lang="en-US" sz="1170" dirty="0">
                <a:solidFill>
                  <a:srgbClr val="0B3C49"/>
                </a:solidFill>
                <a:latin typeface="Calibri" pitchFamily="34" charset="0"/>
                <a:ea typeface="Calibri" pitchFamily="34" charset="-122"/>
                <a:cs typeface="Calibri" pitchFamily="34" charset="-120"/>
              </a:rPr>
              <a:t>else 422</a:t>
            </a:r>
            <a:endParaRPr lang="en-US" sz="1170" dirty="0"/>
          </a:p>
        </p:txBody>
      </p:sp>
      <p:sp>
        <p:nvSpPr>
          <p:cNvPr id="15" name="04-ai-request-path-v1-vs-v2:b4"/>
          <p:cNvSpPr txBox="1"/>
          <p:nvPr/>
        </p:nvSpPr>
        <p:spPr>
          <a:xfrm>
            <a:off x="9522347" y="2769235"/>
            <a:ext cx="2071387" cy="806450"/>
          </a:xfrm>
          <a:prstGeom prst="roundRect">
            <a:avLst>
              <a:gd name="adj" fmla="val 6803"/>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70" b="1" dirty="0">
                <a:solidFill>
                  <a:srgbClr val="0B3C49"/>
                </a:solidFill>
                <a:latin typeface="Calibri" pitchFamily="34" charset="0"/>
                <a:ea typeface="Calibri" pitchFamily="34" charset="-122"/>
                <a:cs typeface="Calibri" pitchFamily="34" charset="-120"/>
              </a:rPr>
              <a:t>Rate limit</a:t>
            </a:r>
            <a:endParaRPr lang="en-US" sz="1170" dirty="0"/>
          </a:p>
          <a:p>
            <a:pPr algn="ctr" indent="0" marL="0">
              <a:buNone/>
            </a:pPr>
            <a:r>
              <a:rPr lang="en-US" sz="1170" dirty="0">
                <a:solidFill>
                  <a:srgbClr val="0B3C49"/>
                </a:solidFill>
                <a:latin typeface="Calibri" pitchFamily="34" charset="0"/>
                <a:ea typeface="Calibri" pitchFamily="34" charset="-122"/>
                <a:cs typeface="Calibri" pitchFamily="34" charset="-120"/>
              </a:rPr>
              <a:t>else 429</a:t>
            </a:r>
            <a:endParaRPr lang="en-US" sz="1170" dirty="0"/>
          </a:p>
        </p:txBody>
      </p:sp>
      <p:sp>
        <p:nvSpPr>
          <p:cNvPr id="16" name="04-ai-request-path-v1-vs-v2:c0"/>
          <p:cNvSpPr txBox="1"/>
          <p:nvPr/>
        </p:nvSpPr>
        <p:spPr>
          <a:xfrm>
            <a:off x="9522347" y="3978910"/>
            <a:ext cx="2071387" cy="887095"/>
          </a:xfrm>
          <a:prstGeom prst="roundRect">
            <a:avLst>
              <a:gd name="adj" fmla="val 6185"/>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70" b="1" dirty="0">
                <a:solidFill>
                  <a:srgbClr val="0B3C49"/>
                </a:solidFill>
                <a:latin typeface="Calibri" pitchFamily="34" charset="0"/>
                <a:ea typeface="Calibri" pitchFamily="34" charset="-122"/>
                <a:cs typeface="Calibri" pitchFamily="34" charset="-120"/>
              </a:rPr>
              <a:t>Build context</a:t>
            </a:r>
            <a:endParaRPr lang="en-US" sz="1170" dirty="0"/>
          </a:p>
          <a:p>
            <a:pPr algn="ctr" indent="0" marL="0">
              <a:buNone/>
            </a:pPr>
            <a:r>
              <a:rPr lang="en-US" sz="1170" dirty="0">
                <a:solidFill>
                  <a:srgbClr val="0B3C49"/>
                </a:solidFill>
                <a:latin typeface="Calibri" pitchFamily="34" charset="0"/>
                <a:ea typeface="Calibri" pitchFamily="34" charset="-122"/>
                <a:cs typeface="Calibri" pitchFamily="34" charset="-120"/>
              </a:rPr>
              <a:t>allowed fields only,</a:t>
            </a:r>
            <a:endParaRPr lang="en-US" sz="1170" dirty="0"/>
          </a:p>
          <a:p>
            <a:pPr algn="ctr" indent="0" marL="0">
              <a:buNone/>
            </a:pPr>
            <a:r>
              <a:rPr lang="en-US" sz="1170" dirty="0">
                <a:solidFill>
                  <a:srgbClr val="0B3C49"/>
                </a:solidFill>
                <a:latin typeface="Calibri" pitchFamily="34" charset="0"/>
                <a:ea typeface="Calibri" pitchFamily="34" charset="-122"/>
                <a:cs typeface="Calibri" pitchFamily="34" charset="-120"/>
              </a:rPr>
              <a:t>text sanitised</a:t>
            </a:r>
            <a:endParaRPr lang="en-US" sz="1170" dirty="0"/>
          </a:p>
        </p:txBody>
      </p:sp>
      <p:sp>
        <p:nvSpPr>
          <p:cNvPr id="17" name="04-ai-request-path-v1-vs-v2:c1"/>
          <p:cNvSpPr txBox="1"/>
          <p:nvPr/>
        </p:nvSpPr>
        <p:spPr>
          <a:xfrm>
            <a:off x="7267651" y="3978910"/>
            <a:ext cx="2071387" cy="887095"/>
          </a:xfrm>
          <a:prstGeom prst="roundRect">
            <a:avLst>
              <a:gd name="adj" fmla="val 6185"/>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70" b="1" dirty="0">
                <a:solidFill>
                  <a:srgbClr val="0B3C49"/>
                </a:solidFill>
                <a:latin typeface="Calibri" pitchFamily="34" charset="0"/>
                <a:ea typeface="Calibri" pitchFamily="34" charset="-122"/>
                <a:cs typeface="Calibri" pitchFamily="34" charset="-120"/>
              </a:rPr>
              <a:t>Producer</a:t>
            </a:r>
            <a:endParaRPr lang="en-US" sz="1170" dirty="0"/>
          </a:p>
          <a:p>
            <a:pPr algn="ctr" indent="0" marL="0">
              <a:buNone/>
            </a:pPr>
            <a:r>
              <a:rPr lang="en-US" sz="1170" dirty="0">
                <a:solidFill>
                  <a:srgbClr val="0B3C49"/>
                </a:solidFill>
                <a:latin typeface="Calibri" pitchFamily="34" charset="0"/>
                <a:ea typeface="Calibri" pitchFamily="34" charset="-122"/>
                <a:cs typeface="Calibri" pitchFamily="34" charset="-120"/>
              </a:rPr>
              <a:t>deterministic by default</a:t>
            </a:r>
            <a:endParaRPr lang="en-US" sz="1170" dirty="0"/>
          </a:p>
        </p:txBody>
      </p:sp>
      <p:sp>
        <p:nvSpPr>
          <p:cNvPr id="18" name="04-ai-request-path-v1-vs-v2:c2"/>
          <p:cNvSpPr txBox="1"/>
          <p:nvPr/>
        </p:nvSpPr>
        <p:spPr>
          <a:xfrm>
            <a:off x="5012955" y="3978910"/>
            <a:ext cx="2071387" cy="887095"/>
          </a:xfrm>
          <a:prstGeom prst="roundRect">
            <a:avLst>
              <a:gd name="adj" fmla="val 6185"/>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70" b="1" dirty="0">
                <a:solidFill>
                  <a:srgbClr val="0B3C49"/>
                </a:solidFill>
                <a:latin typeface="Calibri" pitchFamily="34" charset="0"/>
                <a:ea typeface="Calibri" pitchFamily="34" charset="-122"/>
                <a:cs typeface="Calibri" pitchFamily="34" charset="-120"/>
              </a:rPr>
              <a:t>Check output</a:t>
            </a:r>
            <a:endParaRPr lang="en-US" sz="1170" dirty="0"/>
          </a:p>
          <a:p>
            <a:pPr algn="ctr" indent="0" marL="0">
              <a:buNone/>
            </a:pPr>
            <a:r>
              <a:rPr lang="en-US" sz="1170" dirty="0">
                <a:solidFill>
                  <a:srgbClr val="0B3C49"/>
                </a:solidFill>
                <a:latin typeface="Calibri" pitchFamily="34" charset="0"/>
                <a:ea typeface="Calibri" pitchFamily="34" charset="-122"/>
                <a:cs typeface="Calibri" pitchFamily="34" charset="-120"/>
              </a:rPr>
              <a:t>schema, leaks,</a:t>
            </a:r>
            <a:endParaRPr lang="en-US" sz="1170" dirty="0"/>
          </a:p>
          <a:p>
            <a:pPr algn="ctr" indent="0" marL="0">
              <a:buNone/>
            </a:pPr>
            <a:r>
              <a:rPr lang="en-US" sz="1170" dirty="0">
                <a:solidFill>
                  <a:srgbClr val="0B3C49"/>
                </a:solidFill>
                <a:latin typeface="Calibri" pitchFamily="34" charset="0"/>
                <a:ea typeface="Calibri" pitchFamily="34" charset="-122"/>
                <a:cs typeface="Calibri" pitchFamily="34" charset="-120"/>
              </a:rPr>
              <a:t>confidence</a:t>
            </a:r>
            <a:endParaRPr lang="en-US" sz="1170" dirty="0"/>
          </a:p>
        </p:txBody>
      </p:sp>
      <p:sp>
        <p:nvSpPr>
          <p:cNvPr id="19" name="04-ai-request-path-v1-vs-v2:c3"/>
          <p:cNvSpPr txBox="1"/>
          <p:nvPr/>
        </p:nvSpPr>
        <p:spPr>
          <a:xfrm>
            <a:off x="2758259" y="3978910"/>
            <a:ext cx="2071387" cy="887095"/>
          </a:xfrm>
          <a:prstGeom prst="roundRect">
            <a:avLst>
              <a:gd name="adj" fmla="val 6185"/>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70" b="1" dirty="0">
                <a:solidFill>
                  <a:srgbClr val="0B3C49"/>
                </a:solidFill>
                <a:latin typeface="Calibri" pitchFamily="34" charset="0"/>
                <a:ea typeface="Calibri" pitchFamily="34" charset="-122"/>
                <a:cs typeface="Calibri" pitchFamily="34" charset="-120"/>
              </a:rPr>
              <a:t>Fallback, then abstain</a:t>
            </a:r>
            <a:endParaRPr lang="en-US" sz="1170" dirty="0"/>
          </a:p>
          <a:p>
            <a:pPr algn="ctr" indent="0" marL="0">
              <a:buNone/>
            </a:pPr>
            <a:r>
              <a:rPr lang="en-US" sz="1170" dirty="0">
                <a:solidFill>
                  <a:srgbClr val="0B3C49"/>
                </a:solidFill>
                <a:latin typeface="Calibri" pitchFamily="34" charset="0"/>
                <a:ea typeface="Calibri" pitchFamily="34" charset="-122"/>
                <a:cs typeface="Calibri" pitchFamily="34" charset="-120"/>
              </a:rPr>
              <a:t>never an invalid answer</a:t>
            </a:r>
            <a:endParaRPr lang="en-US" sz="1170" dirty="0"/>
          </a:p>
        </p:txBody>
      </p:sp>
      <p:sp>
        <p:nvSpPr>
          <p:cNvPr id="20" name="04-ai-request-path-v1-vs-v2:c4"/>
          <p:cNvSpPr txBox="1"/>
          <p:nvPr/>
        </p:nvSpPr>
        <p:spPr>
          <a:xfrm>
            <a:off x="503563" y="3978910"/>
            <a:ext cx="2071387" cy="887095"/>
          </a:xfrm>
          <a:prstGeom prst="roundRect">
            <a:avLst>
              <a:gd name="adj" fmla="val 6185"/>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70" b="1" dirty="0">
                <a:solidFill>
                  <a:srgbClr val="0B3C49"/>
                </a:solidFill>
                <a:latin typeface="Calibri" pitchFamily="34" charset="0"/>
                <a:ea typeface="Calibri" pitchFamily="34" charset="-122"/>
                <a:cs typeface="Calibri" pitchFamily="34" charset="-120"/>
              </a:rPr>
              <a:t>Register suggestion</a:t>
            </a:r>
            <a:endParaRPr lang="en-US" sz="1170" dirty="0"/>
          </a:p>
          <a:p>
            <a:pPr algn="ctr" indent="0" marL="0">
              <a:buNone/>
            </a:pPr>
            <a:r>
              <a:rPr lang="en-US" sz="1170" dirty="0">
                <a:solidFill>
                  <a:srgbClr val="0B3C49"/>
                </a:solidFill>
                <a:latin typeface="Calibri" pitchFamily="34" charset="0"/>
                <a:ea typeface="Calibri" pitchFamily="34" charset="-122"/>
                <a:cs typeface="Calibri" pitchFamily="34" charset="-120"/>
              </a:rPr>
              <a:t>human approval required</a:t>
            </a:r>
            <a:endParaRPr lang="en-US" sz="1170" dirty="0"/>
          </a:p>
        </p:txBody>
      </p:sp>
      <p:sp>
        <p:nvSpPr>
          <p:cNvPr id="21" name="04-ai-request-path-v1-vs-v2:d0"/>
          <p:cNvSpPr txBox="1"/>
          <p:nvPr/>
        </p:nvSpPr>
        <p:spPr>
          <a:xfrm>
            <a:off x="503563" y="5309553"/>
            <a:ext cx="2071387" cy="887095"/>
          </a:xfrm>
          <a:prstGeom prst="roundRect">
            <a:avLst>
              <a:gd name="adj" fmla="val 6185"/>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70" b="1" dirty="0">
                <a:solidFill>
                  <a:srgbClr val="0B3C49"/>
                </a:solidFill>
                <a:latin typeface="Calibri" pitchFamily="34" charset="0"/>
                <a:ea typeface="Calibri" pitchFamily="34" charset="-122"/>
                <a:cs typeface="Calibri" pitchFamily="34" charset="-120"/>
              </a:rPr>
              <a:t>Audit event</a:t>
            </a:r>
            <a:endParaRPr lang="en-US" sz="1170" dirty="0"/>
          </a:p>
          <a:p>
            <a:pPr algn="ctr" indent="0" marL="0">
              <a:buNone/>
            </a:pPr>
            <a:r>
              <a:rPr lang="en-US" sz="1170" dirty="0">
                <a:solidFill>
                  <a:srgbClr val="0B3C49"/>
                </a:solidFill>
                <a:latin typeface="Calibri" pitchFamily="34" charset="0"/>
                <a:ea typeface="Calibri" pitchFamily="34" charset="-122"/>
                <a:cs typeface="Calibri" pitchFamily="34" charset="-120"/>
              </a:rPr>
              <a:t>hash-chained</a:t>
            </a:r>
            <a:endParaRPr lang="en-US" sz="1170" dirty="0"/>
          </a:p>
        </p:txBody>
      </p:sp>
      <p:sp>
        <p:nvSpPr>
          <p:cNvPr id="22" name="04-ai-request-path-v1-vs-v2:d1"/>
          <p:cNvSpPr txBox="1"/>
          <p:nvPr/>
        </p:nvSpPr>
        <p:spPr>
          <a:xfrm>
            <a:off x="2758259" y="5309553"/>
            <a:ext cx="2071387" cy="887095"/>
          </a:xfrm>
          <a:prstGeom prst="roundRect">
            <a:avLst>
              <a:gd name="adj" fmla="val 6185"/>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70" b="1" dirty="0">
                <a:solidFill>
                  <a:srgbClr val="1E5631"/>
                </a:solidFill>
                <a:latin typeface="Calibri" pitchFamily="34" charset="0"/>
                <a:ea typeface="Calibri" pitchFamily="34" charset="-122"/>
                <a:cs typeface="Calibri" pitchFamily="34" charset="-120"/>
              </a:rPr>
              <a:t>Person decides</a:t>
            </a:r>
            <a:endParaRPr lang="en-US" sz="1170" dirty="0"/>
          </a:p>
          <a:p>
            <a:pPr algn="ctr" indent="0" marL="0">
              <a:buNone/>
            </a:pPr>
            <a:r>
              <a:rPr lang="en-US" sz="1170" dirty="0">
                <a:solidFill>
                  <a:srgbClr val="1E5631"/>
                </a:solidFill>
                <a:latin typeface="Calibri" pitchFamily="34" charset="0"/>
                <a:ea typeface="Calibri" pitchFamily="34" charset="-122"/>
                <a:cs typeface="Calibri" pitchFamily="34" charset="-120"/>
              </a:rPr>
              <a:t>approve or reject, once</a:t>
            </a:r>
            <a:endParaRPr lang="en-US" sz="1170" dirty="0"/>
          </a:p>
        </p:txBody>
      </p:sp>
      <p:sp>
        <p:nvSpPr>
          <p:cNvPr id="23" name="04-ai-request-path-v1-vs-v2:d2"/>
          <p:cNvSpPr txBox="1"/>
          <p:nvPr/>
        </p:nvSpPr>
        <p:spPr>
          <a:xfrm>
            <a:off x="5012955" y="5309553"/>
            <a:ext cx="2071387" cy="887095"/>
          </a:xfrm>
          <a:prstGeom prst="roundRect">
            <a:avLst>
              <a:gd name="adj" fmla="val 6185"/>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70" b="1" dirty="0">
                <a:solidFill>
                  <a:srgbClr val="0B3C49"/>
                </a:solidFill>
                <a:latin typeface="Calibri" pitchFamily="34" charset="0"/>
                <a:ea typeface="Calibri" pitchFamily="34" charset="-122"/>
                <a:cs typeface="Calibri" pitchFamily="34" charset="-120"/>
              </a:rPr>
              <a:t>A second decision</a:t>
            </a:r>
            <a:endParaRPr lang="en-US" sz="1170" dirty="0"/>
          </a:p>
          <a:p>
            <a:pPr algn="ctr" indent="0" marL="0">
              <a:buNone/>
            </a:pPr>
            <a:r>
              <a:rPr lang="en-US" sz="1170" dirty="0">
                <a:solidFill>
                  <a:srgbClr val="0B3C49"/>
                </a:solidFill>
                <a:latin typeface="Calibri" pitchFamily="34" charset="0"/>
                <a:ea typeface="Calibri" pitchFamily="34" charset="-122"/>
                <a:cs typeface="Calibri" pitchFamily="34" charset="-120"/>
              </a:rPr>
              <a:t>refused (409)</a:t>
            </a:r>
            <a:endParaRPr lang="en-US" sz="1170" dirty="0"/>
          </a:p>
        </p:txBody>
      </p:sp>
      <p:sp>
        <p:nvSpPr>
          <p:cNvPr id="24" name="04-ai-request-path-v1-vs-v2:d3"/>
          <p:cNvSpPr txBox="1"/>
          <p:nvPr/>
        </p:nvSpPr>
        <p:spPr>
          <a:xfrm>
            <a:off x="7267651" y="5309553"/>
            <a:ext cx="4326084" cy="887095"/>
          </a:xfrm>
          <a:prstGeom prst="roundRect">
            <a:avLst>
              <a:gd name="adj" fmla="val 6185"/>
            </a:avLst>
          </a:prstGeom>
          <a:solidFill>
            <a:srgbClr val="FFFFFF"/>
          </a:solidFill>
          <a:ln/>
        </p:spPr>
        <p:txBody>
          <a:bodyPr wrap="square" lIns="25400" tIns="50800" rIns="50800" bIns="25400" rtlCol="0" anchor="ctr"/>
          <a:lstStyle/>
          <a:p>
            <a:pPr algn="l" indent="0" marL="0">
              <a:buNone/>
            </a:pPr>
            <a:r>
              <a:rPr lang="en-US" sz="1100" dirty="0">
                <a:solidFill>
                  <a:srgbClr val="41545A"/>
                </a:solidFill>
                <a:latin typeface="Calibri" pitchFamily="34" charset="0"/>
                <a:ea typeface="Calibri" pitchFamily="34" charset="-122"/>
                <a:cs typeface="Calibri" pitchFamily="34" charset="-120"/>
              </a:rPr>
              <a:t>Every step leaves evidence</a:t>
            </a:r>
            <a:endParaRPr lang="en-US" sz="1100" dirty="0"/>
          </a:p>
          <a:p>
            <a:pPr algn="l" indent="0" marL="0">
              <a:buNone/>
            </a:pPr>
            <a:r>
              <a:rPr lang="en-US" sz="1100" dirty="0">
                <a:solidFill>
                  <a:srgbClr val="41545A"/>
                </a:solidFill>
                <a:latin typeface="Calibri" pitchFamily="34" charset="0"/>
                <a:ea typeface="Calibri" pitchFamily="34" charset="-122"/>
                <a:cs typeface="Calibri" pitchFamily="34" charset="-120"/>
              </a:rPr>
              <a:t>who asked, for which purpose, which data, which prompt</a:t>
            </a:r>
            <a:endParaRPr lang="en-US" sz="1100" dirty="0"/>
          </a:p>
          <a:p>
            <a:pPr algn="l" indent="0" marL="0">
              <a:buNone/>
            </a:pPr>
            <a:r>
              <a:rPr lang="en-US" sz="1100" dirty="0">
                <a:solidFill>
                  <a:srgbClr val="41545A"/>
                </a:solidFill>
                <a:latin typeface="Calibri" pitchFamily="34" charset="0"/>
                <a:ea typeface="Calibri" pitchFamily="34" charset="-122"/>
                <a:cs typeface="Calibri" pitchFamily="34" charset="-120"/>
              </a:rPr>
              <a:t>version, what came back</a:t>
            </a:r>
            <a:endParaRPr lang="en-US" sz="1100" dirty="0"/>
          </a:p>
        </p:txBody>
      </p:sp>
      <p:sp>
        <p:nvSpPr>
          <p:cNvPr id="25" name="04-ai-request-path-v1-vs-v2:edge:a0-&gt;a1"/>
          <p:cNvSpPr/>
          <p:nvPr/>
        </p:nvSpPr>
        <p:spPr>
          <a:xfrm>
            <a:off x="2574950" y="1720850"/>
            <a:ext cx="183309" cy="914"/>
          </a:xfrm>
          <a:prstGeom prst="line">
            <a:avLst/>
          </a:prstGeom>
          <a:noFill/>
          <a:ln w="19050">
            <a:solidFill>
              <a:srgbClr val="41545A"/>
            </a:solidFill>
            <a:prstDash val="solid"/>
            <a:tailEnd type="triangle"/>
          </a:ln>
        </p:spPr>
      </p:sp>
      <p:sp>
        <p:nvSpPr>
          <p:cNvPr id="26" name="04-ai-request-path-v1-vs-v2:edge:a1-&gt;a2"/>
          <p:cNvSpPr/>
          <p:nvPr/>
        </p:nvSpPr>
        <p:spPr>
          <a:xfrm>
            <a:off x="4829646" y="1720850"/>
            <a:ext cx="183309" cy="914"/>
          </a:xfrm>
          <a:prstGeom prst="line">
            <a:avLst/>
          </a:prstGeom>
          <a:noFill/>
          <a:ln w="19050">
            <a:solidFill>
              <a:srgbClr val="41545A"/>
            </a:solidFill>
            <a:prstDash val="solid"/>
            <a:tailEnd type="triangle"/>
          </a:ln>
        </p:spPr>
      </p:sp>
      <p:sp>
        <p:nvSpPr>
          <p:cNvPr id="27" name="04-ai-request-path-v1-vs-v2:edge:a2-&gt;a3"/>
          <p:cNvSpPr/>
          <p:nvPr/>
        </p:nvSpPr>
        <p:spPr>
          <a:xfrm>
            <a:off x="7084343" y="1720850"/>
            <a:ext cx="183309" cy="914"/>
          </a:xfrm>
          <a:prstGeom prst="line">
            <a:avLst/>
          </a:prstGeom>
          <a:noFill/>
          <a:ln w="19050">
            <a:solidFill>
              <a:srgbClr val="41545A"/>
            </a:solidFill>
            <a:prstDash val="solid"/>
            <a:tailEnd type="triangle"/>
          </a:ln>
        </p:spPr>
      </p:sp>
      <p:sp>
        <p:nvSpPr>
          <p:cNvPr id="28" name="04-ai-request-path-v1-vs-v2:edge:a3-&gt;a4"/>
          <p:cNvSpPr/>
          <p:nvPr/>
        </p:nvSpPr>
        <p:spPr>
          <a:xfrm>
            <a:off x="9339039" y="1720850"/>
            <a:ext cx="183309" cy="914"/>
          </a:xfrm>
          <a:prstGeom prst="line">
            <a:avLst/>
          </a:prstGeom>
          <a:noFill/>
          <a:ln w="19050">
            <a:solidFill>
              <a:srgbClr val="41545A"/>
            </a:solidFill>
            <a:prstDash val="solid"/>
            <a:tailEnd type="triangle"/>
          </a:ln>
        </p:spPr>
      </p:sp>
      <p:sp>
        <p:nvSpPr>
          <p:cNvPr id="29" name="04-ai-request-path-v1-vs-v2:edge:b0-&gt;b1"/>
          <p:cNvSpPr/>
          <p:nvPr/>
        </p:nvSpPr>
        <p:spPr>
          <a:xfrm>
            <a:off x="2574950" y="3172460"/>
            <a:ext cx="183309" cy="914"/>
          </a:xfrm>
          <a:prstGeom prst="line">
            <a:avLst/>
          </a:prstGeom>
          <a:noFill/>
          <a:ln w="19050">
            <a:solidFill>
              <a:srgbClr val="41545A"/>
            </a:solidFill>
            <a:prstDash val="solid"/>
            <a:tailEnd type="triangle"/>
          </a:ln>
        </p:spPr>
      </p:sp>
      <p:sp>
        <p:nvSpPr>
          <p:cNvPr id="30" name="04-ai-request-path-v1-vs-v2:edge:b1-&gt;b2"/>
          <p:cNvSpPr/>
          <p:nvPr/>
        </p:nvSpPr>
        <p:spPr>
          <a:xfrm>
            <a:off x="4829646" y="3172460"/>
            <a:ext cx="183309" cy="914"/>
          </a:xfrm>
          <a:prstGeom prst="line">
            <a:avLst/>
          </a:prstGeom>
          <a:noFill/>
          <a:ln w="19050">
            <a:solidFill>
              <a:srgbClr val="41545A"/>
            </a:solidFill>
            <a:prstDash val="solid"/>
            <a:tailEnd type="triangle"/>
          </a:ln>
        </p:spPr>
      </p:sp>
      <p:sp>
        <p:nvSpPr>
          <p:cNvPr id="31" name="04-ai-request-path-v1-vs-v2:edge:b2-&gt;b3"/>
          <p:cNvSpPr/>
          <p:nvPr/>
        </p:nvSpPr>
        <p:spPr>
          <a:xfrm>
            <a:off x="7084343" y="3172460"/>
            <a:ext cx="183309" cy="914"/>
          </a:xfrm>
          <a:prstGeom prst="line">
            <a:avLst/>
          </a:prstGeom>
          <a:noFill/>
          <a:ln w="19050">
            <a:solidFill>
              <a:srgbClr val="41545A"/>
            </a:solidFill>
            <a:prstDash val="solid"/>
            <a:tailEnd type="triangle"/>
          </a:ln>
        </p:spPr>
      </p:sp>
      <p:sp>
        <p:nvSpPr>
          <p:cNvPr id="32" name="04-ai-request-path-v1-vs-v2:edge:b3-&gt;b4"/>
          <p:cNvSpPr/>
          <p:nvPr/>
        </p:nvSpPr>
        <p:spPr>
          <a:xfrm>
            <a:off x="9339039" y="3172460"/>
            <a:ext cx="183309" cy="914"/>
          </a:xfrm>
          <a:prstGeom prst="line">
            <a:avLst/>
          </a:prstGeom>
          <a:noFill/>
          <a:ln w="19050">
            <a:solidFill>
              <a:srgbClr val="41545A"/>
            </a:solidFill>
            <a:prstDash val="solid"/>
            <a:tailEnd type="triangle"/>
          </a:ln>
        </p:spPr>
      </p:sp>
      <p:sp>
        <p:nvSpPr>
          <p:cNvPr id="33" name="04-ai-request-path-v1-vs-v2:edge:c0-&gt;c1"/>
          <p:cNvSpPr/>
          <p:nvPr/>
        </p:nvSpPr>
        <p:spPr>
          <a:xfrm flipH="1">
            <a:off x="9339039" y="4422458"/>
            <a:ext cx="183309" cy="914"/>
          </a:xfrm>
          <a:prstGeom prst="line">
            <a:avLst/>
          </a:prstGeom>
          <a:noFill/>
          <a:ln w="19050">
            <a:solidFill>
              <a:srgbClr val="41545A"/>
            </a:solidFill>
            <a:prstDash val="solid"/>
            <a:tailEnd type="triangle"/>
          </a:ln>
        </p:spPr>
      </p:sp>
      <p:sp>
        <p:nvSpPr>
          <p:cNvPr id="34" name="04-ai-request-path-v1-vs-v2:edge:c1-&gt;c2"/>
          <p:cNvSpPr/>
          <p:nvPr/>
        </p:nvSpPr>
        <p:spPr>
          <a:xfrm flipH="1">
            <a:off x="7084343" y="4422458"/>
            <a:ext cx="183309" cy="914"/>
          </a:xfrm>
          <a:prstGeom prst="line">
            <a:avLst/>
          </a:prstGeom>
          <a:noFill/>
          <a:ln w="19050">
            <a:solidFill>
              <a:srgbClr val="41545A"/>
            </a:solidFill>
            <a:prstDash val="solid"/>
            <a:tailEnd type="triangle"/>
          </a:ln>
        </p:spPr>
      </p:sp>
      <p:sp>
        <p:nvSpPr>
          <p:cNvPr id="35" name="04-ai-request-path-v1-vs-v2:edge:c2-&gt;c3"/>
          <p:cNvSpPr/>
          <p:nvPr/>
        </p:nvSpPr>
        <p:spPr>
          <a:xfrm flipH="1">
            <a:off x="4829646" y="4422458"/>
            <a:ext cx="183309" cy="914"/>
          </a:xfrm>
          <a:prstGeom prst="line">
            <a:avLst/>
          </a:prstGeom>
          <a:noFill/>
          <a:ln w="19050">
            <a:solidFill>
              <a:srgbClr val="41545A"/>
            </a:solidFill>
            <a:prstDash val="solid"/>
            <a:tailEnd type="triangle"/>
          </a:ln>
        </p:spPr>
      </p:sp>
      <p:sp>
        <p:nvSpPr>
          <p:cNvPr id="36" name="04-ai-request-path-v1-vs-v2:edge:c3-&gt;c4"/>
          <p:cNvSpPr/>
          <p:nvPr/>
        </p:nvSpPr>
        <p:spPr>
          <a:xfrm flipH="1">
            <a:off x="2574950" y="4422458"/>
            <a:ext cx="183309" cy="914"/>
          </a:xfrm>
          <a:prstGeom prst="line">
            <a:avLst/>
          </a:prstGeom>
          <a:noFill/>
          <a:ln w="19050">
            <a:solidFill>
              <a:srgbClr val="41545A"/>
            </a:solidFill>
            <a:prstDash val="solid"/>
            <a:tailEnd type="triangle"/>
          </a:ln>
        </p:spPr>
      </p:sp>
      <p:sp>
        <p:nvSpPr>
          <p:cNvPr id="37" name="04-ai-request-path-v1-vs-v2:edge:b4-&gt;c0"/>
          <p:cNvSpPr/>
          <p:nvPr/>
        </p:nvSpPr>
        <p:spPr>
          <a:xfrm>
            <a:off x="10558041" y="3575685"/>
            <a:ext cx="914" cy="403225"/>
          </a:xfrm>
          <a:prstGeom prst="line">
            <a:avLst/>
          </a:prstGeom>
          <a:noFill/>
          <a:ln w="19050">
            <a:solidFill>
              <a:srgbClr val="41545A"/>
            </a:solidFill>
            <a:prstDash val="solid"/>
            <a:tailEnd type="triangle"/>
          </a:ln>
        </p:spPr>
      </p:sp>
      <p:sp>
        <p:nvSpPr>
          <p:cNvPr id="38" name="04-ai-request-path-v1-vs-v2:edge:c4-&gt;d0"/>
          <p:cNvSpPr/>
          <p:nvPr/>
        </p:nvSpPr>
        <p:spPr>
          <a:xfrm>
            <a:off x="1539257" y="4866005"/>
            <a:ext cx="914" cy="443547"/>
          </a:xfrm>
          <a:prstGeom prst="line">
            <a:avLst/>
          </a:prstGeom>
          <a:noFill/>
          <a:ln w="19050">
            <a:solidFill>
              <a:srgbClr val="41545A"/>
            </a:solidFill>
            <a:prstDash val="solid"/>
            <a:tailEnd type="triangle"/>
          </a:ln>
        </p:spPr>
      </p:sp>
      <p:sp>
        <p:nvSpPr>
          <p:cNvPr id="39" name="04-ai-request-path-v1-vs-v2:edge:d0-&gt;d1"/>
          <p:cNvSpPr/>
          <p:nvPr/>
        </p:nvSpPr>
        <p:spPr>
          <a:xfrm>
            <a:off x="2574950" y="5753100"/>
            <a:ext cx="183309" cy="914"/>
          </a:xfrm>
          <a:prstGeom prst="line">
            <a:avLst/>
          </a:prstGeom>
          <a:noFill/>
          <a:ln w="19050">
            <a:solidFill>
              <a:srgbClr val="41545A"/>
            </a:solidFill>
            <a:prstDash val="solid"/>
            <a:tailEnd type="triangle"/>
          </a:ln>
        </p:spPr>
      </p:sp>
      <p:sp>
        <p:nvSpPr>
          <p:cNvPr id="40" name="04-ai-request-path-v1-vs-v2:edge:d1-&gt;d2"/>
          <p:cNvSpPr/>
          <p:nvPr/>
        </p:nvSpPr>
        <p:spPr>
          <a:xfrm>
            <a:off x="4829646" y="5753100"/>
            <a:ext cx="183309" cy="914"/>
          </a:xfrm>
          <a:prstGeom prst="line">
            <a:avLst/>
          </a:prstGeom>
          <a:noFill/>
          <a:ln w="19050">
            <a:solidFill>
              <a:srgbClr val="41545A"/>
            </a:solidFill>
            <a:prstDash val="solid"/>
            <a:tailEnd type="triangle"/>
          </a:ln>
        </p:spPr>
      </p:sp>
      <p:sp>
        <p:nvSpPr>
          <p:cNvPr id="25" name="Slide Number Placeholder 0"/>
          <p:cNvSpPr>
            <a:spLocks noGrp="1"/>
          </p:cNvSpPr>
          <p:nvPr>
            <p:ph type="sldNum" sz="quarter" idx="4294967295"/>
          </p:nvPr>
        </p:nvSpPr>
        <p:spPr>
          <a:xfrm>
            <a:off x="11247120" y="3657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2800" b="1" dirty="0">
                <a:solidFill>
                  <a:schemeClr val="tx2"/>
                </a:solidFill>
              </a:rPr>
              <a:t>Engineering health moved; business KPIs did not, by design</a:t>
            </a:r>
            <a:endParaRPr lang="en-US" sz="2800" dirty="0"/>
          </a:p>
        </p:txBody>
      </p:sp>
      <p:graphicFrame>
        <p:nvGraphicFramePr>
          <p:cNvPr id="4" name="Chart 0" descr=""/>
          <p:cNvGraphicFramePr/>
          <p:nvPr/>
        </p:nvGraphicFramePr>
        <p:xfrm>
          <a:off x="457200" y="1097280"/>
          <a:ext cx="548640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309360" y="1188720"/>
          <a:ext cx="5422392" cy="914400"/>
        </p:xfrm>
        <a:graphic>
          <a:graphicData uri="http://schemas.openxmlformats.org/drawingml/2006/table">
            <a:tbl>
              <a:tblPr/>
              <a:tblGrid>
                <a:gridCol w="2130552"/>
                <a:gridCol w="914400"/>
                <a:gridCol w="914400"/>
                <a:gridCol w="146304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KPI</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After</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r>
              <a:tr h="41148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K1 latency p50 (ms)</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1667</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1667</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fixture column</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K2 cost per event</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2.2451</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2.2451</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static</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K3 severe-event share</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39.6%</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39.6%</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static</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K4 correlation completeness</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33.6%</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33.6%</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producer unchanged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K6 retries max</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4995</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4995</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static</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K7 duplicate keys (raw)</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quarantined downstream</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bl>
          </a:graphicData>
        </a:graphic>
      </p:graphicFrame>
      <p:sp>
        <p:nvSpPr>
          <p:cNvPr id="6" name="Text 1"/>
          <p:cNvSpPr txBox="1"/>
          <p:nvPr/>
        </p:nvSpPr>
        <p:spPr>
          <a:xfrm>
            <a:off x="6309360" y="4343400"/>
            <a:ext cx="5422392" cy="548640"/>
          </a:xfrm>
          <a:prstGeom prst="rect">
            <a:avLst/>
          </a:prstGeom>
          <a:noFill/>
          <a:ln/>
        </p:spPr>
        <p:txBody>
          <a:bodyPr wrap="square" lIns="0" tIns="0" rIns="0" bIns="0" rtlCol="0" anchor="ctr"/>
          <a:lstStyle/>
          <a:p>
            <a:pPr indent="0" marL="0">
              <a:buNone/>
            </a:pPr>
            <a:r>
              <a:rPr lang="en-US" sz="1200" dirty="0">
                <a:solidFill>
                  <a:srgbClr val="5F6E71"/>
                </a:solidFill>
              </a:rPr>
              <a:t>K5 and K8 are also equal; the full table is the KPIs sheet of the evidence register.</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0607040" cy="594360"/>
          </a:xfrm>
          <a:prstGeom prst="rect">
            <a:avLst/>
          </a:prstGeom>
          <a:noFill/>
          <a:ln/>
        </p:spPr>
        <p:txBody>
          <a:bodyPr wrap="square" lIns="0" tIns="0" rIns="0" bIns="0" rtlCol="0" anchor="ctr"/>
          <a:lstStyle/>
          <a:p>
            <a:pPr algn="l" indent="0" marL="0">
              <a:buNone/>
            </a:pPr>
            <a:r>
              <a:rPr lang="en-US" sz="2600" b="1" dirty="0">
                <a:solidFill>
                  <a:schemeClr val="tx2"/>
                </a:solidFill>
              </a:rPr>
              <a:t>Semantic layer v2.0: knowledge owned outside the code and the model</a:t>
            </a:r>
            <a:endParaRPr lang="en-US" sz="2600" dirty="0"/>
          </a:p>
        </p:txBody>
      </p:sp>
      <p:sp>
        <p:nvSpPr>
          <p:cNvPr id="4" name="06-semantic-layer:md"/>
          <p:cNvSpPr txBox="1"/>
          <p:nvPr/>
        </p:nvSpPr>
        <p:spPr>
          <a:xfrm>
            <a:off x="320254" y="995045"/>
            <a:ext cx="7515654" cy="1008063"/>
          </a:xfrm>
          <a:prstGeom prst="roundRect">
            <a:avLst>
              <a:gd name="adj" fmla="val 2721"/>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Markdown: for people</a:t>
            </a:r>
            <a:endParaRPr lang="en-US" sz="1170" dirty="0"/>
          </a:p>
        </p:txBody>
      </p:sp>
      <p:sp>
        <p:nvSpPr>
          <p:cNvPr id="5" name="06-semantic-layer:m0"/>
          <p:cNvSpPr txBox="1"/>
          <p:nvPr/>
        </p:nvSpPr>
        <p:spPr>
          <a:xfrm>
            <a:off x="457736" y="1333754"/>
            <a:ext cx="1356484" cy="499999"/>
          </a:xfrm>
          <a:prstGeom prst="roundRect">
            <a:avLst>
              <a:gd name="adj" fmla="val 10973"/>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README</a:t>
            </a:r>
            <a:endParaRPr lang="en-US" sz="1100" dirty="0"/>
          </a:p>
        </p:txBody>
      </p:sp>
      <p:sp>
        <p:nvSpPr>
          <p:cNvPr id="6" name="06-semantic-layer:m1"/>
          <p:cNvSpPr txBox="1"/>
          <p:nvPr/>
        </p:nvSpPr>
        <p:spPr>
          <a:xfrm>
            <a:off x="1924205" y="1333754"/>
            <a:ext cx="1356484" cy="499999"/>
          </a:xfrm>
          <a:prstGeom prst="roundRect">
            <a:avLst>
              <a:gd name="adj" fmla="val 10973"/>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Glossary</a:t>
            </a:r>
            <a:endParaRPr lang="en-US" sz="1100" dirty="0"/>
          </a:p>
        </p:txBody>
      </p:sp>
      <p:sp>
        <p:nvSpPr>
          <p:cNvPr id="7" name="06-semantic-layer:m2"/>
          <p:cNvSpPr txBox="1"/>
          <p:nvPr/>
        </p:nvSpPr>
        <p:spPr>
          <a:xfrm>
            <a:off x="3390674" y="1333754"/>
            <a:ext cx="1356484" cy="499999"/>
          </a:xfrm>
          <a:prstGeom prst="roundRect">
            <a:avLst>
              <a:gd name="adj" fmla="val 10973"/>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Domain knowledge</a:t>
            </a:r>
            <a:endParaRPr lang="en-US" sz="1100" dirty="0"/>
          </a:p>
        </p:txBody>
      </p:sp>
      <p:sp>
        <p:nvSpPr>
          <p:cNvPr id="8" name="06-semantic-layer:m3"/>
          <p:cNvSpPr txBox="1"/>
          <p:nvPr/>
        </p:nvSpPr>
        <p:spPr>
          <a:xfrm>
            <a:off x="4857143" y="1333754"/>
            <a:ext cx="1356484" cy="499999"/>
          </a:xfrm>
          <a:prstGeom prst="roundRect">
            <a:avLst>
              <a:gd name="adj" fmla="val 10973"/>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Enum violations</a:t>
            </a:r>
            <a:endParaRPr lang="en-US" sz="1100" dirty="0"/>
          </a:p>
        </p:txBody>
      </p:sp>
      <p:sp>
        <p:nvSpPr>
          <p:cNvPr id="9" name="06-semantic-layer:m4"/>
          <p:cNvSpPr txBox="1"/>
          <p:nvPr/>
        </p:nvSpPr>
        <p:spPr>
          <a:xfrm>
            <a:off x="6323612" y="1333754"/>
            <a:ext cx="1356484" cy="499999"/>
          </a:xfrm>
          <a:prstGeom prst="roundRect">
            <a:avLst>
              <a:gd name="adj" fmla="val 10973"/>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Completeness</a:t>
            </a:r>
            <a:endParaRPr lang="en-US" sz="1100" dirty="0"/>
          </a:p>
        </p:txBody>
      </p:sp>
      <p:sp>
        <p:nvSpPr>
          <p:cNvPr id="10" name="06-semantic-layer:ym"/>
          <p:cNvSpPr txBox="1"/>
          <p:nvPr/>
        </p:nvSpPr>
        <p:spPr>
          <a:xfrm>
            <a:off x="320254" y="2124075"/>
            <a:ext cx="7515654" cy="1854835"/>
          </a:xfrm>
          <a:prstGeom prst="roundRect">
            <a:avLst>
              <a:gd name="adj" fmla="val 1479"/>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YAML: definitions (source of truth)</a:t>
            </a:r>
            <a:endParaRPr lang="en-US" sz="1170" dirty="0"/>
          </a:p>
        </p:txBody>
      </p:sp>
      <p:sp>
        <p:nvSpPr>
          <p:cNvPr id="11" name="06-semantic-layer:y0"/>
          <p:cNvSpPr txBox="1"/>
          <p:nvPr/>
        </p:nvSpPr>
        <p:spPr>
          <a:xfrm>
            <a:off x="457736" y="2462784"/>
            <a:ext cx="1723101" cy="629031"/>
          </a:xfrm>
          <a:prstGeom prst="roundRect">
            <a:avLst>
              <a:gd name="adj" fmla="val 8722"/>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100" b="1" dirty="0">
                <a:solidFill>
                  <a:srgbClr val="1B1B1B"/>
                </a:solidFill>
                <a:latin typeface="Calibri" pitchFamily="34" charset="0"/>
                <a:ea typeface="Calibri" pitchFamily="34" charset="-122"/>
                <a:cs typeface="Calibri" pitchFamily="34" charset="-120"/>
              </a:rPr>
              <a:t>Entities</a:t>
            </a:r>
            <a:endParaRPr lang="en-US" sz="1100" dirty="0"/>
          </a:p>
          <a:p>
            <a:pPr algn="ctr" indent="0" marL="0">
              <a:buNone/>
            </a:pPr>
            <a:r>
              <a:rPr lang="en-US" sz="1100" dirty="0">
                <a:solidFill>
                  <a:srgbClr val="1B1B1B"/>
                </a:solidFill>
                <a:latin typeface="Calibri" pitchFamily="34" charset="0"/>
                <a:ea typeface="Calibri" pitchFamily="34" charset="-122"/>
                <a:cs typeface="Calibri" pitchFamily="34" charset="-120"/>
              </a:rPr>
              <a:t>56 of 56 columns</a:t>
            </a:r>
            <a:endParaRPr lang="en-US" sz="1100" dirty="0"/>
          </a:p>
        </p:txBody>
      </p:sp>
      <p:sp>
        <p:nvSpPr>
          <p:cNvPr id="12" name="06-semantic-layer:y1"/>
          <p:cNvSpPr txBox="1"/>
          <p:nvPr/>
        </p:nvSpPr>
        <p:spPr>
          <a:xfrm>
            <a:off x="2290822" y="2462784"/>
            <a:ext cx="1723101" cy="629031"/>
          </a:xfrm>
          <a:prstGeom prst="roundRect">
            <a:avLst>
              <a:gd name="adj" fmla="val 8722"/>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100" b="1" dirty="0">
                <a:solidFill>
                  <a:srgbClr val="1B1B1B"/>
                </a:solidFill>
                <a:latin typeface="Calibri" pitchFamily="34" charset="0"/>
                <a:ea typeface="Calibri" pitchFamily="34" charset="-122"/>
                <a:cs typeface="Calibri" pitchFamily="34" charset="-120"/>
              </a:rPr>
              <a:t>Status taxonomy</a:t>
            </a:r>
            <a:endParaRPr lang="en-US" sz="1100" dirty="0"/>
          </a:p>
        </p:txBody>
      </p:sp>
      <p:sp>
        <p:nvSpPr>
          <p:cNvPr id="13" name="06-semantic-layer:y2"/>
          <p:cNvSpPr txBox="1"/>
          <p:nvPr/>
        </p:nvSpPr>
        <p:spPr>
          <a:xfrm>
            <a:off x="4123908" y="2462784"/>
            <a:ext cx="1723101" cy="629031"/>
          </a:xfrm>
          <a:prstGeom prst="roundRect">
            <a:avLst>
              <a:gd name="adj" fmla="val 8722"/>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100" b="1" dirty="0">
                <a:solidFill>
                  <a:srgbClr val="1B1B1B"/>
                </a:solidFill>
                <a:latin typeface="Calibri" pitchFamily="34" charset="0"/>
                <a:ea typeface="Calibri" pitchFamily="34" charset="-122"/>
                <a:cs typeface="Calibri" pitchFamily="34" charset="-120"/>
              </a:rPr>
              <a:t>Relationships</a:t>
            </a:r>
            <a:endParaRPr lang="en-US" sz="1100" dirty="0"/>
          </a:p>
          <a:p>
            <a:pPr algn="ctr" indent="0" marL="0">
              <a:buNone/>
            </a:pPr>
            <a:r>
              <a:rPr lang="en-US" sz="1100" dirty="0">
                <a:solidFill>
                  <a:srgbClr val="1B1B1B"/>
                </a:solidFill>
                <a:latin typeface="Calibri" pitchFamily="34" charset="0"/>
                <a:ea typeface="Calibri" pitchFamily="34" charset="-122"/>
                <a:cs typeface="Calibri" pitchFamily="34" charset="-120"/>
              </a:rPr>
              <a:t>and saga</a:t>
            </a:r>
            <a:endParaRPr lang="en-US" sz="1100" dirty="0"/>
          </a:p>
        </p:txBody>
      </p:sp>
      <p:sp>
        <p:nvSpPr>
          <p:cNvPr id="14" name="06-semantic-layer:y3"/>
          <p:cNvSpPr txBox="1"/>
          <p:nvPr/>
        </p:nvSpPr>
        <p:spPr>
          <a:xfrm>
            <a:off x="5956995" y="2462784"/>
            <a:ext cx="1723101" cy="629031"/>
          </a:xfrm>
          <a:prstGeom prst="roundRect">
            <a:avLst>
              <a:gd name="adj" fmla="val 8722"/>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100" b="1" dirty="0">
                <a:solidFill>
                  <a:srgbClr val="1B1B1B"/>
                </a:solidFill>
                <a:latin typeface="Calibri" pitchFamily="34" charset="0"/>
                <a:ea typeface="Calibri" pitchFamily="34" charset="-122"/>
                <a:cs typeface="Calibri" pitchFamily="34" charset="-120"/>
              </a:rPr>
              <a:t>Business rules</a:t>
            </a:r>
            <a:endParaRPr lang="en-US" sz="1100" dirty="0"/>
          </a:p>
          <a:p>
            <a:pPr algn="ctr" indent="0" marL="0">
              <a:buNone/>
            </a:pPr>
            <a:r>
              <a:rPr lang="en-US" sz="1100" dirty="0">
                <a:solidFill>
                  <a:srgbClr val="1B1B1B"/>
                </a:solidFill>
                <a:latin typeface="Calibri" pitchFamily="34" charset="0"/>
                <a:ea typeface="Calibri" pitchFamily="34" charset="-122"/>
                <a:cs typeface="Calibri" pitchFamily="34" charset="-120"/>
              </a:rPr>
              <a:t>BR-01 to BR-13</a:t>
            </a:r>
            <a:endParaRPr lang="en-US" sz="1100" dirty="0"/>
          </a:p>
        </p:txBody>
      </p:sp>
      <p:sp>
        <p:nvSpPr>
          <p:cNvPr id="15" name="06-semantic-layer:y4"/>
          <p:cNvSpPr txBox="1"/>
          <p:nvPr/>
        </p:nvSpPr>
        <p:spPr>
          <a:xfrm>
            <a:off x="457736" y="3204718"/>
            <a:ext cx="1723101" cy="629031"/>
          </a:xfrm>
          <a:prstGeom prst="roundRect">
            <a:avLst>
              <a:gd name="adj" fmla="val 8722"/>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100" b="1" dirty="0">
                <a:solidFill>
                  <a:srgbClr val="1B1B1B"/>
                </a:solidFill>
                <a:latin typeface="Calibri" pitchFamily="34" charset="0"/>
                <a:ea typeface="Calibri" pitchFamily="34" charset="-122"/>
                <a:cs typeface="Calibri" pitchFamily="34" charset="-120"/>
              </a:rPr>
              <a:t>Metrics</a:t>
            </a:r>
            <a:endParaRPr lang="en-US" sz="1100" dirty="0"/>
          </a:p>
          <a:p>
            <a:pPr algn="ctr" indent="0" marL="0">
              <a:buNone/>
            </a:pPr>
            <a:r>
              <a:rPr lang="en-US" sz="1100" dirty="0">
                <a:solidFill>
                  <a:srgbClr val="1B1B1B"/>
                </a:solidFill>
                <a:latin typeface="Calibri" pitchFamily="34" charset="0"/>
                <a:ea typeface="Calibri" pitchFamily="34" charset="-122"/>
                <a:cs typeface="Calibri" pitchFamily="34" charset="-120"/>
              </a:rPr>
              <a:t>K1 to K10</a:t>
            </a:r>
            <a:endParaRPr lang="en-US" sz="1100" dirty="0"/>
          </a:p>
        </p:txBody>
      </p:sp>
      <p:sp>
        <p:nvSpPr>
          <p:cNvPr id="16" name="06-semantic-layer:y5"/>
          <p:cNvSpPr txBox="1"/>
          <p:nvPr/>
        </p:nvSpPr>
        <p:spPr>
          <a:xfrm>
            <a:off x="2290822" y="3204718"/>
            <a:ext cx="1723101" cy="629031"/>
          </a:xfrm>
          <a:prstGeom prst="roundRect">
            <a:avLst>
              <a:gd name="adj" fmla="val 8722"/>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100" b="1" dirty="0">
                <a:solidFill>
                  <a:srgbClr val="1B1B1B"/>
                </a:solidFill>
                <a:latin typeface="Calibri" pitchFamily="34" charset="0"/>
                <a:ea typeface="Calibri" pitchFamily="34" charset="-122"/>
                <a:cs typeface="Calibri" pitchFamily="34" charset="-120"/>
              </a:rPr>
              <a:t>Access semantics</a:t>
            </a:r>
            <a:endParaRPr lang="en-US" sz="1100" dirty="0"/>
          </a:p>
          <a:p>
            <a:pPr algn="ctr" indent="0" marL="0">
              <a:buNone/>
            </a:pPr>
            <a:r>
              <a:rPr lang="en-US" sz="1100" dirty="0">
                <a:solidFill>
                  <a:srgbClr val="1B1B1B"/>
                </a:solidFill>
                <a:latin typeface="Calibri" pitchFamily="34" charset="0"/>
                <a:ea typeface="Calibri" pitchFamily="34" charset="-122"/>
                <a:cs typeface="Calibri" pitchFamily="34" charset="-120"/>
              </a:rPr>
              <a:t>8 personas</a:t>
            </a:r>
            <a:endParaRPr lang="en-US" sz="1100" dirty="0"/>
          </a:p>
        </p:txBody>
      </p:sp>
      <p:sp>
        <p:nvSpPr>
          <p:cNvPr id="17" name="06-semantic-layer:y6"/>
          <p:cNvSpPr txBox="1"/>
          <p:nvPr/>
        </p:nvSpPr>
        <p:spPr>
          <a:xfrm>
            <a:off x="4123908" y="3204718"/>
            <a:ext cx="1723101" cy="629031"/>
          </a:xfrm>
          <a:prstGeom prst="roundRect">
            <a:avLst>
              <a:gd name="adj" fmla="val 8722"/>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100" b="1" dirty="0">
                <a:solidFill>
                  <a:srgbClr val="1B1B1B"/>
                </a:solidFill>
                <a:latin typeface="Calibri" pitchFamily="34" charset="0"/>
                <a:ea typeface="Calibri" pitchFamily="34" charset="-122"/>
                <a:cs typeface="Calibri" pitchFamily="34" charset="-120"/>
              </a:rPr>
              <a:t>AI context policy</a:t>
            </a:r>
            <a:endParaRPr lang="en-US" sz="1100" dirty="0"/>
          </a:p>
        </p:txBody>
      </p:sp>
      <p:sp>
        <p:nvSpPr>
          <p:cNvPr id="18" name="06-semantic-layer:y7"/>
          <p:cNvSpPr txBox="1"/>
          <p:nvPr/>
        </p:nvSpPr>
        <p:spPr>
          <a:xfrm>
            <a:off x="5956995" y="3204718"/>
            <a:ext cx="1723101" cy="629031"/>
          </a:xfrm>
          <a:prstGeom prst="roundRect">
            <a:avLst>
              <a:gd name="adj" fmla="val 8722"/>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100" b="1" dirty="0">
                <a:solidFill>
                  <a:srgbClr val="1B1B1B"/>
                </a:solidFill>
                <a:latin typeface="Calibri" pitchFamily="34" charset="0"/>
                <a:ea typeface="Calibri" pitchFamily="34" charset="-122"/>
                <a:cs typeface="Calibri" pitchFamily="34" charset="-120"/>
              </a:rPr>
              <a:t>Workflow semantics</a:t>
            </a:r>
            <a:endParaRPr lang="en-US" sz="1100" dirty="0"/>
          </a:p>
        </p:txBody>
      </p:sp>
      <p:sp>
        <p:nvSpPr>
          <p:cNvPr id="19" name="06-semantic-layer:js"/>
          <p:cNvSpPr txBox="1"/>
          <p:nvPr/>
        </p:nvSpPr>
        <p:spPr>
          <a:xfrm>
            <a:off x="320254" y="4099877"/>
            <a:ext cx="3666172" cy="967740"/>
          </a:xfrm>
          <a:prstGeom prst="roundRect">
            <a:avLst>
              <a:gd name="adj" fmla="val 2835"/>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JSON Schema: validation</a:t>
            </a:r>
            <a:endParaRPr lang="en-US" sz="1170" dirty="0"/>
          </a:p>
        </p:txBody>
      </p:sp>
      <p:sp>
        <p:nvSpPr>
          <p:cNvPr id="20" name="06-semantic-layer:js1"/>
          <p:cNvSpPr txBox="1"/>
          <p:nvPr/>
        </p:nvSpPr>
        <p:spPr>
          <a:xfrm>
            <a:off x="457736" y="4438587"/>
            <a:ext cx="3391210" cy="499999"/>
          </a:xfrm>
          <a:prstGeom prst="roundRect">
            <a:avLst>
              <a:gd name="adj" fmla="val 10973"/>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0B3C49"/>
                </a:solidFill>
                <a:latin typeface="Calibri" pitchFamily="34" charset="0"/>
                <a:ea typeface="Calibri" pitchFamily="34" charset="-122"/>
                <a:cs typeface="Calibri" pitchFamily="34" charset="-120"/>
              </a:rPr>
              <a:t>semantic-layer.schema.json</a:t>
            </a:r>
            <a:endParaRPr lang="en-US" sz="1020" dirty="0"/>
          </a:p>
          <a:p>
            <a:pPr algn="ctr" indent="0" marL="0">
              <a:buNone/>
            </a:pPr>
            <a:r>
              <a:rPr lang="en-US" sz="1020" dirty="0">
                <a:solidFill>
                  <a:srgbClr val="0B3C49"/>
                </a:solidFill>
                <a:latin typeface="Calibri" pitchFamily="34" charset="0"/>
                <a:ea typeface="Calibri" pitchFamily="34" charset="-122"/>
                <a:cs typeface="Calibri" pitchFamily="34" charset="-120"/>
              </a:rPr>
              <a:t>one definition per file</a:t>
            </a:r>
            <a:endParaRPr lang="en-US" sz="1020" dirty="0"/>
          </a:p>
        </p:txBody>
      </p:sp>
      <p:sp>
        <p:nvSpPr>
          <p:cNvPr id="21" name="06-semantic-layer:jn"/>
          <p:cNvSpPr txBox="1"/>
          <p:nvPr/>
        </p:nvSpPr>
        <p:spPr>
          <a:xfrm>
            <a:off x="4078081" y="4099877"/>
            <a:ext cx="3757827" cy="967740"/>
          </a:xfrm>
          <a:prstGeom prst="roundRect">
            <a:avLst>
              <a:gd name="adj" fmla="val 2835"/>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JSON: exchange</a:t>
            </a:r>
            <a:endParaRPr lang="en-US" sz="1170" dirty="0"/>
          </a:p>
        </p:txBody>
      </p:sp>
      <p:sp>
        <p:nvSpPr>
          <p:cNvPr id="22" name="06-semantic-layer:jn1"/>
          <p:cNvSpPr txBox="1"/>
          <p:nvPr/>
        </p:nvSpPr>
        <p:spPr>
          <a:xfrm>
            <a:off x="4215563" y="4438587"/>
            <a:ext cx="1695605" cy="499999"/>
          </a:xfrm>
          <a:prstGeom prst="roundRect">
            <a:avLst>
              <a:gd name="adj" fmla="val 10973"/>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20" b="1" dirty="0">
                <a:solidFill>
                  <a:srgbClr val="0B3C49"/>
                </a:solidFill>
                <a:latin typeface="Calibri" pitchFamily="34" charset="0"/>
                <a:ea typeface="Calibri" pitchFamily="34" charset="-122"/>
                <a:cs typeface="Calibri" pitchFamily="34" charset="-120"/>
              </a:rPr>
              <a:t>api-contract.json</a:t>
            </a:r>
            <a:endParaRPr lang="en-US" sz="1020" dirty="0"/>
          </a:p>
        </p:txBody>
      </p:sp>
      <p:sp>
        <p:nvSpPr>
          <p:cNvPr id="23" name="06-semantic-layer:jn2"/>
          <p:cNvSpPr txBox="1"/>
          <p:nvPr/>
        </p:nvSpPr>
        <p:spPr>
          <a:xfrm>
            <a:off x="6021153" y="4438587"/>
            <a:ext cx="1695605" cy="499999"/>
          </a:xfrm>
          <a:prstGeom prst="roundRect">
            <a:avLst>
              <a:gd name="adj" fmla="val 10973"/>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950" b="1" dirty="0">
                <a:solidFill>
                  <a:srgbClr val="0B3C49"/>
                </a:solidFill>
                <a:latin typeface="Calibri" pitchFamily="34" charset="0"/>
                <a:ea typeface="Calibri" pitchFamily="34" charset="-122"/>
                <a:cs typeface="Calibri" pitchFamily="34" charset="-120"/>
              </a:rPr>
              <a:t>Generated layer</a:t>
            </a:r>
            <a:endParaRPr lang="en-US" sz="950" dirty="0"/>
          </a:p>
          <a:p>
            <a:pPr algn="ctr" indent="0" marL="0">
              <a:buNone/>
            </a:pPr>
            <a:r>
              <a:rPr lang="en-US" sz="950" dirty="0">
                <a:solidFill>
                  <a:srgbClr val="0B3C49"/>
                </a:solidFill>
                <a:latin typeface="Calibri" pitchFamily="34" charset="0"/>
                <a:ea typeface="Calibri" pitchFamily="34" charset="-122"/>
                <a:cs typeface="Calibri" pitchFamily="34" charset="-120"/>
              </a:rPr>
              <a:t>semantic-layer.json</a:t>
            </a:r>
            <a:endParaRPr lang="en-US" sz="950" dirty="0"/>
          </a:p>
        </p:txBody>
      </p:sp>
      <p:sp>
        <p:nvSpPr>
          <p:cNvPr id="24" name="06-semantic-layer:ts"/>
          <p:cNvSpPr txBox="1"/>
          <p:nvPr/>
        </p:nvSpPr>
        <p:spPr>
          <a:xfrm>
            <a:off x="320254" y="5188585"/>
            <a:ext cx="7515654" cy="806450"/>
          </a:xfrm>
          <a:prstGeom prst="roundRect">
            <a:avLst>
              <a:gd name="adj" fmla="val 3402"/>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Tests: integrity</a:t>
            </a:r>
            <a:endParaRPr lang="en-US" sz="1170" dirty="0"/>
          </a:p>
        </p:txBody>
      </p:sp>
      <p:sp>
        <p:nvSpPr>
          <p:cNvPr id="25" name="06-semantic-layer:ts1"/>
          <p:cNvSpPr txBox="1"/>
          <p:nvPr/>
        </p:nvSpPr>
        <p:spPr>
          <a:xfrm>
            <a:off x="457736" y="5511165"/>
            <a:ext cx="3574518" cy="387096"/>
          </a:xfrm>
          <a:prstGeom prst="roundRect">
            <a:avLst>
              <a:gd name="adj" fmla="val 14173"/>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00" b="1" dirty="0">
                <a:solidFill>
                  <a:srgbClr val="1E5631"/>
                </a:solidFill>
                <a:latin typeface="Calibri" pitchFamily="34" charset="0"/>
                <a:ea typeface="Calibri" pitchFamily="34" charset="-122"/>
                <a:cs typeface="Calibri" pitchFamily="34" charset="-120"/>
              </a:rPr>
              <a:t>23 layer tests</a:t>
            </a:r>
            <a:endParaRPr lang="en-US" sz="1100" dirty="0"/>
          </a:p>
        </p:txBody>
      </p:sp>
      <p:sp>
        <p:nvSpPr>
          <p:cNvPr id="26" name="06-semantic-layer:ts2"/>
          <p:cNvSpPr txBox="1"/>
          <p:nvPr/>
        </p:nvSpPr>
        <p:spPr>
          <a:xfrm>
            <a:off x="4142239" y="5511165"/>
            <a:ext cx="3574518" cy="387096"/>
          </a:xfrm>
          <a:prstGeom prst="roundRect">
            <a:avLst>
              <a:gd name="adj" fmla="val 14173"/>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00" b="1" dirty="0">
                <a:solidFill>
                  <a:srgbClr val="1E5631"/>
                </a:solidFill>
                <a:latin typeface="Calibri" pitchFamily="34" charset="0"/>
                <a:ea typeface="Calibri" pitchFamily="34" charset="-122"/>
                <a:cs typeface="Calibri" pitchFamily="34" charset="-120"/>
              </a:rPr>
              <a:t>5 conformance tests: app matches layer</a:t>
            </a:r>
            <a:endParaRPr lang="en-US" sz="1100" dirty="0"/>
          </a:p>
        </p:txBody>
      </p:sp>
      <p:sp>
        <p:nvSpPr>
          <p:cNvPr id="27" name="06-semantic-layer:use"/>
          <p:cNvSpPr txBox="1"/>
          <p:nvPr/>
        </p:nvSpPr>
        <p:spPr>
          <a:xfrm>
            <a:off x="8019217" y="995045"/>
            <a:ext cx="3849481" cy="4999990"/>
          </a:xfrm>
          <a:prstGeom prst="roundRect">
            <a:avLst>
              <a:gd name="adj" fmla="val 713"/>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Used by</a:t>
            </a:r>
            <a:endParaRPr lang="en-US" sz="1170" dirty="0"/>
          </a:p>
        </p:txBody>
      </p:sp>
      <p:sp>
        <p:nvSpPr>
          <p:cNvPr id="28" name="06-semantic-layer:u0"/>
          <p:cNvSpPr txBox="1"/>
          <p:nvPr/>
        </p:nvSpPr>
        <p:spPr>
          <a:xfrm>
            <a:off x="8202525" y="1357948"/>
            <a:ext cx="3482864" cy="725805"/>
          </a:xfrm>
          <a:prstGeom prst="roundRect">
            <a:avLst>
              <a:gd name="adj" fmla="val 755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Policy engine</a:t>
            </a:r>
            <a:endParaRPr lang="en-US" sz="1100" dirty="0"/>
          </a:p>
          <a:p>
            <a:pPr algn="ctr" indent="0" marL="0">
              <a:buNone/>
            </a:pPr>
            <a:r>
              <a:rPr lang="en-US" sz="1100" dirty="0">
                <a:solidFill>
                  <a:srgbClr val="0B3C49"/>
                </a:solidFill>
                <a:latin typeface="Calibri" pitchFamily="34" charset="0"/>
                <a:ea typeface="Calibri" pitchFamily="34" charset="-122"/>
                <a:cs typeface="Calibri" pitchFamily="34" charset="-120"/>
              </a:rPr>
              <a:t>access decisions</a:t>
            </a:r>
            <a:endParaRPr lang="en-US" sz="1100" dirty="0"/>
          </a:p>
        </p:txBody>
      </p:sp>
      <p:sp>
        <p:nvSpPr>
          <p:cNvPr id="29" name="06-semantic-layer:u1"/>
          <p:cNvSpPr txBox="1"/>
          <p:nvPr/>
        </p:nvSpPr>
        <p:spPr>
          <a:xfrm>
            <a:off x="8202525" y="2261172"/>
            <a:ext cx="3482864" cy="725805"/>
          </a:xfrm>
          <a:prstGeom prst="roundRect">
            <a:avLst>
              <a:gd name="adj" fmla="val 755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ETL validation</a:t>
            </a:r>
            <a:endParaRPr lang="en-US" sz="1100" dirty="0"/>
          </a:p>
          <a:p>
            <a:pPr algn="ctr" indent="0" marL="0">
              <a:buNone/>
            </a:pPr>
            <a:r>
              <a:rPr lang="en-US" sz="1100" dirty="0">
                <a:solidFill>
                  <a:srgbClr val="0B3C49"/>
                </a:solidFill>
                <a:latin typeface="Calibri" pitchFamily="34" charset="0"/>
                <a:ea typeface="Calibri" pitchFamily="34" charset="-122"/>
                <a:cs typeface="Calibri" pitchFamily="34" charset="-120"/>
              </a:rPr>
              <a:t>rules and taxonomy</a:t>
            </a:r>
            <a:endParaRPr lang="en-US" sz="1100" dirty="0"/>
          </a:p>
        </p:txBody>
      </p:sp>
      <p:sp>
        <p:nvSpPr>
          <p:cNvPr id="30" name="06-semantic-layer:u2"/>
          <p:cNvSpPr txBox="1"/>
          <p:nvPr/>
        </p:nvSpPr>
        <p:spPr>
          <a:xfrm>
            <a:off x="8202525" y="3164396"/>
            <a:ext cx="3482864" cy="725805"/>
          </a:xfrm>
          <a:prstGeom prst="roundRect">
            <a:avLst>
              <a:gd name="adj" fmla="val 755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AI gateway</a:t>
            </a:r>
            <a:endParaRPr lang="en-US" sz="1100" dirty="0"/>
          </a:p>
          <a:p>
            <a:pPr algn="ctr" indent="0" marL="0">
              <a:buNone/>
            </a:pPr>
            <a:r>
              <a:rPr lang="en-US" sz="1100" dirty="0">
                <a:solidFill>
                  <a:srgbClr val="0B3C49"/>
                </a:solidFill>
                <a:latin typeface="Calibri" pitchFamily="34" charset="0"/>
                <a:ea typeface="Calibri" pitchFamily="34" charset="-122"/>
                <a:cs typeface="Calibri" pitchFamily="34" charset="-120"/>
              </a:rPr>
              <a:t>context and decision rules</a:t>
            </a:r>
            <a:endParaRPr lang="en-US" sz="1100" dirty="0"/>
          </a:p>
        </p:txBody>
      </p:sp>
      <p:sp>
        <p:nvSpPr>
          <p:cNvPr id="31" name="06-semantic-layer:u3"/>
          <p:cNvSpPr txBox="1"/>
          <p:nvPr/>
        </p:nvSpPr>
        <p:spPr>
          <a:xfrm>
            <a:off x="8202525" y="4067620"/>
            <a:ext cx="3482864" cy="725805"/>
          </a:xfrm>
          <a:prstGeom prst="roundRect">
            <a:avLst>
              <a:gd name="adj" fmla="val 755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Generated policy (Rego)</a:t>
            </a:r>
            <a:endParaRPr lang="en-US" sz="1100" dirty="0"/>
          </a:p>
        </p:txBody>
      </p:sp>
      <p:sp>
        <p:nvSpPr>
          <p:cNvPr id="32" name="06-semantic-layer:u4"/>
          <p:cNvSpPr txBox="1"/>
          <p:nvPr/>
        </p:nvSpPr>
        <p:spPr>
          <a:xfrm>
            <a:off x="8202525" y="4970844"/>
            <a:ext cx="3482864" cy="725805"/>
          </a:xfrm>
          <a:prstGeom prst="roundRect">
            <a:avLst>
              <a:gd name="adj" fmla="val 755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A second model</a:t>
            </a:r>
            <a:endParaRPr lang="en-US" sz="1100" dirty="0"/>
          </a:p>
          <a:p>
            <a:pPr algn="ctr" indent="0" marL="0">
              <a:buNone/>
            </a:pPr>
            <a:r>
              <a:rPr lang="en-US" sz="1100" dirty="0">
                <a:solidFill>
                  <a:srgbClr val="0B3C49"/>
                </a:solidFill>
                <a:latin typeface="Calibri" pitchFamily="34" charset="0"/>
                <a:ea typeface="Calibri" pitchFamily="34" charset="-122"/>
                <a:cs typeface="Calibri" pitchFamily="34" charset="-120"/>
              </a:rPr>
              <a:t>rebuild from the layer (Stage Q)</a:t>
            </a:r>
            <a:endParaRPr lang="en-US" sz="1100" dirty="0"/>
          </a:p>
        </p:txBody>
      </p:sp>
      <p:sp>
        <p:nvSpPr>
          <p:cNvPr id="33" name="06-semantic-layer:qn"/>
          <p:cNvSpPr txBox="1"/>
          <p:nvPr/>
        </p:nvSpPr>
        <p:spPr>
          <a:xfrm>
            <a:off x="320254" y="6116003"/>
            <a:ext cx="11548443" cy="564515"/>
          </a:xfrm>
          <a:prstGeom prst="roundRect">
            <a:avLst>
              <a:gd name="adj" fmla="val 9719"/>
            </a:avLst>
          </a:prstGeom>
          <a:solidFill>
            <a:srgbClr val="FFFFFF"/>
          </a:solidFill>
          <a:ln/>
        </p:spPr>
        <p:txBody>
          <a:bodyPr wrap="square" lIns="25400" tIns="50800" rIns="50800" bIns="25400" rtlCol="0" anchor="ctr"/>
          <a:lstStyle/>
          <a:p>
            <a:pPr algn="l" indent="0" marL="0">
              <a:buNone/>
            </a:pPr>
            <a:r>
              <a:rPr lang="en-US" sz="1020" dirty="0">
                <a:solidFill>
                  <a:srgbClr val="41545A"/>
                </a:solidFill>
                <a:latin typeface="Calibri" pitchFamily="34" charset="0"/>
                <a:ea typeface="Calibri" pitchFamily="34" charset="-122"/>
                <a:cs typeface="Calibri" pitchFamily="34" charset="-120"/>
              </a:rPr>
              <a:t>Stage Q on v1.0: a second model rebuilt a four-behaviour subset; safety gates 5 of 5, fidelity gates 0 of 2. The 8 gaps it exposed are specified in v2.0 but not yet</a:t>
            </a:r>
            <a:endParaRPr lang="en-US" sz="1020" dirty="0"/>
          </a:p>
          <a:p>
            <a:pPr algn="l" indent="0" marL="0">
              <a:buNone/>
            </a:pPr>
            <a:r>
              <a:rPr lang="en-US" sz="1020" dirty="0">
                <a:solidFill>
                  <a:srgbClr val="41545A"/>
                </a:solidFill>
                <a:latin typeface="Calibri" pitchFamily="34" charset="0"/>
                <a:ea typeface="Calibri" pitchFamily="34" charset="-122"/>
                <a:cs typeface="Calibri" pitchFamily="34" charset="-120"/>
              </a:rPr>
              <a:t>re-tested.</a:t>
            </a:r>
            <a:endParaRPr lang="en-US" sz="1020" dirty="0"/>
          </a:p>
        </p:txBody>
      </p:sp>
      <p:sp>
        <p:nvSpPr>
          <p:cNvPr id="34" name="06-semantic-layer:edge:ym-&gt;use"/>
          <p:cNvSpPr/>
          <p:nvPr/>
        </p:nvSpPr>
        <p:spPr>
          <a:xfrm>
            <a:off x="7835908" y="3335363"/>
            <a:ext cx="183309" cy="14516"/>
          </a:xfrm>
          <a:prstGeom prst="line">
            <a:avLst/>
          </a:prstGeom>
          <a:noFill/>
          <a:ln w="19050">
            <a:solidFill>
              <a:srgbClr val="41545A"/>
            </a:solidFill>
            <a:prstDash val="solid"/>
            <a:tailEnd type="triangle"/>
          </a:ln>
        </p:spPr>
      </p:sp>
      <p:sp>
        <p:nvSpPr>
          <p:cNvPr id="25" name="Slide Number Placeholder 0"/>
          <p:cNvSpPr>
            <a:spLocks noGrp="1"/>
          </p:cNvSpPr>
          <p:nvPr>
            <p:ph type="sldNum" sz="quarter" idx="4294967295"/>
          </p:nvPr>
        </p:nvSpPr>
        <p:spPr>
          <a:xfrm>
            <a:off x="11247120" y="3657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2800" b="1" dirty="0">
                <a:solidFill>
                  <a:schemeClr val="tx2"/>
                </a:solidFill>
              </a:rPr>
              <a:t>Second-model test: safety held on this harness; AI-output fidelity did not</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4206240"/>
                <a:gridCol w="3291840"/>
                <a:gridCol w="3776472"/>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Dimension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 A (built the system)</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 B (blind rebuild)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r>
              <a:tr h="45720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Scope</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Full system</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Four-behaviour subset</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5720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Evaluation cases passing every strict check</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192 of 192</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b="1" dirty="0">
                          <a:solidFill>
                            <a:srgbClr val="1B2A2F"/>
                          </a:solidFill>
                          <a:latin typeface="Calibri" pitchFamily="34" charset="0"/>
                          <a:ea typeface="Calibri" pitchFamily="34" charset="-122"/>
                          <a:cs typeface="Calibri" pitchFamily="34" charset="-120"/>
                        </a:rPr>
                        <a:t>8 of 192</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r>
              <a:tr h="45720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Safety gates (schema, claims, leaks, injection, approval)</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b="1" dirty="0">
                          <a:solidFill>
                            <a:srgbClr val="1B2A2F"/>
                          </a:solidFill>
                          <a:latin typeface="Calibri" pitchFamily="34" charset="0"/>
                          <a:ea typeface="Calibri" pitchFamily="34" charset="-122"/>
                          <a:cs typeface="Calibri" pitchFamily="34" charset="-120"/>
                        </a:rPr>
                        <a:t>PASS 5 of 5</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indent="0" marL="0">
                        <a:buNone/>
                      </a:pPr>
                      <a:r>
                        <a:rPr lang="en-US" sz="1300" b="1" dirty="0">
                          <a:solidFill>
                            <a:srgbClr val="1B2A2F"/>
                          </a:solidFill>
                          <a:latin typeface="Calibri" pitchFamily="34" charset="0"/>
                          <a:ea typeface="Calibri" pitchFamily="34" charset="-122"/>
                          <a:cs typeface="Calibri" pitchFamily="34" charset="-120"/>
                        </a:rPr>
                        <a:t>PASS 5 of 5</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45720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Fidelity gates (abstention, recommendation class)</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b="1" dirty="0">
                          <a:solidFill>
                            <a:srgbClr val="1B2A2F"/>
                          </a:solidFill>
                          <a:latin typeface="Calibri" pitchFamily="34" charset="0"/>
                          <a:ea typeface="Calibri" pitchFamily="34" charset="-122"/>
                          <a:cs typeface="Calibri" pitchFamily="34" charset="-120"/>
                        </a:rPr>
                        <a:t>PASS 2 of 2</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indent="0" marL="0">
                        <a:buNone/>
                      </a:pPr>
                      <a:r>
                        <a:rPr lang="en-US" sz="1300" b="1" dirty="0">
                          <a:solidFill>
                            <a:srgbClr val="1B2A2F"/>
                          </a:solidFill>
                          <a:latin typeface="Calibri" pitchFamily="34" charset="0"/>
                          <a:ea typeface="Calibri" pitchFamily="34" charset="-122"/>
                          <a:cs typeface="Calibri" pitchFamily="34" charset="-120"/>
                        </a:rPr>
                        <a:t>0 of 2 (0.875; 0.1667 vs 1.0)</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r>
              <a:tr h="45720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Black-box API checks</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24 of 24</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21 of 24 (24 with an ai_agent token, post hoc)</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5720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Original attacks that succeed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 of 12</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 of 12 (3 AI-path attacks reached the AI only in a post-hoc re-run)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5720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Audit chain valid; tampering detected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bl>
          </a:graphicData>
        </a:graphic>
      </p:graphicFrame>
      <p:sp>
        <p:nvSpPr>
          <p:cNvPr id="5" name="Text 1"/>
          <p:cNvSpPr txBox="1"/>
          <p:nvPr/>
        </p:nvSpPr>
        <p:spPr>
          <a:xfrm>
            <a:off x="457200" y="5394960"/>
            <a:ext cx="11247120" cy="457200"/>
          </a:xfrm>
          <a:prstGeom prst="rect">
            <a:avLst/>
          </a:prstGeom>
          <a:noFill/>
          <a:ln/>
        </p:spPr>
        <p:txBody>
          <a:bodyPr wrap="square" lIns="0" tIns="0" rIns="0" bIns="0" rtlCol="0" anchor="ctr"/>
          <a:lstStyle/>
          <a:p>
            <a:pPr indent="0" marL="0">
              <a:buNone/>
            </a:pPr>
            <a:r>
              <a:rPr lang="en-US" sz="1200" dirty="0">
                <a:solidFill>
                  <a:srgbClr val="5F6E71"/>
                </a:solidFill>
              </a:rPr>
              <a:t>Source: docs/40-scale/model-comparison.md; evidence/40-scale/EVD-Q-06-comparison.csv. Models: claude-sonnet-5-5 (A) and claude-haiku-5-5 (B).</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0607040" cy="594360"/>
          </a:xfrm>
          <a:prstGeom prst="rect">
            <a:avLst/>
          </a:prstGeom>
          <a:noFill/>
          <a:ln/>
        </p:spPr>
        <p:txBody>
          <a:bodyPr wrap="square" lIns="0" tIns="0" rIns="0" bIns="0" rtlCol="0" anchor="ctr"/>
          <a:lstStyle/>
          <a:p>
            <a:pPr algn="l" indent="0" marL="0">
              <a:buNone/>
            </a:pPr>
            <a:r>
              <a:rPr lang="en-US" sz="2600" b="1" dirty="0">
                <a:solidFill>
                  <a:schemeClr val="tx2"/>
                </a:solidFill>
              </a:rPr>
              <a:t>How any claim traces to proof</a:t>
            </a:r>
            <a:endParaRPr lang="en-US" sz="2600" dirty="0"/>
          </a:p>
        </p:txBody>
      </p:sp>
      <p:sp>
        <p:nvSpPr>
          <p:cNvPr id="4" name="05-evidence-chain:r0"/>
          <p:cNvSpPr txBox="1"/>
          <p:nvPr/>
        </p:nvSpPr>
        <p:spPr>
          <a:xfrm>
            <a:off x="320254" y="1236980"/>
            <a:ext cx="1466469" cy="967740"/>
          </a:xfrm>
          <a:prstGeom prst="roundRect">
            <a:avLst>
              <a:gd name="adj" fmla="val 566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Claim</a:t>
            </a:r>
            <a:endParaRPr lang="en-US" sz="1100" dirty="0"/>
          </a:p>
          <a:p>
            <a:pPr algn="ctr" indent="0" marL="0">
              <a:buNone/>
            </a:pPr>
            <a:r>
              <a:rPr lang="en-US" sz="1100" dirty="0">
                <a:solidFill>
                  <a:srgbClr val="0B3C49"/>
                </a:solidFill>
                <a:latin typeface="Calibri" pitchFamily="34" charset="0"/>
                <a:ea typeface="Calibri" pitchFamily="34" charset="-122"/>
                <a:cs typeface="Calibri" pitchFamily="34" charset="-120"/>
              </a:rPr>
              <a:t>in a document</a:t>
            </a:r>
            <a:endParaRPr lang="en-US" sz="1100" dirty="0"/>
          </a:p>
        </p:txBody>
      </p:sp>
      <p:sp>
        <p:nvSpPr>
          <p:cNvPr id="5" name="05-evidence-chain:r1"/>
          <p:cNvSpPr txBox="1"/>
          <p:nvPr/>
        </p:nvSpPr>
        <p:spPr>
          <a:xfrm>
            <a:off x="1997528" y="1236980"/>
            <a:ext cx="1466469" cy="967740"/>
          </a:xfrm>
          <a:prstGeom prst="roundRect">
            <a:avLst>
              <a:gd name="adj" fmla="val 566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Citation</a:t>
            </a:r>
            <a:endParaRPr lang="en-US" sz="1100" dirty="0"/>
          </a:p>
          <a:p>
            <a:pPr algn="ctr" indent="0" marL="0">
              <a:buNone/>
            </a:pPr>
            <a:r>
              <a:rPr lang="en-US" sz="1100" dirty="0">
                <a:solidFill>
                  <a:srgbClr val="0B3C49"/>
                </a:solidFill>
                <a:latin typeface="Calibri" pitchFamily="34" charset="0"/>
                <a:ea typeface="Calibri" pitchFamily="34" charset="-122"/>
                <a:cs typeface="Calibri" pitchFamily="34" charset="-120"/>
              </a:rPr>
              <a:t>path + SHA-256</a:t>
            </a:r>
            <a:endParaRPr lang="en-US" sz="1100" dirty="0"/>
          </a:p>
        </p:txBody>
      </p:sp>
      <p:sp>
        <p:nvSpPr>
          <p:cNvPr id="6" name="05-evidence-chain:r2"/>
          <p:cNvSpPr txBox="1"/>
          <p:nvPr/>
        </p:nvSpPr>
        <p:spPr>
          <a:xfrm>
            <a:off x="3674802" y="1236980"/>
            <a:ext cx="1466469" cy="967740"/>
          </a:xfrm>
          <a:prstGeom prst="roundRect">
            <a:avLst>
              <a:gd name="adj" fmla="val 566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Evidence file</a:t>
            </a:r>
            <a:endParaRPr lang="en-US" sz="1100" dirty="0"/>
          </a:p>
          <a:p>
            <a:pPr algn="ctr" indent="0" marL="0">
              <a:buNone/>
            </a:pPr>
            <a:r>
              <a:rPr lang="en-US" sz="1100" dirty="0">
                <a:solidFill>
                  <a:srgbClr val="0B3C49"/>
                </a:solidFill>
                <a:latin typeface="Calibri" pitchFamily="34" charset="0"/>
                <a:ea typeface="Calibri" pitchFamily="34" charset="-122"/>
                <a:cs typeface="Calibri" pitchFamily="34" charset="-120"/>
              </a:rPr>
              <a:t>evidence/&lt;stage&gt;/</a:t>
            </a:r>
            <a:endParaRPr lang="en-US" sz="1100" dirty="0"/>
          </a:p>
          <a:p>
            <a:pPr algn="ctr" indent="0" marL="0">
              <a:buNone/>
            </a:pPr>
            <a:r>
              <a:rPr lang="en-US" sz="1100" dirty="0">
                <a:solidFill>
                  <a:srgbClr val="0B3C49"/>
                </a:solidFill>
                <a:latin typeface="Calibri" pitchFamily="34" charset="0"/>
                <a:ea typeface="Calibri" pitchFamily="34" charset="-122"/>
                <a:cs typeface="Calibri" pitchFamily="34" charset="-120"/>
              </a:rPr>
              <a:t>EVD-…</a:t>
            </a:r>
            <a:endParaRPr lang="en-US" sz="1100" dirty="0"/>
          </a:p>
        </p:txBody>
      </p:sp>
      <p:sp>
        <p:nvSpPr>
          <p:cNvPr id="7" name="05-evidence-chain:r3"/>
          <p:cNvSpPr txBox="1"/>
          <p:nvPr/>
        </p:nvSpPr>
        <p:spPr>
          <a:xfrm>
            <a:off x="5352076" y="1236980"/>
            <a:ext cx="1466469" cy="967740"/>
          </a:xfrm>
          <a:prstGeom prst="roundRect">
            <a:avLst>
              <a:gd name="adj" fmla="val 566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MANIFEST row</a:t>
            </a:r>
            <a:endParaRPr lang="en-US" sz="1100" dirty="0"/>
          </a:p>
          <a:p>
            <a:pPr algn="ctr" indent="0" marL="0">
              <a:buNone/>
            </a:pPr>
            <a:r>
              <a:rPr lang="en-US" sz="1100" dirty="0">
                <a:solidFill>
                  <a:srgbClr val="0B3C49"/>
                </a:solidFill>
                <a:latin typeface="Calibri" pitchFamily="34" charset="0"/>
                <a:ea typeface="Calibri" pitchFamily="34" charset="-122"/>
                <a:cs typeface="Calibri" pitchFamily="34" charset="-120"/>
              </a:rPr>
              <a:t>step, command,</a:t>
            </a:r>
            <a:endParaRPr lang="en-US" sz="1100" dirty="0"/>
          </a:p>
          <a:p>
            <a:pPr algn="ctr" indent="0" marL="0">
              <a:buNone/>
            </a:pPr>
            <a:r>
              <a:rPr lang="en-US" sz="1100" dirty="0">
                <a:solidFill>
                  <a:srgbClr val="0B3C49"/>
                </a:solidFill>
                <a:latin typeface="Calibri" pitchFamily="34" charset="0"/>
                <a:ea typeface="Calibri" pitchFamily="34" charset="-122"/>
                <a:cs typeface="Calibri" pitchFamily="34" charset="-120"/>
              </a:rPr>
              <a:t>time, operator</a:t>
            </a:r>
            <a:endParaRPr lang="en-US" sz="1100" dirty="0"/>
          </a:p>
        </p:txBody>
      </p:sp>
      <p:sp>
        <p:nvSpPr>
          <p:cNvPr id="8" name="05-evidence-chain:r4"/>
          <p:cNvSpPr txBox="1"/>
          <p:nvPr/>
        </p:nvSpPr>
        <p:spPr>
          <a:xfrm>
            <a:off x="7029350" y="1236980"/>
            <a:ext cx="1466469" cy="967740"/>
          </a:xfrm>
          <a:prstGeom prst="roundRect">
            <a:avLst>
              <a:gd name="adj" fmla="val 566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Evidence index</a:t>
            </a:r>
            <a:endParaRPr lang="en-US" sz="1100" dirty="0"/>
          </a:p>
          <a:p>
            <a:pPr algn="ctr" indent="0" marL="0">
              <a:buNone/>
            </a:pPr>
            <a:r>
              <a:rPr lang="en-US" sz="1100" dirty="0">
                <a:solidFill>
                  <a:srgbClr val="0B3C49"/>
                </a:solidFill>
                <a:latin typeface="Calibri" pitchFamily="34" charset="0"/>
                <a:ea typeface="Calibri" pitchFamily="34" charset="-122"/>
                <a:cs typeface="Calibri" pitchFamily="34" charset="-120"/>
              </a:rPr>
              <a:t>146 rows</a:t>
            </a:r>
            <a:endParaRPr lang="en-US" sz="1100" dirty="0"/>
          </a:p>
        </p:txBody>
      </p:sp>
      <p:sp>
        <p:nvSpPr>
          <p:cNvPr id="9" name="05-evidence-chain:r5"/>
          <p:cNvSpPr txBox="1"/>
          <p:nvPr/>
        </p:nvSpPr>
        <p:spPr>
          <a:xfrm>
            <a:off x="8706624" y="1236980"/>
            <a:ext cx="1466469" cy="967740"/>
          </a:xfrm>
          <a:prstGeom prst="roundRect">
            <a:avLst>
              <a:gd name="adj" fmla="val 566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Rubric matrix</a:t>
            </a:r>
            <a:endParaRPr lang="en-US" sz="1100" dirty="0"/>
          </a:p>
          <a:p>
            <a:pPr algn="ctr" indent="0" marL="0">
              <a:buNone/>
            </a:pPr>
            <a:r>
              <a:rPr lang="en-US" sz="1100" dirty="0">
                <a:solidFill>
                  <a:srgbClr val="0B3C49"/>
                </a:solidFill>
                <a:latin typeface="Calibri" pitchFamily="34" charset="0"/>
                <a:ea typeface="Calibri" pitchFamily="34" charset="-122"/>
                <a:cs typeface="Calibri" pitchFamily="34" charset="-120"/>
              </a:rPr>
              <a:t>36 sub-dimensions</a:t>
            </a:r>
            <a:endParaRPr lang="en-US" sz="1100" dirty="0"/>
          </a:p>
        </p:txBody>
      </p:sp>
      <p:sp>
        <p:nvSpPr>
          <p:cNvPr id="10" name="05-evidence-chain:r6"/>
          <p:cNvSpPr txBox="1"/>
          <p:nvPr/>
        </p:nvSpPr>
        <p:spPr>
          <a:xfrm>
            <a:off x="10383898" y="1236980"/>
            <a:ext cx="1466469" cy="967740"/>
          </a:xfrm>
          <a:prstGeom prst="roundRect">
            <a:avLst>
              <a:gd name="adj" fmla="val 5669"/>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100" b="1" dirty="0">
                <a:solidFill>
                  <a:srgbClr val="1B1B1B"/>
                </a:solidFill>
                <a:latin typeface="Calibri" pitchFamily="34" charset="0"/>
                <a:ea typeface="Calibri" pitchFamily="34" charset="-122"/>
                <a:cs typeface="Calibri" pitchFamily="34" charset="-120"/>
              </a:rPr>
              <a:t>Readiness</a:t>
            </a:r>
            <a:endParaRPr lang="en-US" sz="1100" dirty="0"/>
          </a:p>
          <a:p>
            <a:pPr algn="ctr" indent="0" marL="0">
              <a:buNone/>
            </a:pPr>
            <a:r>
              <a:rPr lang="en-US" sz="1100" dirty="0">
                <a:solidFill>
                  <a:srgbClr val="1B1B1B"/>
                </a:solidFill>
                <a:latin typeface="Calibri" pitchFamily="34" charset="0"/>
                <a:ea typeface="Calibri" pitchFamily="34" charset="-122"/>
                <a:cs typeface="Calibri" pitchFamily="34" charset="-120"/>
              </a:rPr>
              <a:t>decision</a:t>
            </a:r>
            <a:endParaRPr lang="en-US" sz="1100" dirty="0"/>
          </a:p>
        </p:txBody>
      </p:sp>
      <p:sp>
        <p:nvSpPr>
          <p:cNvPr id="11" name="05-evidence-chain:ex"/>
          <p:cNvSpPr txBox="1"/>
          <p:nvPr/>
        </p:nvSpPr>
        <p:spPr>
          <a:xfrm>
            <a:off x="320254" y="2486978"/>
            <a:ext cx="11548443" cy="1814513"/>
          </a:xfrm>
          <a:prstGeom prst="roundRect">
            <a:avLst>
              <a:gd name="adj" fmla="val 1512"/>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Example: one finding, end to end</a:t>
            </a:r>
            <a:endParaRPr lang="en-US" sz="1170" dirty="0"/>
          </a:p>
        </p:txBody>
      </p:sp>
      <p:sp>
        <p:nvSpPr>
          <p:cNvPr id="12" name="05-evidence-chain:x0"/>
          <p:cNvSpPr txBox="1"/>
          <p:nvPr/>
        </p:nvSpPr>
        <p:spPr>
          <a:xfrm>
            <a:off x="503563" y="2890203"/>
            <a:ext cx="2566321" cy="1129030"/>
          </a:xfrm>
          <a:prstGeom prst="roundRect">
            <a:avLst>
              <a:gd name="adj" fmla="val 4859"/>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70" b="1" dirty="0">
                <a:solidFill>
                  <a:srgbClr val="7B241C"/>
                </a:solidFill>
                <a:latin typeface="Calibri" pitchFamily="34" charset="0"/>
                <a:ea typeface="Calibri" pitchFamily="34" charset="-122"/>
                <a:cs typeface="Calibri" pitchFamily="34" charset="-120"/>
              </a:rPr>
              <a:t>F-17 (severity S1)</a:t>
            </a:r>
            <a:endParaRPr lang="en-US" sz="1170" dirty="0"/>
          </a:p>
          <a:p>
            <a:pPr algn="ctr" indent="0" marL="0">
              <a:buNone/>
            </a:pPr>
            <a:r>
              <a:rPr lang="en-US" sz="1170" dirty="0">
                <a:solidFill>
                  <a:srgbClr val="7B241C"/>
                </a:solidFill>
                <a:latin typeface="Calibri" pitchFamily="34" charset="0"/>
                <a:ea typeface="Calibri" pitchFamily="34" charset="-122"/>
                <a:cs typeface="Calibri" pitchFamily="34" charset="-120"/>
              </a:rPr>
              <a:t>role header trusted</a:t>
            </a:r>
            <a:endParaRPr lang="en-US" sz="1170" dirty="0"/>
          </a:p>
        </p:txBody>
      </p:sp>
      <p:sp>
        <p:nvSpPr>
          <p:cNvPr id="13" name="05-evidence-chain:x1"/>
          <p:cNvSpPr txBox="1"/>
          <p:nvPr/>
        </p:nvSpPr>
        <p:spPr>
          <a:xfrm>
            <a:off x="3372343" y="2890203"/>
            <a:ext cx="2566321" cy="1129030"/>
          </a:xfrm>
          <a:prstGeom prst="roundRect">
            <a:avLst>
              <a:gd name="adj" fmla="val 485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70" b="1" dirty="0">
                <a:solidFill>
                  <a:srgbClr val="0B3C49"/>
                </a:solidFill>
                <a:latin typeface="Calibri" pitchFamily="34" charset="0"/>
                <a:ea typeface="Calibri" pitchFamily="34" charset="-122"/>
                <a:cs typeface="Calibri" pitchFamily="34" charset="-120"/>
              </a:rPr>
              <a:t>Fix</a:t>
            </a:r>
            <a:endParaRPr lang="en-US" sz="1170" dirty="0"/>
          </a:p>
          <a:p>
            <a:pPr algn="ctr" indent="0" marL="0">
              <a:buNone/>
            </a:pPr>
            <a:r>
              <a:rPr lang="en-US" sz="1170" dirty="0">
                <a:solidFill>
                  <a:srgbClr val="0B3C49"/>
                </a:solidFill>
                <a:latin typeface="Calibri" pitchFamily="34" charset="0"/>
                <a:ea typeface="Calibri" pitchFamily="34" charset="-122"/>
                <a:cs typeface="Calibri" pitchFamily="34" charset="-120"/>
              </a:rPr>
              <a:t>signed token + policy engine</a:t>
            </a:r>
            <a:endParaRPr lang="en-US" sz="1170" dirty="0"/>
          </a:p>
        </p:txBody>
      </p:sp>
      <p:sp>
        <p:nvSpPr>
          <p:cNvPr id="14" name="05-evidence-chain:x2"/>
          <p:cNvSpPr txBox="1"/>
          <p:nvPr/>
        </p:nvSpPr>
        <p:spPr>
          <a:xfrm>
            <a:off x="6241123" y="2890203"/>
            <a:ext cx="2566321" cy="1129030"/>
          </a:xfrm>
          <a:prstGeom prst="roundRect">
            <a:avLst>
              <a:gd name="adj" fmla="val 485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70" b="1" dirty="0">
                <a:solidFill>
                  <a:srgbClr val="0B3C49"/>
                </a:solidFill>
                <a:latin typeface="Calibri" pitchFamily="34" charset="0"/>
                <a:ea typeface="Calibri" pitchFamily="34" charset="-122"/>
                <a:cs typeface="Calibri" pitchFamily="34" charset="-120"/>
              </a:rPr>
              <a:t>Tests</a:t>
            </a:r>
            <a:endParaRPr lang="en-US" sz="1170" dirty="0"/>
          </a:p>
          <a:p>
            <a:pPr algn="ctr" indent="0" marL="0">
              <a:buNone/>
            </a:pPr>
            <a:r>
              <a:rPr lang="en-US" sz="1170" dirty="0">
                <a:solidFill>
                  <a:srgbClr val="0B3C49"/>
                </a:solidFill>
                <a:latin typeface="Calibri" pitchFamily="34" charset="0"/>
                <a:ea typeface="Calibri" pitchFamily="34" charset="-122"/>
                <a:cs typeface="Calibri" pitchFamily="34" charset="-120"/>
              </a:rPr>
              <a:t>unit tests; red team RT-02,</a:t>
            </a:r>
            <a:endParaRPr lang="en-US" sz="1170" dirty="0"/>
          </a:p>
          <a:p>
            <a:pPr algn="ctr" indent="0" marL="0">
              <a:buNone/>
            </a:pPr>
            <a:r>
              <a:rPr lang="en-US" sz="1170" dirty="0">
                <a:solidFill>
                  <a:srgbClr val="0B3C49"/>
                </a:solidFill>
                <a:latin typeface="Calibri" pitchFamily="34" charset="0"/>
                <a:ea typeface="Calibri" pitchFamily="34" charset="-122"/>
                <a:cs typeface="Calibri" pitchFamily="34" charset="-120"/>
              </a:rPr>
              <a:t>RT-11</a:t>
            </a:r>
            <a:endParaRPr lang="en-US" sz="1170" dirty="0"/>
          </a:p>
        </p:txBody>
      </p:sp>
      <p:sp>
        <p:nvSpPr>
          <p:cNvPr id="15" name="05-evidence-chain:x3"/>
          <p:cNvSpPr txBox="1"/>
          <p:nvPr/>
        </p:nvSpPr>
        <p:spPr>
          <a:xfrm>
            <a:off x="9109903" y="2890203"/>
            <a:ext cx="2566321" cy="1129030"/>
          </a:xfrm>
          <a:prstGeom prst="roundRect">
            <a:avLst>
              <a:gd name="adj" fmla="val 4859"/>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70" b="1" dirty="0">
                <a:solidFill>
                  <a:srgbClr val="1E5631"/>
                </a:solidFill>
                <a:latin typeface="Calibri" pitchFamily="34" charset="0"/>
                <a:ea typeface="Calibri" pitchFamily="34" charset="-122"/>
                <a:cs typeface="Calibri" pitchFamily="34" charset="-120"/>
              </a:rPr>
              <a:t>Proof</a:t>
            </a:r>
            <a:endParaRPr lang="en-US" sz="1170" dirty="0"/>
          </a:p>
          <a:p>
            <a:pPr algn="ctr" indent="0" marL="0">
              <a:buNone/>
            </a:pPr>
            <a:r>
              <a:rPr lang="en-US" sz="1170" dirty="0">
                <a:solidFill>
                  <a:srgbClr val="1E5631"/>
                </a:solidFill>
                <a:latin typeface="Calibri" pitchFamily="34" charset="0"/>
                <a:ea typeface="Calibri" pitchFamily="34" charset="-122"/>
                <a:cs typeface="Calibri" pitchFamily="34" charset="-120"/>
              </a:rPr>
              <a:t>baseline answered 200; now 401</a:t>
            </a:r>
            <a:endParaRPr lang="en-US" sz="1170" dirty="0"/>
          </a:p>
        </p:txBody>
      </p:sp>
      <p:sp>
        <p:nvSpPr>
          <p:cNvPr id="16" name="05-evidence-chain:ck"/>
          <p:cNvSpPr txBox="1"/>
          <p:nvPr/>
        </p:nvSpPr>
        <p:spPr>
          <a:xfrm>
            <a:off x="320254" y="4462780"/>
            <a:ext cx="11548443" cy="2177415"/>
          </a:xfrm>
          <a:prstGeom prst="roundRect">
            <a:avLst>
              <a:gd name="adj" fmla="val 1260"/>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70" b="1" dirty="0">
                <a:solidFill>
                  <a:srgbClr val="0B3C49"/>
                </a:solidFill>
                <a:latin typeface="Calibri" pitchFamily="34" charset="0"/>
                <a:ea typeface="Calibri" pitchFamily="34" charset="-122"/>
                <a:cs typeface="Calibri" pitchFamily="34" charset="-120"/>
              </a:rPr>
              <a:t>Automatic checks, re-runnable from the repository</a:t>
            </a:r>
            <a:endParaRPr lang="en-US" sz="1170" dirty="0"/>
          </a:p>
        </p:txBody>
      </p:sp>
      <p:sp>
        <p:nvSpPr>
          <p:cNvPr id="17" name="05-evidence-chain:k0"/>
          <p:cNvSpPr txBox="1"/>
          <p:nvPr/>
        </p:nvSpPr>
        <p:spPr>
          <a:xfrm>
            <a:off x="503563" y="4866005"/>
            <a:ext cx="2566321" cy="1048385"/>
          </a:xfrm>
          <a:prstGeom prst="roundRect">
            <a:avLst>
              <a:gd name="adj" fmla="val 5233"/>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70" b="1" dirty="0">
                <a:solidFill>
                  <a:srgbClr val="1E5631"/>
                </a:solidFill>
                <a:latin typeface="Calibri" pitchFamily="34" charset="0"/>
                <a:ea typeface="Calibri" pitchFamily="34" charset="-122"/>
                <a:cs typeface="Calibri" pitchFamily="34" charset="-120"/>
              </a:rPr>
              <a:t>Manifest check</a:t>
            </a:r>
            <a:endParaRPr lang="en-US" sz="1170" dirty="0"/>
          </a:p>
          <a:p>
            <a:pPr algn="ctr" indent="0" marL="0">
              <a:buNone/>
            </a:pPr>
            <a:r>
              <a:rPr lang="en-US" sz="1170" dirty="0">
                <a:solidFill>
                  <a:srgbClr val="1E5631"/>
                </a:solidFill>
                <a:latin typeface="Calibri" pitchFamily="34" charset="0"/>
                <a:ea typeface="Calibri" pitchFamily="34" charset="-122"/>
                <a:cs typeface="Calibri" pitchFamily="34" charset="-120"/>
              </a:rPr>
              <a:t>146 of 146 hashes match</a:t>
            </a:r>
            <a:endParaRPr lang="en-US" sz="1170" dirty="0"/>
          </a:p>
        </p:txBody>
      </p:sp>
      <p:sp>
        <p:nvSpPr>
          <p:cNvPr id="18" name="05-evidence-chain:k1"/>
          <p:cNvSpPr txBox="1"/>
          <p:nvPr/>
        </p:nvSpPr>
        <p:spPr>
          <a:xfrm>
            <a:off x="3372343" y="4866005"/>
            <a:ext cx="2566321" cy="1048385"/>
          </a:xfrm>
          <a:prstGeom prst="roundRect">
            <a:avLst>
              <a:gd name="adj" fmla="val 5233"/>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70" b="1" dirty="0">
                <a:solidFill>
                  <a:srgbClr val="1E5631"/>
                </a:solidFill>
                <a:latin typeface="Calibri" pitchFamily="34" charset="0"/>
                <a:ea typeface="Calibri" pitchFamily="34" charset="-122"/>
                <a:cs typeface="Calibri" pitchFamily="34" charset="-120"/>
              </a:rPr>
              <a:t>Citation check</a:t>
            </a:r>
            <a:endParaRPr lang="en-US" sz="1170" dirty="0"/>
          </a:p>
          <a:p>
            <a:pPr algn="ctr" indent="0" marL="0">
              <a:buNone/>
            </a:pPr>
            <a:r>
              <a:rPr lang="en-US" sz="1170" dirty="0">
                <a:solidFill>
                  <a:srgbClr val="1E5631"/>
                </a:solidFill>
                <a:latin typeface="Calibri" pitchFamily="34" charset="0"/>
                <a:ea typeface="Calibri" pitchFamily="34" charset="-122"/>
                <a:cs typeface="Calibri" pitchFamily="34" charset="-120"/>
              </a:rPr>
              <a:t>203 of 203 match</a:t>
            </a:r>
            <a:endParaRPr lang="en-US" sz="1170" dirty="0"/>
          </a:p>
        </p:txBody>
      </p:sp>
      <p:sp>
        <p:nvSpPr>
          <p:cNvPr id="19" name="05-evidence-chain:k2"/>
          <p:cNvSpPr txBox="1"/>
          <p:nvPr/>
        </p:nvSpPr>
        <p:spPr>
          <a:xfrm>
            <a:off x="6241123" y="4866005"/>
            <a:ext cx="2566321" cy="1048385"/>
          </a:xfrm>
          <a:prstGeom prst="roundRect">
            <a:avLst>
              <a:gd name="adj" fmla="val 5233"/>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70" b="1" dirty="0">
                <a:solidFill>
                  <a:srgbClr val="1E5631"/>
                </a:solidFill>
                <a:latin typeface="Calibri" pitchFamily="34" charset="0"/>
                <a:ea typeface="Calibri" pitchFamily="34" charset="-122"/>
                <a:cs typeface="Calibri" pitchFamily="34" charset="-120"/>
              </a:rPr>
              <a:t>Traceability check</a:t>
            </a:r>
            <a:endParaRPr lang="en-US" sz="1170" dirty="0"/>
          </a:p>
          <a:p>
            <a:pPr algn="ctr" indent="0" marL="0">
              <a:buNone/>
            </a:pPr>
            <a:r>
              <a:rPr lang="en-US" sz="1170" dirty="0">
                <a:solidFill>
                  <a:srgbClr val="1E5631"/>
                </a:solidFill>
                <a:latin typeface="Calibri" pitchFamily="34" charset="0"/>
                <a:ea typeface="Calibri" pitchFamily="34" charset="-122"/>
                <a:cs typeface="Calibri" pitchFamily="34" charset="-120"/>
              </a:rPr>
              <a:t>PASS on all four tests</a:t>
            </a:r>
            <a:endParaRPr lang="en-US" sz="1170" dirty="0"/>
          </a:p>
        </p:txBody>
      </p:sp>
      <p:sp>
        <p:nvSpPr>
          <p:cNvPr id="20" name="05-evidence-chain:k3"/>
          <p:cNvSpPr txBox="1"/>
          <p:nvPr/>
        </p:nvSpPr>
        <p:spPr>
          <a:xfrm>
            <a:off x="9109903" y="4866005"/>
            <a:ext cx="2566321" cy="1048385"/>
          </a:xfrm>
          <a:prstGeom prst="roundRect">
            <a:avLst>
              <a:gd name="adj" fmla="val 5233"/>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70" b="1" dirty="0">
                <a:solidFill>
                  <a:srgbClr val="0B3C49"/>
                </a:solidFill>
                <a:latin typeface="Calibri" pitchFamily="34" charset="0"/>
                <a:ea typeface="Calibri" pitchFamily="34" charset="-122"/>
                <a:cs typeface="Calibri" pitchFamily="34" charset="-120"/>
              </a:rPr>
              <a:t>Append-only</a:t>
            </a:r>
            <a:endParaRPr lang="en-US" sz="1170" dirty="0"/>
          </a:p>
          <a:p>
            <a:pPr algn="ctr" indent="0" marL="0">
              <a:buNone/>
            </a:pPr>
            <a:r>
              <a:rPr lang="en-US" sz="1170" dirty="0">
                <a:solidFill>
                  <a:srgbClr val="0B3C49"/>
                </a:solidFill>
                <a:latin typeface="Calibri" pitchFamily="34" charset="0"/>
                <a:ea typeface="Calibri" pitchFamily="34" charset="-122"/>
                <a:cs typeface="Calibri" pitchFamily="34" charset="-120"/>
              </a:rPr>
              <a:t>older files are superseded,</a:t>
            </a:r>
            <a:endParaRPr lang="en-US" sz="1170" dirty="0"/>
          </a:p>
          <a:p>
            <a:pPr algn="ctr" indent="0" marL="0">
              <a:buNone/>
            </a:pPr>
            <a:r>
              <a:rPr lang="en-US" sz="1170" dirty="0">
                <a:solidFill>
                  <a:srgbClr val="0B3C49"/>
                </a:solidFill>
                <a:latin typeface="Calibri" pitchFamily="34" charset="0"/>
                <a:ea typeface="Calibri" pitchFamily="34" charset="-122"/>
                <a:cs typeface="Calibri" pitchFamily="34" charset="-120"/>
              </a:rPr>
              <a:t>never edited</a:t>
            </a:r>
            <a:endParaRPr lang="en-US" sz="1170" dirty="0"/>
          </a:p>
        </p:txBody>
      </p:sp>
      <p:sp>
        <p:nvSpPr>
          <p:cNvPr id="21" name="05-evidence-chain:knote"/>
          <p:cNvSpPr txBox="1"/>
          <p:nvPr/>
        </p:nvSpPr>
        <p:spPr>
          <a:xfrm>
            <a:off x="503563" y="6075680"/>
            <a:ext cx="11181826" cy="403225"/>
          </a:xfrm>
          <a:prstGeom prst="roundRect">
            <a:avLst>
              <a:gd name="adj" fmla="val 13606"/>
            </a:avLst>
          </a:prstGeom>
          <a:solidFill>
            <a:srgbClr val="FFFFFF"/>
          </a:solidFill>
          <a:ln/>
        </p:spPr>
        <p:txBody>
          <a:bodyPr wrap="square" lIns="25400" tIns="50800" rIns="50800" bIns="25400" rtlCol="0" anchor="ctr"/>
          <a:lstStyle/>
          <a:p>
            <a:pPr algn="l" indent="0" marL="0">
              <a:buNone/>
            </a:pPr>
            <a:r>
              <a:rPr lang="en-US" sz="1020" dirty="0">
                <a:solidFill>
                  <a:srgbClr val="41545A"/>
                </a:solidFill>
                <a:latin typeface="Calibri" pitchFamily="34" charset="0"/>
                <a:ea typeface="Calibri" pitchFamily="34" charset="-122"/>
                <a:cs typeface="Calibri" pitchFamily="34" charset="-120"/>
              </a:rPr>
              <a:t>Scripts: evidence/42-executive/EVD-R-03-verify-manifests.py; evidence/43-rubric-traceability/EVD-S-04-verify-r3.py</a:t>
            </a:r>
            <a:endParaRPr lang="en-US" sz="1020" dirty="0"/>
          </a:p>
        </p:txBody>
      </p:sp>
      <p:sp>
        <p:nvSpPr>
          <p:cNvPr id="22" name="05-evidence-chain:edge:r0-&gt;r1"/>
          <p:cNvSpPr/>
          <p:nvPr/>
        </p:nvSpPr>
        <p:spPr>
          <a:xfrm>
            <a:off x="1786723" y="1720850"/>
            <a:ext cx="210805" cy="914"/>
          </a:xfrm>
          <a:prstGeom prst="line">
            <a:avLst/>
          </a:prstGeom>
          <a:noFill/>
          <a:ln w="19050">
            <a:solidFill>
              <a:srgbClr val="41545A"/>
            </a:solidFill>
            <a:prstDash val="solid"/>
            <a:tailEnd type="triangle"/>
          </a:ln>
        </p:spPr>
      </p:sp>
      <p:sp>
        <p:nvSpPr>
          <p:cNvPr id="23" name="05-evidence-chain:edge:r1-&gt;r2"/>
          <p:cNvSpPr/>
          <p:nvPr/>
        </p:nvSpPr>
        <p:spPr>
          <a:xfrm>
            <a:off x="3463997" y="1720850"/>
            <a:ext cx="210805" cy="914"/>
          </a:xfrm>
          <a:prstGeom prst="line">
            <a:avLst/>
          </a:prstGeom>
          <a:noFill/>
          <a:ln w="19050">
            <a:solidFill>
              <a:srgbClr val="41545A"/>
            </a:solidFill>
            <a:prstDash val="solid"/>
            <a:tailEnd type="triangle"/>
          </a:ln>
        </p:spPr>
      </p:sp>
      <p:sp>
        <p:nvSpPr>
          <p:cNvPr id="24" name="05-evidence-chain:edge:r2-&gt;r3"/>
          <p:cNvSpPr/>
          <p:nvPr/>
        </p:nvSpPr>
        <p:spPr>
          <a:xfrm>
            <a:off x="5141271" y="1720850"/>
            <a:ext cx="210805" cy="914"/>
          </a:xfrm>
          <a:prstGeom prst="line">
            <a:avLst/>
          </a:prstGeom>
          <a:noFill/>
          <a:ln w="19050">
            <a:solidFill>
              <a:srgbClr val="41545A"/>
            </a:solidFill>
            <a:prstDash val="solid"/>
            <a:tailEnd type="triangle"/>
          </a:ln>
        </p:spPr>
      </p:sp>
      <p:sp>
        <p:nvSpPr>
          <p:cNvPr id="25" name="05-evidence-chain:edge:r3-&gt;r4"/>
          <p:cNvSpPr/>
          <p:nvPr/>
        </p:nvSpPr>
        <p:spPr>
          <a:xfrm>
            <a:off x="6818545" y="1720850"/>
            <a:ext cx="210805" cy="914"/>
          </a:xfrm>
          <a:prstGeom prst="line">
            <a:avLst/>
          </a:prstGeom>
          <a:noFill/>
          <a:ln w="19050">
            <a:solidFill>
              <a:srgbClr val="41545A"/>
            </a:solidFill>
            <a:prstDash val="solid"/>
            <a:tailEnd type="triangle"/>
          </a:ln>
        </p:spPr>
      </p:sp>
      <p:sp>
        <p:nvSpPr>
          <p:cNvPr id="26" name="05-evidence-chain:edge:r4-&gt;r5"/>
          <p:cNvSpPr/>
          <p:nvPr/>
        </p:nvSpPr>
        <p:spPr>
          <a:xfrm>
            <a:off x="8495819" y="1720850"/>
            <a:ext cx="210805" cy="914"/>
          </a:xfrm>
          <a:prstGeom prst="line">
            <a:avLst/>
          </a:prstGeom>
          <a:noFill/>
          <a:ln w="19050">
            <a:solidFill>
              <a:srgbClr val="41545A"/>
            </a:solidFill>
            <a:prstDash val="solid"/>
            <a:tailEnd type="triangle"/>
          </a:ln>
        </p:spPr>
      </p:sp>
      <p:sp>
        <p:nvSpPr>
          <p:cNvPr id="27" name="05-evidence-chain:edge:r5-&gt;r6"/>
          <p:cNvSpPr/>
          <p:nvPr/>
        </p:nvSpPr>
        <p:spPr>
          <a:xfrm>
            <a:off x="10173093" y="1720850"/>
            <a:ext cx="210805" cy="914"/>
          </a:xfrm>
          <a:prstGeom prst="line">
            <a:avLst/>
          </a:prstGeom>
          <a:noFill/>
          <a:ln w="19050">
            <a:solidFill>
              <a:srgbClr val="41545A"/>
            </a:solidFill>
            <a:prstDash val="solid"/>
            <a:tailEnd type="triangle"/>
          </a:ln>
        </p:spPr>
      </p:sp>
      <p:sp>
        <p:nvSpPr>
          <p:cNvPr id="28" name="05-evidence-chain:edge:x0-&gt;x1"/>
          <p:cNvSpPr/>
          <p:nvPr/>
        </p:nvSpPr>
        <p:spPr>
          <a:xfrm>
            <a:off x="3069884" y="3454717"/>
            <a:ext cx="302459" cy="914"/>
          </a:xfrm>
          <a:prstGeom prst="line">
            <a:avLst/>
          </a:prstGeom>
          <a:noFill/>
          <a:ln w="19050">
            <a:solidFill>
              <a:srgbClr val="41545A"/>
            </a:solidFill>
            <a:prstDash val="solid"/>
            <a:tailEnd type="triangle"/>
          </a:ln>
        </p:spPr>
      </p:sp>
      <p:sp>
        <p:nvSpPr>
          <p:cNvPr id="29" name="05-evidence-chain:edge:x1-&gt;x2"/>
          <p:cNvSpPr/>
          <p:nvPr/>
        </p:nvSpPr>
        <p:spPr>
          <a:xfrm>
            <a:off x="5938664" y="3454717"/>
            <a:ext cx="302459" cy="914"/>
          </a:xfrm>
          <a:prstGeom prst="line">
            <a:avLst/>
          </a:prstGeom>
          <a:noFill/>
          <a:ln w="19050">
            <a:solidFill>
              <a:srgbClr val="41545A"/>
            </a:solidFill>
            <a:prstDash val="solid"/>
            <a:tailEnd type="triangle"/>
          </a:ln>
        </p:spPr>
      </p:sp>
      <p:sp>
        <p:nvSpPr>
          <p:cNvPr id="30" name="05-evidence-chain:edge:x2-&gt;x3"/>
          <p:cNvSpPr/>
          <p:nvPr/>
        </p:nvSpPr>
        <p:spPr>
          <a:xfrm>
            <a:off x="8807444" y="3454717"/>
            <a:ext cx="302459" cy="914"/>
          </a:xfrm>
          <a:prstGeom prst="line">
            <a:avLst/>
          </a:prstGeom>
          <a:noFill/>
          <a:ln w="19050">
            <a:solidFill>
              <a:srgbClr val="41545A"/>
            </a:solidFill>
            <a:prstDash val="solid"/>
            <a:tailEnd type="triangle"/>
          </a:ln>
        </p:spPr>
      </p:sp>
      <p:sp>
        <p:nvSpPr>
          <p:cNvPr id="25" name="Slide Number Placeholder 0"/>
          <p:cNvSpPr>
            <a:spLocks noGrp="1"/>
          </p:cNvSpPr>
          <p:nvPr>
            <p:ph type="sldNum" sz="quarter" idx="4294967295"/>
          </p:nvPr>
        </p:nvSpPr>
        <p:spPr>
          <a:xfrm>
            <a:off x="11247120" y="3657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2800" b="1" dirty="0">
                <a:solidFill>
                  <a:schemeClr val="tx2"/>
                </a:solidFill>
              </a:rPr>
              <a:t>Rubric evidence coverage by criterion</a:t>
            </a:r>
            <a:endParaRPr lang="en-US" sz="2800" dirty="0"/>
          </a:p>
        </p:txBody>
      </p:sp>
      <p:graphicFrame>
        <p:nvGraphicFramePr>
          <p:cNvPr id="4" name="Chart 0" descr=""/>
          <p:cNvGraphicFramePr/>
          <p:nvPr/>
        </p:nvGraphicFramePr>
        <p:xfrm>
          <a:off x="457200" y="1097280"/>
          <a:ext cx="7315200" cy="4846320"/>
        </p:xfrm>
        <a:graphic xmlns:a="http://schemas.openxmlformats.org/drawingml/2006/main">
          <a:graphicData uri="http://schemas.openxmlformats.org/drawingml/2006/chart">
            <c:chart xmlns:c="http://schemas.openxmlformats.org/drawingml/2006/chart" r:id="rId1"/>
          </a:graphicData>
        </a:graphic>
      </p:graphicFrame>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138160" y="1280160"/>
          <a:ext cx="3566160" cy="914400"/>
        </p:xfrm>
        <a:graphic>
          <a:graphicData uri="http://schemas.openxmlformats.org/drawingml/2006/table">
            <a:tbl>
              <a:tblPr/>
              <a:tblGrid>
                <a:gridCol w="1737360"/>
                <a:gridCol w="182880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Criterion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Coverage index</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r>
              <a:tr h="41148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R1</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0.93</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R2</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0.78</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R3</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0.67</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R4</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0.75</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R5</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0.90</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bl>
          </a:graphicData>
        </a:graphic>
      </p:graphicFrame>
      <p:sp>
        <p:nvSpPr>
          <p:cNvPr id="6" name="Text 1"/>
          <p:cNvSpPr txBox="1"/>
          <p:nvPr/>
        </p:nvSpPr>
        <p:spPr>
          <a:xfrm>
            <a:off x="8138160" y="4023360"/>
            <a:ext cx="3566160" cy="914400"/>
          </a:xfrm>
          <a:prstGeom prst="rect">
            <a:avLst/>
          </a:prstGeom>
          <a:noFill/>
          <a:ln/>
        </p:spPr>
        <p:txBody>
          <a:bodyPr wrap="square" lIns="0" tIns="0" rIns="0" bIns="0" rtlCol="0" anchor="t"/>
          <a:lstStyle/>
          <a:p>
            <a:pPr indent="0" marL="0">
              <a:buNone/>
            </a:pPr>
            <a:r>
              <a:rPr lang="en-US" sz="1200" dirty="0">
                <a:solidFill>
                  <a:srgbClr val="5F6E71"/>
                </a:solidFill>
              </a:rPr>
              <a:t>Index = (MET + half of PARTIAL) ÷ sub-dimensions. Source: docs/43-rubric-traceability/readiness-assessment.md.</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2800" b="1" dirty="0">
                <a:solidFill>
                  <a:schemeClr val="tx2"/>
                </a:solidFill>
              </a:rPr>
              <a:t>Where to find everything</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3840480"/>
                <a:gridCol w="7434072"/>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want</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Open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The story in writing</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deliverables/01-CTO-Briefing.docx (or .md)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Every evidence file, finding, gate, decision and risk</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deliverables/03-Evidence-Register.xlsx</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Diagrams to edit</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deliverables/diagrams/*.drawio (diagrams.net, draw.io desktop, VS Code); shapes in this deck are native and editable</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The readiness decision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docs/42-executive/production-readiness-decision.md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The CTO sign-off block</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docs/44-decisions/cto-signoff-pack.md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The rubric mapping</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docs/43-rubric-traceability/rubric-coverage-matrix.md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The semantic layer</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semantic-layer/ (start with README.md and SEMANTIC-COMPLETENESS.md)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The runbooks that drove the work</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runbook/00 to 04 (Markdown and Word)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Delta Logistics">
  <a:themeElements>
    <a:clrScheme name="Delta Logistics">
      <a:dk1>
        <a:srgbClr val="1B2A2F"/>
      </a:dk1>
      <a:lt1>
        <a:srgbClr val="FFFFFF"/>
      </a:lt1>
      <a:dk2>
        <a:srgbClr val="0B3C49"/>
      </a:dk2>
      <a:lt2>
        <a:srgbClr val="E8F1F2"/>
      </a:lt2>
      <a:accent1>
        <a:srgbClr val="1F7A8C"/>
      </a:accent1>
      <a:accent2>
        <a:srgbClr val="F2A541"/>
      </a:accent2>
      <a:accent3>
        <a:srgbClr val="C0392B"/>
      </a:accent3>
      <a:accent4>
        <a:srgbClr val="2E8B57"/>
      </a:accent4>
      <a:accent5>
        <a:srgbClr val="5F6E71"/>
      </a:accent5>
      <a:accent6>
        <a:srgbClr val="9AA5A8"/>
      </a:accent6>
      <a:hlink>
        <a:srgbClr val="1F5FA8"/>
      </a:hlink>
      <a:folHlink>
        <a:srgbClr val="6B4FA0"/>
      </a:folHlink>
    </a:clrScheme>
    <a:fontScheme name="Delta Logistic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Delta-Team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Brownfield to Repo 2.0: CTO briefing</dc:title>
  <dc:subject>PptxGenJS Presentation</dc:subject>
  <dc:creator>Delta-Team (operator Dinesh, with Claude)</dc:creator>
  <cp:lastModifiedBy>Delta-Team (operator Dinesh, with Claude)</cp:lastModifiedBy>
  <cp:revision>1</cp:revision>
  <dcterms:created xsi:type="dcterms:W3CDTF">2026-10-08T17:21:51Z</dcterms:created>
  <dcterms:modified xsi:type="dcterms:W3CDTF">2026-10-08T17:21:51Z</dcterms:modified>
</cp:coreProperties>
</file>